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품목별 하이엔드 USP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C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24개 품목 · 삼성닷컴 원문 기준 · 2026-08-31 조사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경원영업팀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25400">
            <a:solidFill>
              <a:srgbClr val="142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3576218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  TV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4  프로젝터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5  사운드바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6  오디오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7  냉장고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8  김치냉장고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9  세탁기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 세탁건조기(콤보)
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216298" y="1097280"/>
            <a:ext cx="3576218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 통돌이 세탁기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 식기세척기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 에어컨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 벽걸이 에어컨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 공기청정기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 로봇청소기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 무선청소기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 스마트폰
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75397" y="1097280"/>
            <a:ext cx="3576218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  태블릿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 워치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  버즈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  노트북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 모니터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 인덕션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 오븐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  전자레인지
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쪽번호는 슬라이드 순서입니다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TV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899855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Micro RGB RH95 (214cm) · 7,990,000원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 RGB — TV 최상위</a:t>
            </a:r>
            <a:pPr indent="0" marL="0">
              <a:buNone/>
            </a:pPr>
            <a:r>
              <a:rPr lang="en-US" sz="1100" b="1" dirty="0">
                <a:solidFill>
                  <a:srgbClr val="142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KMR85RH95AFXKR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77295" cy="0"/>
          </a:xfrm>
          <a:prstGeom prst="line">
            <a:avLst/>
          </a:prstGeom>
          <a:noFill/>
          <a:ln w="3175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USP</a:t>
            </a:r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24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디테일로 빚어낸 화질의 정점, Micro RGB 기술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AI 엔진으로 살아나는 컬러, Micro RGB AI 엔진 Pro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빛 반사 걱정 없는, 무반사(Reflection Glare Free) 기술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원하는 언어로 즐기는 콘텐츠, 실시간 번역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나만의 취향대로 만드는 AI 배경화면, 생성형 배경화면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128개 AI 뉴럴 네트워크로 완성되는 세밀함 4K AI 업스케일링 Pro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AI로 더욱 풍부하고 생생해진 축구 관람, AI 축구 모드 Pro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콘텐츠와 공간에 최적화된 사운드, 사운드 최적화 Pro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방해 없이 모든 대사를 또렷하게, 액티브 보이스 Pro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한 번의 명령만으로 음성과 음악, 효과음을 분리·조절, AI 사운드 컨트롤 Pro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경계를 넘어선 새로운 경험, Infinity Air 디자인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안심하고 사용할 수 있는 TV 삼성 Knox 보안
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완전히 개인화된 시청 경험의 완성 One UI Tizen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 삼성 TV의 대화면으로 만나는 소중한 추억, Google 포토 for 삼성 TV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 다양한 게임을 한 화면에서, 게이밍 허브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16. 매 경기마다 더욱 스마트한 플레이, AI 게임 최적화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17. 끊김이나 찢김, 지연 걱정 없는 매끄러운 플레이 FreeSync 프리미엄 Pro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18. 게임 플레이 중에도 원하는 만큼 섬세하게 설정 게임 바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19. 구독 없이 즐기는 삼성 TV 속 다채로운 콘텐츠, 삼성 TV 플러스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20. 세계의 갤러리 작품이 TV 속으로 아트 스토어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21. 갤럭시 스마트폰 속 콘텐츠를 TV로, 저장공간 공유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22. TV가 꺼져 있을 때도 정보를 확인, Now Brief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23. TV와 함께 스마트 홈의 완성, 스마트싱스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24. 스마트폰으로 간편하게 TV 컨트롤, 빠른 리모컨
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66760" y="1572768"/>
            <a:ext cx="33677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사양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66760" y="1883664"/>
            <a:ext cx="3367735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화면크기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214 cm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해상도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3840 x 2160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주사율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165 Hz (VRR Support)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정격소비전력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450 W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사운드출력(RMS)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DLG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240 Hz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VRR (Variable Refresh Rate)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있음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 반사 기술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Glare Free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화질엔진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 RGB AI 엔진 Pro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HDR (High Dynamic Range)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 RGB HDR Pro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HDR 10+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(Adaptive / Gaming / Advanced )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명암비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 RGB Technology
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5806440"/>
            <a:ext cx="11277295" cy="658368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586130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전 확인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5861304"/>
            <a:ext cx="995141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없다 — 위 항목은 전부 삼성닷컴 원문에서 확인했다.
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삼성닷컴 원문 · 2026-08-31 조사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899855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 The Premiere LPDU9 · 7,490,000원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Premiere — 4K 초단초점 최상위</a:t>
            </a:r>
            <a:pPr indent="0" marL="0">
              <a:buNone/>
            </a:pPr>
            <a:r>
              <a:rPr lang="en-US" sz="1100" b="1" dirty="0">
                <a:solidFill>
                  <a:srgbClr val="142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SP-LPDU9SAXXKR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77295" cy="0"/>
          </a:xfrm>
          <a:prstGeom prst="line">
            <a:avLst/>
          </a:prstGeom>
          <a:noFill/>
          <a:ln w="3175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USP</a:t>
            </a:r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21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4K 홈시네마를 완성하는 트리플 레이저 기술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공간에 여유를 더하는 초단초점 기술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사운드 돔으로 몰입감을 극대화하는 파워풀 사운드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작은 디테일까지 포착하는 최대 330cm 4K 스크린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강력한 밝기로 살아나는 디테일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콘텐츠에 4K 경험을 불어넣는 4K AI 업스케일링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환경에 맞춰 가시성을 유지하는 비전 부스터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뮤직 캐스팅 기능을 탑재한 스마트 스피커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시네마틱 경험을 극대화하는 Dolby Atmos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화면 속 움직임을 따라가는 무빙 사운드 (OTS)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액티브 보이스 Pro로 더 또렷하게 들리는 대사
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외장 스피커와 함께 이루는 환상적인 하모니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갤럭시 버즈로 즐기는 다이내믹 3D 사운드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 스마트 기기와 연결하는 모바일 미러링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 공간과 조화를 이루는 콤팩트한 디자인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16. Tizen OS로 더욱 간편해진 엔터테인먼트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17. 게이밍 허브로 간편해진 게임 플레이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18. 최적의 설정을 적용하는 AI 오토 게임 모드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19. 쉽고 빠르게 설정할 수 있는 게임바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20. 스마트 기기들을 하나로 연결하는 SmartThings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21. 건전지 없이도 사용하는 솔라셀 리모트
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66760" y="1572768"/>
            <a:ext cx="33677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사양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66760" y="1883664"/>
            <a:ext cx="3367735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화면크기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254~330cm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해상도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3840 x 2160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HDMI 최대 지원 주사율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4K 60Hz (for HDMI 1/2/3)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밝기 (ISO 루멘)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3450 Lumen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정격소비전력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410W W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 (dB)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32dB(A)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사운드출력(RMS)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40W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광원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Triple Laser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광원 수명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20000hrs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투사율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0.189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디스플레이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DLP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화질엔진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NQP AI Processor
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5806440"/>
            <a:ext cx="11277295" cy="658368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586130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전 확인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5861304"/>
            <a:ext cx="995141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없다 — 위 항목은 전부 삼성닷컴 원문에서 확인했다.
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삼성닷컴 원문 · 2026-08-31 조사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사운드바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899855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11.1.4ch 사운드바 Q990H · 1,990,000원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11.1.4ch — 사운드바 최상위</a:t>
            </a:r>
            <a:pPr indent="0" marL="0">
              <a:buNone/>
            </a:pPr>
            <a:r>
              <a:rPr lang="en-US" sz="1100" b="1" dirty="0">
                <a:solidFill>
                  <a:srgbClr val="142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HW-Q990H/KR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77295" cy="0"/>
          </a:xfrm>
          <a:prstGeom prst="line">
            <a:avLst/>
          </a:prstGeom>
          <a:noFill/>
          <a:ln w="3175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USP</a:t>
            </a:r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22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온몸을 감싸는 압도적 서라운드 사운드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AI 저음 최적화가 탑재된 서브우퍼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생생한 사운드를 만드는 무선 리어 스피커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극도의 몰입감을 만드는 사운드의 비결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손쉽게 연결하는 나만의 시네마틱 사운드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강렬한 몰입감의 3차원 공간 음향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사운드바와 TV가 이루는 가장 섬세한 하모니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공간에 맞춰 완벽하게 최적화된 사운드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소음 방해 없이 또렷하게 듣는 명대사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콘텐츠 유형에 맞게 최적화된 사운드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게임 속으로 뛰어든 듯 생생한 사운드
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늦은 밤에도 즐길 수 있는 풍성한 저음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나만의 스피커로 활용하는 리어 스피커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 리어 스피커 동기화로 함께 즐기는 사운드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 화면 중앙에서 들려오는 놀라운 현실감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16. 다양한 콘텐츠도 균일하고 편안한 사운드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17. 좋아하는 콘텐츠를 듣는 다양한 방법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18. 더욱 쉽고 편리한 연결과 통합 제어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19. 끊김 없이 전달되는 고품질 사운드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20. 손쉽게 즐기는 사운드 경험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21. 선 없이도 빠르고 편리한 TV 연결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22. 하나의 리모컨, 두 가지 컨트롤
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66760" y="1572768"/>
            <a:ext cx="33677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사양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66760" y="1883664"/>
            <a:ext cx="3367735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본체 크기 (가로x높이x깊이)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1232.0 x 70.8 x 138.0 mm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본체 무게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7.3 kg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 수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11.1.4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스피커 수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센터 스피커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있음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Up-firing 스피커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있음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Side-firing 스피커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있음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Wide-firing 스피커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있음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무선 서브우퍼 내장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있음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무선 리어 스피커 내장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있음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돌비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ATMOS Music,ATMOS,Dolby 5.1ch,Dol…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DTS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DTS-HD HRA,DTS-HD MA,DTS Express,…
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5806440"/>
            <a:ext cx="11277295" cy="658368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586130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전 확인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5861304"/>
            <a:ext cx="995141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없다 — 위 항목은 전부 삼성닷컴 원문에서 확인했다.
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삼성닷컴 원문 · 2026-08-31 조사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오디오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899855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JBL 4312G  프리미엄 스피커 · 3,460,000원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JBL 4312G — 스피커 최상위</a:t>
            </a:r>
            <a:pPr indent="0" marL="0">
              <a:buNone/>
            </a:pPr>
            <a:r>
              <a:rPr lang="en-US" sz="1100" b="1" dirty="0">
                <a:solidFill>
                  <a:srgbClr val="142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JBL4312GBLK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77295" cy="0"/>
          </a:xfrm>
          <a:prstGeom prst="line">
            <a:avLst/>
          </a:prstGeom>
          <a:noFill/>
          <a:ln w="3175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USP</a:t>
            </a:r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JBL의 대표 모델로서의 클래식 아이덴티티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웅장한 울림을 만드는 30 cm 펄프콘 우퍼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강력한 중역대를 담당하는 12.5 cm 펄프콘 미드레인지
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깔끔한 고음을 표현하는 2.5 cm 얼로이 트위터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디테일한 사운드 조정을 위한 볼륨 조절 장치
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66760" y="1572768"/>
            <a:ext cx="33677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사양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66760" y="1883664"/>
            <a:ext cx="3367735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597 x 362 x 305mm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무게정보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각각 23.8kg(52.4lb)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앰프 사양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10~200W RMS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드라이버 타입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트위터 : 25mm 마그네슘/알루미늄 합금 돔(054ALMg…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크로스오버 주파수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640Hz, 5kHz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주파수 응답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44Hz~40kHz(-6dB)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임피던스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ohms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외관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블랙
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5806440"/>
            <a:ext cx="11277295" cy="658368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586130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전 확인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5861304"/>
            <a:ext cx="995141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없다 — 위 항목은 전부 삼성닷컴 원문에서 확인했다.
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삼성닷컴 원문 · 2026-08-31 조사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냉장고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899855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Bespoke AI 패밀리허브 4도어 864L (81.2cm, AI 푸드매니저)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4도어 프리스탠딩 — 패밀리허브</a:t>
            </a:r>
            <a:pPr indent="0" marL="0">
              <a:buNone/>
            </a:pPr>
            <a:r>
              <a:rPr lang="en-US" sz="1100" b="1" dirty="0">
                <a:solidFill>
                  <a:srgbClr val="142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RM90H91B1W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77295" cy="0"/>
          </a:xfrm>
          <a:prstGeom prst="line">
            <a:avLst/>
          </a:prstGeom>
          <a:noFill/>
          <a:ln w="3175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USP</a:t>
            </a:r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14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완전 새로운 푸드 경험 AI 푸드매니저
</a:t>
            </a:r>
            <a:pPr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스마트한 키친 라이프의 시작 패밀리허브
</a:t>
            </a:r>
            <a:pPr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평소엔 효율적으로 필요할 땐 강력하게 하이브리드 쿨링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나에게 딱 맞는 정보로 편리하게 사용하는 Now brief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자동 문 열림·문 닫힘으로 편리하게 오토 도어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음성으로 더 쉽고 편리하게 빅스비 음성 인식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에너지 효율을 높여주는 AI 인버터 컴프레서
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에너지 소비량을 최대 25%까지 절감하는 AI 절약 모드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공간 효율을 높이는 설계로 더 깊어진 선반과 여유로운 수납공간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위스키볼 아이스까지 취향 따라 즐기는 듀얼 아이스메이커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식재료에 따라 최적의 상태로 보관할 수 있는 3단계 멀티 팬트리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최고 등급의 IoT 보안 성능 Knox 보안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냉기를 꽉 잡아 음식의 신선함을 지키는 메탈쿨링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 냄새 걱정 없이 깔끔한 UV 청정탈취
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66760" y="1572768"/>
            <a:ext cx="33677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사양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66760" y="1883664"/>
            <a:ext cx="3367735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크기(가로 × 높이 × 깊이)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912 × 1,853 × 916 mm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중량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176 kg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용량(Liter)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864 ℓ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냉장실 용량(Liter)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509 ℓ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냉동실 용량(Liter)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355 ℓ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디스플레이 타입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32" 패밀리허브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에너지소비효율등급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1등급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소비 전력(kWh/월)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42.7 kWh/월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컴프레서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인버터 컴프레서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정격 전압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220V / 60Hz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타입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Bespoke AI 패밀리허브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타입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프리스탠딩
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5806440"/>
            <a:ext cx="11277295" cy="658368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586130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전 확인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5861304"/>
            <a:ext cx="995141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「AI 절약 모드 최대 25%」의 측정 조건(비교 기준 모델·시험 환경)은 지면 각주에만 있고 사양표에는 없다.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안전인증정보(인증기관·인증번호)와 법정 표시 7종은 일부러 뺐다 — 사양이 아니라 고지다.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푸드 관리부터 다양한 맞춤 정보 제공까지 AI 홈
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삼성닷컴 원문 · 2026-08-31 조사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김치냉장고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899855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Bespoke AI 김치플러스 4도어 583L (냄새케어 메탈쿨링 김치통)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스탠드형 4도어 — 최상위</a:t>
            </a:r>
            <a:pPr indent="0" marL="0">
              <a:buNone/>
            </a:pPr>
            <a:r>
              <a:rPr lang="en-US" sz="1100" b="1" dirty="0">
                <a:solidFill>
                  <a:srgbClr val="142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RK80F58B1A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77295" cy="0"/>
          </a:xfrm>
          <a:prstGeom prst="line">
            <a:avLst/>
          </a:prstGeom>
          <a:noFill/>
          <a:ln w="3175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USP</a:t>
            </a:r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자동 문열림으로 편리하게 오토 오픈 도어
</a:t>
            </a:r>
            <a:pPr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음성으로 더 쉽고 편리하게 빅스비 음성 인식
</a:t>
            </a:r>
            <a:pPr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냉기를 꽉 잡아 아삭하고 신선하게 메탈쿨링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냉기를 꽉 잡아 음식의 신선함을 지키는 메탈쿨링
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육즙 손실 걱정없는 육류해동부터 과일숙성까지 맞춤숙성실의 다양한 모드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냉장고 안 김치냄새 섞일 걱정 없는 냄새케어 메탈쿨링 김치통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식재료의 신선도를 유지해주고 냄새까지 덜어주는 고내탈취필터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감각적인 Bespoke 디자인
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66760" y="1572768"/>
            <a:ext cx="33677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사양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66760" y="1883664"/>
            <a:ext cx="3367735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크기(가로 × 높이 × 깊이)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799 x 1,853 x 892 mm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중량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 kg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용량(Liter)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583 ℓ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디스플레이 타입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히든 심플 디스플레이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에너지소비효율등급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1등급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소비 전력(kWh/월)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17.6 kWh/월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컴프레서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디지털 인버터 컴프레서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정격 전압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220V / 60Hz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타입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Bespoke AI 김치플러스 4도어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타입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프리스탠딩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상칸 용량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345 ℓ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중칸 용량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127 ℓ
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5806440"/>
            <a:ext cx="11277295" cy="658368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586130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전 확인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5861304"/>
            <a:ext cx="995141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이 갈래에서 삼성닷컴 지면으로 확인하지 못한 항목은 없다.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안전인증정보(인증기관·인증번호)와 법정 표시 7종은 일부러 뺐다 — 사양이 아니라 고지다.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사용패턴에 맞춰 적정 온도를 유지하는 AI 정온 모드
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삼성닷컴 원문 · 2026-08-31 조사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세탁기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899855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Bespoke AI 세탁기 25kg (177.8mm LCD) · 2,149,000원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Bespoke AI 세탁기 25kg</a:t>
            </a:r>
            <a:pPr indent="0" marL="0">
              <a:buNone/>
            </a:pPr>
            <a:r>
              <a:rPr lang="en-US" sz="1100" b="1" dirty="0">
                <a:solidFill>
                  <a:srgbClr val="142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WF90F25ADS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77295" cy="0"/>
          </a:xfrm>
          <a:prstGeom prst="line">
            <a:avLst/>
          </a:prstGeom>
          <a:noFill/>
          <a:ln w="3175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USP</a:t>
            </a:r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14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AI 세탁기의 새로운 기준을 세우다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AI로 세탁부터 탈수까지 똑똑하고 섬세하게 AI 맞춤세탁+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손끝에서 시작하고 음성으로 완성되는 스마트 스크린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세탁 후 알아서 문이 열려 습기 걱정 없는 오토 오픈 도어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세탁물에 맞게 적정 세제를 알아서 세제자동투입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사계절 이불을 깨끗하게 이불세탁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에너지를 절약하는 확실한 방법 AI 에너지 절약
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보다 조용한 세탁 AI 진동소음 저감 시스템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스팀살균으로 유해 세균과 빈대까지 싹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펫케어세탁으로 알러젠 걱정 없이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세제 없이 깨끗한 통 관리 무세제통세척+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환경을 생각하는 파타고니아 협업 미세플라스틱저감 코스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많은 빨래도 걱정 없는 국내 최대 용량 25kg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 다양한 공간에 조화롭게 어우러지는 Bespoke AI 세탁기
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66760" y="1572768"/>
            <a:ext cx="33677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사양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66760" y="1883664"/>
            <a:ext cx="3367735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크기(가로×높이×깊이)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686 × 984 × 875 mm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102 kg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세탁 용량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kg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 / 소비전력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220V/60Hz · 가열세탁 시 2,100 W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진동소음저감 시스템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있음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 소비효율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등급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디스플레이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Color LCD (177.8mm)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도어 타입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강화유리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오토 오픈 도어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있음
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5806440"/>
            <a:ext cx="11277295" cy="658368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586130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전 확인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5861304"/>
            <a:ext cx="995141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⚠️ 「국내 최대 용량 25kg」 — 각주가 *"2025년 7월 1일 기준, 한국에너지공단에 신고된 가정용 세탁기 기준"*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⚠️ 「국내 최초 미세플라스틱저감 코스」 — 파타고니아 협업이라는 근거는 PDP 에 있으나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소음(dB) 수치 — 사양표에 소음 항목 자체가 없다. 「AI 진동소음 저감 시스템 = 있음」만 확인됨.
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삼성닷컴 원문 · 2026-08-31 조사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세탁건조기(콤보)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899855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Infinite AI 콤보 25/18kg (177.8mm LCD) · 6,690,000원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Infinite AI 콤보 25/18kg</a:t>
            </a:r>
            <a:pPr indent="0" marL="0">
              <a:buNone/>
            </a:pPr>
            <a:r>
              <a:rPr lang="en-US" sz="1100" b="1" dirty="0">
                <a:solidFill>
                  <a:srgbClr val="142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WD99F25AHR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77295" cy="0"/>
          </a:xfrm>
          <a:prstGeom prst="line">
            <a:avLst/>
          </a:prstGeom>
          <a:noFill/>
          <a:ln w="3175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USP</a:t>
            </a:r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18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변치 않는 가치의 연속 인피니트 디자인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나만의 여유 그대로 세탁건조를 한 번에 ONE 솔루션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국내 최대 용량으로 건조까지 빠르게 쾌속 코스 79분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한눈에 보여주고 자연스럽게 대화하는 스마트 스크린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AI로 더욱 섬세하게, 세탁물에 맞는 최적의 코스로 작동하는 AI 맞춤+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세탁물에 맞게 적정 세제를 알아서 세제자동투입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자동문열림과 송풍까지, 내부를 쾌적하게 오토 오픈 도어+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AI로 세탁물에 맞춰 깨끗하고 부드럽게 버블워시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옷감 손상 걱정 없이 골고루 자연의 좋은 건조
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사계절 이불을 뽀송하게 이불 코스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강력한 직수로 열교환기 자동 세척 직수 파워 오토 클린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에너지를 절약하는 확실한 방법 AI 에너지 절약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유해 세균과 빈대까지 싹 스팀살균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 보이지 않는 곳까지 꼼꼼하게 열풍내부살균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 기기 내부 구석구석을 위생적으로 무세제통세척+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16. 강력한 살균과 간편한 탈취, 에어워시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17. 보다 조용한 세탁 건조 AI 진동소음 저감 시스템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18. AI 콤보 · 수납함 설치가이드
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66760" y="1572768"/>
            <a:ext cx="33677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사양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66760" y="1883664"/>
            <a:ext cx="3367735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686 × 1,110 × 865 mm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144 kg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세탁 / 건조 용량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kg / 18 kg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소비전력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가열세탁 2,100 W / 건조 1,700 W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 소비효율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등급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디스플레이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Color LCD (177.8mm)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오토 오픈 도어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있음
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5806440"/>
            <a:ext cx="11277295" cy="658368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586130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전 확인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5861304"/>
            <a:ext cx="995141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🔴 「세탁 25kg, 건조 20kg 국내 최대 용량」(목록 API 대표 USP) — 그대로 읽지 말 것.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⚠️ 「69분」·「79분」·「49분」·「39분」 — 코스·부하 조건이 붙는 값이다. PDP 각주 원문에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⚠️ 「국내 최초 미세플라스틱저감 코스」 — 「국내 최초」의 판정 근거 각주는 확인하지 못했다.
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삼성닷컴 원문 · 2026-08-31 조사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통돌이 세탁기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899855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통버블 세탁기 19kg · 950,000원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통버블 19kg</a:t>
            </a:r>
            <a:pPr indent="0" marL="0">
              <a:buNone/>
            </a:pPr>
            <a:r>
              <a:rPr lang="en-US" sz="1100" b="1" dirty="0">
                <a:solidFill>
                  <a:srgbClr val="142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WA80F19SKB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77295" cy="0"/>
          </a:xfrm>
          <a:prstGeom prst="line">
            <a:avLst/>
          </a:prstGeom>
          <a:noFill/>
          <a:ln w="3175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USP</a:t>
            </a:r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10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AI로 세탁부터 탈수까지 알아서 AI 맞춤세탁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풍부한 버블로 깨끗한 세탁 버블폭포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에너지를 절약하는 확실한 방법 AI 절약 모드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제트샷으로 빠르고 강력하게 입체돌풍세탁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스테인리스 이중안심필터로 안심위생관리
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청바지부터 아기옷까지 다운로드 코스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세탁 코스에 꼭 맞는 건조 코스 추천 코스연동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보다 조용한 세탁 AI 진동소음 저감 시스템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기기 내부 구석구석을 위생적으로 무세제통세척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고객을 생각한 디자인
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66760" y="1572768"/>
            <a:ext cx="33677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사양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66760" y="1883664"/>
            <a:ext cx="3367735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637 × 1,093 × 701 mm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 kg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세탁 용량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 kg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소비전력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 W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진동소음저감 시스템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있음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모터 / 구동 방식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인버터 모터 · 듀얼DD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 소비효율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등급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디스플레이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LED
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5806440"/>
            <a:ext cx="11277295" cy="658368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586130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전 확인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5861304"/>
            <a:ext cx="995141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⚠️ `WA23A8375KV` 의 대표 USP 첫 줄이 「100대 한정판매」다. 판촉 문구이지 제품 USP 가 아니며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`WA23A8375KV` 는 구세대(`A` 계열)다. 최신 AI 기능(AI 맞춤세탁·AI 진동소음저감·코스연동)이 없다.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통돌이 전 모델 에너지 소비효율이 2등급이다(드럼은 1등급). 드럼 대비 약점이므로 먼저 밝힐 것.
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삼성닷컴 원문 · 2026-08-31 조사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식기세척기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899855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Infinite AI 식기세척기 빌트인 14인용 (필터 내장형, 컵 맞춤 세척) · 2,210,000원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Infinite AI 빌트인 14인용</a:t>
            </a:r>
            <a:pPr indent="0" marL="0">
              <a:buNone/>
            </a:pPr>
            <a:r>
              <a:rPr lang="en-US" sz="1100" b="1" dirty="0">
                <a:solidFill>
                  <a:srgbClr val="142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DW99F79E1UHCS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77295" cy="0"/>
          </a:xfrm>
          <a:prstGeom prst="line">
            <a:avLst/>
          </a:prstGeom>
          <a:noFill/>
          <a:ln w="3175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USP</a:t>
            </a:r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14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AI 맞춤 세척+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Seamless 디자인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오토 오픈 도어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플로어 디스플레이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대용량 맞춤 선반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스팀불림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4단 입체 물살 강력세척
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99.999% 파워살균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정수 필터 내장형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100℃ 열풍건조+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한밤중에도 조용하게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Bixby 음성인식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슬림핏 직렬 설치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 에너지 소비효율 1등급 식기세척기
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66760" y="1572768"/>
            <a:ext cx="33677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사양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66760" y="1883664"/>
            <a:ext cx="336773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595 × 815 × 572 mm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 kg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에너지소비효율등급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1등급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소비전력 (1회, 표준코스)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624.0 Wh/회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통살균 / 고온살균 / 야간 저소음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있음 / 있음 / 있음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인버터 모터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있음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용량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인용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물사용량 (1인당 1회, 표준코스)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1.1 L/인용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세척시간 (1회, 표준코스)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 분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정격 소비전력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2,050 W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세척코스 수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EA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살균검증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Intertek 99.999%
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삼성닷컴 원문 · 2026-08-31 조사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에어컨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899855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Bespoke AI 무풍콤보 갤러리 프로 청정 81.8/18.7㎡ · 7,300,000원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무풍콤보 갤러리 프로 — 최상위</a:t>
            </a:r>
            <a:pPr indent="0" marL="0">
              <a:buNone/>
            </a:pPr>
            <a:r>
              <a:rPr lang="en-US" sz="1100" b="1" dirty="0">
                <a:solidFill>
                  <a:srgbClr val="142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AF90H25D36WRT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77295" cy="0"/>
          </a:xfrm>
          <a:prstGeom prst="line">
            <a:avLst/>
          </a:prstGeom>
          <a:noFill/>
          <a:ln w="3175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USP</a:t>
            </a:r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공간의 품격을 한층 높이는 패브릭 패턴과 일체형 바디로 완성된 세련된 디자인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업그레이드 된 AI 기능으로 상황·공간 맞춤형 기류를 제공하는 AI∙모션 바람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스스로 공간까지 학습하여 상황에 맞게 온도, 습도를 알아서 맞춰주는 AI 쾌적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서큘레이터로 사각지대 걱정 없이 빠르게 하이패스 서큘 냉방
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손쉽게 열어 간편하게 직접 관리할 수 있는 이지케어 셀프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자동으로 알아서 청소, 관리를 해주는 이지케어 스마트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미세먼지는 기본, 살균, 공간 제균에 알러젠 유발물질까지 걸러주는 알러젠 케어 청정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알아서 맞춤 관리하고 모바일로 간편하게 제어하는 SmartThings
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66760" y="1572768"/>
            <a:ext cx="33677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사양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66760" y="1883664"/>
            <a:ext cx="3367735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실내기 크기 (가로×높이×깊이)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360 × 1930 × 330 mm (슬림)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이지오픈패널 · 이지오픈 팬 · 필터 안심 물세척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있음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냉방 면적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81.8 ㎡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냉방 에너지 소비효율등급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등급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정격 냉방 소비전력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2.40 kW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정격 / 최대 냉방 능력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9.00 kW / 11.80 kW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형태 / 디스플레이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무풍 / COLOR LCD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무풍 냉방·청정·제습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있음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써큘레이터 급속 냉방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있음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 1.0 살균 필터 / PM 1.0 센서 / CAC 인증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있음 / 있음 / 있음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쾌적 제습 · 대용량 강력 제습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있음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UV LED 팬살균 · 워시클린 · AI 진단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있음
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5806440"/>
            <a:ext cx="11277295" cy="658368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586130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전 확인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5861304"/>
            <a:ext cx="995141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스탠드 단품 모델이 없어 스탠드만의 가격을 알 수 없다(7,300,000원은 벽걸이 포함 2-in-1 가격).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무풍홀 개수 "약 32만 개"는 지면 문구 그대로이고 사양표에는 항목이 없다.
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삼성닷컴 원문 · 2026-08-31 조사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벽걸이 에어컨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899855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무풍콤보 프로 벽걸이 청정 24.4㎡ · 1,610,000원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무풍콤보 프로 벽걸이</a:t>
            </a:r>
            <a:pPr indent="0" marL="0">
              <a:buNone/>
            </a:pPr>
            <a:r>
              <a:rPr lang="en-US" sz="1100" b="1" dirty="0">
                <a:solidFill>
                  <a:srgbClr val="142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AR80H07D21WT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77295" cy="0"/>
          </a:xfrm>
          <a:prstGeom prst="line">
            <a:avLst/>
          </a:prstGeom>
          <a:noFill/>
          <a:ln w="3175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USP</a:t>
            </a:r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공간과 바람을 이어주는 우아함 심리스 그리드 디자인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모션 레이더와 모션 블레이드로 상황 공간 맞춤 AI∙모션 바람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직바람 없는 무풍과 … 쾌적제습이 만나 더욱 쾌적한 무풍콤보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스스로 학습하여 온도, 습도를 알아서 맞춰주는 AI 쾌적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체계적으로 전기료를 관리해주는 AI 에너지 절약
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빠르고 시원한 패스트 쿨링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초미세먼지까지 제거하는 청정은 기본, 살균필터를 더해 한번 더 걱정 없이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관리가 더욱 편해져 위생적인 이지케어 5단계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알아서 맞춤 관리하고 모바일로 간편하게 제어하는 SmartThings
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66760" y="1572768"/>
            <a:ext cx="33677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사양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66760" y="1883664"/>
            <a:ext cx="3367735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실내기 크기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820 × 366 × 230 mm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냉방 면적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24.4 ㎡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냉방 에너지 소비효율등급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등급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정격 냉방 소비전력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0.70 kW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정격 / 최대 냉방 능력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3.00 kW / 4.00 kW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배관 길이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5.0 m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형태 / 디스플레이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무풍 / 888 Seg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오로라 라이팅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있음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무풍 냉방·청정·제습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있음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 1.0 필터 / PM 1.0 센서 / 극세 필터 / C…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있음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강력 제습 · 쾌적 제습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있음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워시클린 · AI 진단 · 자동 건조 · 필터 안심 물세척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있음
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5806440"/>
            <a:ext cx="11277295" cy="658368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586130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전 확인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5861304"/>
            <a:ext cx="995141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없음.
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삼성닷컴 원문 · 2026-08-31 조사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/ 26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공기청정기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899855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Infinite AI 공기청정기 (100㎡, 리유저블 필터) · 1,649,000원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스탠드형 최상위</a:t>
            </a:r>
            <a:pPr indent="0" marL="0">
              <a:buNone/>
            </a:pPr>
            <a:r>
              <a:rPr lang="en-US" sz="1100" b="1" dirty="0">
                <a:solidFill>
                  <a:srgbClr val="142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AP90H10198UDD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77295" cy="0"/>
          </a:xfrm>
          <a:prstGeom prst="line">
            <a:avLst/>
          </a:prstGeom>
          <a:noFill/>
          <a:ln w="3175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USP</a:t>
            </a:r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10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주기적으로 교체할 필요 없이 사용하는 리유저블 필터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4면 흡입과 4면 토출로 더욱더 효과적이고 강력한 4way 서라운드 &amp; 부스터 청정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어떤 공간에도 어우러지는 심플하고 감각적인 인피니트 디자인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실내 공기질까지 학습해 맞춰주는 맞춤 청정 AI+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최대 54%까지 에너지 절감 — AI 절약
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이산화탄소 농도에 따라 음성으로 안내하는 환기 가이드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굿슬립을 위한 저소음 무풍청정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필터 관리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Quick Remote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관리가 쉬운 내부 구조로 더 간편하고 청결하게
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66760" y="1572768"/>
            <a:ext cx="33677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사양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66760" y="1883664"/>
            <a:ext cx="3367735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크기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320 × 1070 × 320 mm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무게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25.2 kg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면적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㎡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프리필터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극세필터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집진필터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워셔블 살균 집진 필터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탈취필터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광분해 탈취 필터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UV 살균 LED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있음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레이저 PM 1.0 센서, 가스센서, 조도센서, 온도센서,…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청정도 표시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PM1.0 / 2.5 / 10, 가스, 종합 청정도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디스플레이 형태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대화형 알림창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무풍 / 부스터 / 환기 알림 / 무드등 / 바퀴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있음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있음(스마트)
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5806440"/>
            <a:ext cx="11277295" cy="658368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586130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전 확인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5861304"/>
            <a:ext cx="995141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에너지 소비효율등급 — 이 모델 사양표에 항목 자체가 없다.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소음(dB) 사양 — 특장점 문구의 "18dB 저소음 무풍청정" 외에 사양표에 소음 항목이 없다.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CADR·청정화능력 수치 — 사양표에 없다.
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삼성닷컴 원문 · 2026-08-31 조사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/ 26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로봇청소기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899855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Bespoke AI 스팀 울트라 자동 급배수 (리폼비 포함) · 2,307,000원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스팀 울트라</a:t>
            </a:r>
            <a:pPr indent="0" marL="0">
              <a:buNone/>
            </a:pPr>
            <a:r>
              <a:rPr lang="en-US" sz="1100" b="1" dirty="0">
                <a:solidFill>
                  <a:srgbClr val="142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VR90F01SAG98CS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77295" cy="0"/>
          </a:xfrm>
          <a:prstGeom prst="line">
            <a:avLst/>
          </a:prstGeom>
          <a:noFill/>
          <a:ln w="3175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USP</a:t>
            </a:r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19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간편한 정수 공급, 오수 배출과 빌트인 설치까지 — 자동 급배수 시스템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다양한 설치 스타일과 전문 원데이 설치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가구장 맞춤 리폼부터 설치까지 삼성 전문가가 책임집니다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국내 최초 스팀 살균 기능이 탑재된 Bespoke AI 스팀 울트라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높은 문턱과 매트를 넘나드는 주행 — 이지패스 휠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물처럼 투명한 액체까지 감지하여 추가 오염 방지 — AI 액체 인식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AI 기술을 만나 더 똑똑해진 청소 — AI 사물 인식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고체 상태의 오염 구역을 인식하면 한 번 더 집중 청소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간편하게 설정 가능한 청소 구역 — 공간 인식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충전선이나 장난감이 바닥에 있더라도 걸리지 않고 청소하는 3D 듀얼 장애물 센서
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정확한 인식과 맵핑을 위한 dToF LiDAR 주행 센서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3D로 확인하는 우리 집 지도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카펫은 안전하게 바닥은 깨끗하게 — AI 바닥 인식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 사각지대까지 놓치지 않는 구석 청소 솔루션 — 팝아웃 콤보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 상황에 따라 설정 가능한 다양한 청소 모드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16. Knox 보안 기술로 소중한 데이터를 보호하는 검증된 보안 성능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17. 우리 아이 마중 기능까지, 패밀리 케어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18. 직접 분리하여 청소 가능해 깔끔한 먼지통, 세척판 물세척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19. 나만의 인테리어 — Bespoke 디자인
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66760" y="1572768"/>
            <a:ext cx="33677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사양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66760" y="1883664"/>
            <a:ext cx="3367735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본체 크기 / 무게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359 × 100 × 364 mm / 4.3 kg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소비 전력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(세트) 80W / (스테이션) 1200W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(물걸레+먼지흡입 마루) 저소음 63dB / (자동먼지비움)…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흡입력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10W — *지면은 W 로만 적는다. Pa 표기 없음*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충전시간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300분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CPU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Qualcomm QRB4210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청소시간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(먼지흡입) 저소음 220분 · 일반 140분 · 강력 13…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승월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단층형 45mm / 계단형 60mm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메인브러시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듀오 클리어 브러시 (리프팅 지원)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 브러시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팝아웃 · 리프팅 지원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 듀얼 장애물 · 범퍼 · 추락 · dToF LiDAR…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먼지통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Bagless 0.2 ℓ
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5806440"/>
            <a:ext cx="11277295" cy="658368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586130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전 확인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5861304"/>
            <a:ext cx="995141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Pa(진공도) 수치 — 삼성은 이 제품의 흡입력을 W 로만 적는다. 지면·사양표 어디에도 Pa 가 없다.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배터리 용량(mAh) — 사양표에 "리튬이온 = 있음"만 있고 수치가 없다.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자동 급배수 모델의 청수통/오수통 용량 — 사양표에 항목이 없다(배관 직결 구조).
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삼성닷컴 원문 · 2026-08-31 조사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/ 26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무선청소기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899855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Bespoke AI 제트 400W · 1,619,000원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비스포크 AI 제트 울트라</a:t>
            </a:r>
            <a:pPr indent="0" marL="0">
              <a:buNone/>
            </a:pPr>
            <a:r>
              <a:rPr lang="en-US" sz="1100" b="1" dirty="0">
                <a:solidFill>
                  <a:srgbClr val="142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VS90F40CSK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77295" cy="0"/>
          </a:xfrm>
          <a:prstGeom prst="line">
            <a:avLst/>
          </a:prstGeom>
          <a:noFill/>
          <a:ln w="3175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USP</a:t>
            </a:r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15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훨씬 더 강력해진 최대 400W 흡입력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청소 환경을 알아서 감지하는 AI+ 인증 무선 스틱 청소기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눈에 보이지 않는 먼지까지 손쉽게 청소하는 에어 블로워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상황에 맞게 사용하는 블로워 모드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21% 가벼워진 브러시 무게와 측면 하단 LED 라이트로 더 편리해진 청소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새로워진 브러시 구조로 업그레이드된 청소 성능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오염물에 직접 분사하는 고온 세척 브러시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빠른 예열, 여유 있는 청소 시간
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미세먼지 배출 걱정 없는 위생관리 솔루션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스스로 상태를 진단하는 스마트 자가진단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말하듯 친절하게 알려주는 대화형 알림창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핸드폰 수신을 알려주는 스마트 콜 알림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직접 분리하여 청소 할 수 있어 깔끔한 먼지통 물세척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 브러시 수납과 배터리 충전도 편리하게! 액세서리 크래들 &amp; 배터리 충전 거치대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 나만의 인테리어를 완성시켜주는 Bespoke 디자인
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66760" y="1572768"/>
            <a:ext cx="33677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사양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66760" y="1883664"/>
            <a:ext cx="3367735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본체 크기 / 무게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 × 970 × 243 mm / 2.50 kg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흡입력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대용량 배터리 400W / 기본 배터리 250W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청소시간 (대용량 배터리)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핸디 일반 100분 / 강력 49분 / 초강력 16분 / 제…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충전시간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대용량 300분 / 기본 210분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디지털 인버터 모터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있음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청소시간 (기본 배터리)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핸디 일반 60분 / 강력 30분 / 초강력 10분 / 제트…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배터리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리튬 이온 · 25.2 V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브러시 너비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 mm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먼지용량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 ℓ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/ 추가 브러시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액티브 슬림 브러시 / 고온 세척 브러시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거치대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청정스테이션 일체형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액세서리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솔브러시 · 틈새브러시 · 플렉스 연장관 · 에어 블로워 ·…
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5806440"/>
            <a:ext cx="11277295" cy="658368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586130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전 확인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5861304"/>
            <a:ext cx="995141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소음(dB) — 사양표에 항목이 없다. 지면 특장점에도 수치가 없다.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본체 단독 무게 2.50 kg 은 사양표 값이고, 브러시·연장관 장착 시 무게는 표기가 없다.
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삼성닷컴 원문 · 2026-08-31 조사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/ 26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899855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갤럭시 S26 울트라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갤럭시 S26 울트라 — 바형 최상위</a:t>
            </a:r>
            <a:pPr indent="0" marL="0">
              <a:buNone/>
            </a:pPr>
            <a:r>
              <a:rPr lang="en-US" sz="1100" b="1" dirty="0">
                <a:solidFill>
                  <a:srgbClr val="142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SM-S948N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77295" cy="0"/>
          </a:xfrm>
          <a:prstGeom prst="line">
            <a:avLst/>
          </a:prstGeom>
          <a:noFill/>
          <a:ln w="3175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USP</a:t>
            </a:r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20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프라이버시 디스플레이를 탑재한 역대 가장 혁신적인 디스플레이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나이토그래피로 어둠속에서도 선명하고 AI로 진화된 차원이 다른 카메라 경험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뛰어난 내구성과 더욱 슬림해진 디자인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갤럭시용 스냅드래곤® 8 Elite 5세대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초고속 충전 3.0 — 약 30분 만에 최대 75% 충전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새롭게 설계된 베이퍼 챔버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스페이스 줌 최대 100배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포토 어시스트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퀵 쉐어가 에어드롭까지 지원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최대 1TB 저장 공간 · 마그넷 케이스/무선 충전기 액세서리
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역대 갤럭시 Z 폴드 시리즈 사상 가장 슬림한 디자인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아머 플렉스힌지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나이토그래피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 최대 1TB 저장 공간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 최대 120Hz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16. 5,600mAh 대용량 배터리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17. 갤럭시 폴더블 시리즈 최초로 45W 충전 어댑터 기본 제공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18. Snapdragon® 8 Elite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19. 엑시노스 2600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20. 강화된 mDNIe
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66760" y="1572768"/>
            <a:ext cx="33677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사양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66760" y="1883664"/>
            <a:ext cx="3367735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밝기 (PDP)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2,600nits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배터리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5,000mAh · 비디오 재생 최대 31시간 · 교체 불가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충전 (PDP)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초고속 충전 3.0 — 약 30분에 최대 75%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프로세서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CPU 4.74GHz · 3.6GHz, Octa-Core (…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메모리·저장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12GB / 256GB (사용 가능 224.3GB)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 (PDP)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후면 200MP 광각 F1.4 + 50MP 망원 F2.9(5…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디스플레이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174.9mm · 3120 x 1440 (Quad HD+)…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S펜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외관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163.6 x 78.1 x 7.9mm · 214g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Dual-SIM (SIM 1 + eSIM / Dual eSI…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USB Type-C(USB 3.2 Gen 1) · Wi-Fi…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동영상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UHD 8K (7680 x 4320) @60fps
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5806440"/>
            <a:ext cx="11277295" cy="658368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586130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전 확인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5861304"/>
            <a:ext cx="995141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IP 방수·방진 등급 — 지원 페이지 사양표에 항목이 없고 PDP 본문에서도 못 찾았다.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초광각 카메라 조리개값 — 광각 F1.4 · 망원 F2.9 만 원문이 이 모델 값으로 명시한다.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가격 — 목록 API `curPrice` 가 null.
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삼성닷컴 원문 · 2026-08-31 조사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/ 26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태블릿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899855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(5G) · SM-X930N (Wi-Fi) — 갤럭시 탭 S11 울트라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갤럭시 탭 S11 울트라</a:t>
            </a:r>
            <a:pPr indent="0" marL="0">
              <a:buNone/>
            </a:pPr>
            <a:r>
              <a:rPr lang="en-US" sz="1100" b="1" dirty="0">
                <a:solidFill>
                  <a:srgbClr val="142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SM-X936N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77295" cy="0"/>
          </a:xfrm>
          <a:prstGeom prst="line">
            <a:avLst/>
          </a:prstGeom>
          <a:noFill/>
          <a:ln w="3175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USP</a:t>
            </a:r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대화면 멀티태스킹에 최적화된 멀티모달 Galaxy AI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더 밝아진 369.9mm 대화면으로 몰입감 있는 시청경험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최신 AP의 향상된 성능으로 끊김없이 오래 사용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역대 가장 얇고 가벼운 울트라
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충전이 필요 없는 육각형 S펜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Samsung DeX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기본 설치 앱
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66760" y="1572768"/>
            <a:ext cx="33677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사양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66760" y="1883664"/>
            <a:ext cx="3367735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밝기 (PDP)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1,600nits · HBM 야외 1,000nits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배터리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11,600mAh · 교체 불가 (PDP: 45W)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프로세서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CPU 3.73GHz · 3.3GHz · 2.4GHz, Oc…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메모리·저장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12GB / 256GB · microSD 최대 2TB (PD…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후면 13.0MP + 8.0MP(오토 포커스·플래시) / 전…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디스플레이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369.9mm · 2960 x 1848 (WQXGA+) ·…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S펜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(충전 불필요 육각형 S펜)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외관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208.5 x 326.3 x 5.1mm · 695g (Wi-…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USB 3.2 Gen 1 · Wi-Fi 802.11be(2.…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동영상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UHD 8K (7680 x 4320) @60fps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Samsung DeX · SmartThings 지원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업데이트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2032년 9월 30일까지
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5806440"/>
            <a:ext cx="11277295" cy="658368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586130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전 확인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5861304"/>
            <a:ext cx="995141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AP 명칭 — PDP 는 *"업그레이드 된 프로세서"* 라고만 하고 지원 페이지도 클럭만 준다.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IP 방수·방진 등급 — 사양표에 행이 없다.
</a:t>
            </a:r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가격.
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삼성닷컴 원문 · 2026-08-31 조사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 / 26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899855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갤럭시 워치 울트라2 (LTE 자급제, 47mm)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갤럭시 워치 울트라2</a:t>
            </a:r>
            <a:pPr indent="0" marL="0">
              <a:buNone/>
            </a:pPr>
            <a:r>
              <a:rPr lang="en-US" sz="1100" b="1" dirty="0">
                <a:solidFill>
                  <a:srgbClr val="142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SM-L715N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77295" cy="0"/>
          </a:xfrm>
          <a:prstGeom prst="line">
            <a:avLst/>
          </a:prstGeom>
          <a:noFill/>
          <a:ln w="3175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USP</a:t>
            </a:r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일상에서도 야외에서도, 올인원 스마트워치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800 mAh 대용량 배터리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프리미엄 디자인, 편안한 착용감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스마트워치 사상 최초, 최대 5,000니트
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거친 산길에서 심해까지, 한계 없는 내구성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스냅드래곤® 웨어 엘리트 플랫폼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아웃도어
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66760" y="1572768"/>
            <a:ext cx="33677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사양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66760" y="1883664"/>
            <a:ext cx="3367735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밝기 (PDP)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5,000니트 (스마트워치 최초)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배터리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800mAh · AOD 끔 최대 80시간 / AOD 켬 최대…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충전 (PDP)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고주파 고속 충전 — 30분에 40%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프로세서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CPU 2.1GHz · 1.95GHz, Penta-Core…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메모리·저장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2GB / 64GB (사용 가능 49.3GB)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디스플레이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38.5mm(1.52인치) · 498 x 498 · Supe…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외관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47.4 x 47.1 x 10.7mm · 61.5g · 티타…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내구성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ATM · IP69K (PDP: EN13319, 최대…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가속도 · 기압 · 생체전기 임피던스 · 전기 심박 · 자이…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Wi-Fi 802.11a/b/g/n(2.4+5GHz) · B…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Wear OS Powered by Samsung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업데이트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2031년 7월 31일까지
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5806440"/>
            <a:ext cx="11277295" cy="658368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586130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전 확인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5861304"/>
            <a:ext cx="995141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가격.
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삼성닷컴 원문 · 2026-08-31 조사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/ 26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899855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갤럭시 버즈4 프로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갤럭시 버즈4 프로</a:t>
            </a:r>
            <a:pPr indent="0" marL="0">
              <a:buNone/>
            </a:pPr>
            <a:r>
              <a:rPr lang="en-US" sz="1100" b="1" dirty="0">
                <a:solidFill>
                  <a:srgbClr val="142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SM-R640N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77295" cy="0"/>
          </a:xfrm>
          <a:prstGeom prst="line">
            <a:avLst/>
          </a:prstGeom>
          <a:noFill/>
          <a:ln w="3175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USP</a:t>
            </a:r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디테일까지 놓치지 않는 Hi-Fi 사운드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빅데이터로 설계한 최적의 착용감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갤럭시 유저만이 누릴 수 있는 강력한 Galaxy AI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슈퍼 클리어 콜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강화된 ANC
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소음 제어 최적화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대화 감지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360 오디오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호환 조건
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66760" y="1572768"/>
            <a:ext cx="33677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사양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66760" y="1883664"/>
            <a:ext cx="3367735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배터리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이어버드 61mAh · 케이스 530mAh · 리튬 이온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충전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충전전력 2.5 ~ 4.5W (PDP: 케이스 무선 충전 지…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스피커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Enhanced 2-way (PDP: 듀얼 앰프 · 우퍼 진…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음향 기능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액티브 노이즈 캔슬링 · 주변 소리 듣기 · 소음 제어 최적…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오디오 코덱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AAC · SBC · SSC(Samsung Seamless…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음질 (PDP)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24-bit / 96kHz (SSC-UHQ) · 통화 최대…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Bluetooth v6.1 · LE 오디오 · 오토 스위치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가속도 · 자이로 · 홀 · 압력 · 근접 · 터치 · VP…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이어버드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30.9 x 18.1 x 19.6mm · 5.1g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케이스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 x 28.3 x 51mm · 44.3g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내구성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IP57 (최대 30분 · 최대 1m 담수 실험실 조건)
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5806440"/>
            <a:ext cx="11277295" cy="658368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586130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전 확인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5861304"/>
            <a:ext cx="995141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가격.
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삼성닷컴 원문 · 2026-08-31 조사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 / 26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노트북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899855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갤럭시 북6 울트라 (40.6cm) Core™ Ultra 9 / 2TB NVMe SSD, Copilot+ PC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갤럭시 북6 울트라</a:t>
            </a:r>
            <a:pPr indent="0" marL="0">
              <a:buNone/>
            </a:pPr>
            <a:r>
              <a:rPr lang="en-US" sz="1100" b="1" dirty="0">
                <a:solidFill>
                  <a:srgbClr val="142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NT960UJH-XC94Y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77295" cy="0"/>
          </a:xfrm>
          <a:prstGeom prst="line">
            <a:avLst/>
          </a:prstGeom>
          <a:noFill/>
          <a:ln w="3175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USP</a:t>
            </a:r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27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완벽한 퍼포먼스를 위한 새로운 디자인과 설계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NVIDIA® Geforce® RTX™ 50 시리즈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학습과 업무를 도와주는 네비게이터 Galaxy AI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The All-new Galaxy Book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NVIDIA® GeForce RTX™ 50 시리즈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Intel® Core™ Ultra 프로세서 시리즈 3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갤럭시 북 울트라 시리즈 중 가장 오래 가는 배터리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실제에 가까운 선명한 색감 Dynamic AMOLED 2X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대칭과 균형을 강조한 새로운 디자인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극강의 퍼포먼스 NVIDIA® GeForce RTX™ 50 시리즈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강력한 퍼포먼스의 완성 Intel® Core™ Ultra 프로세서 시리즈 3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울트라를 울트라답게 만들어주는 쿨링 시스템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손 끝으로 제어하는 터치 스크린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 작업 환경에 맞게 주사율을 설정하는 스마트한 디스플레이
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 주변 밝기를 인식하고 화면을 자동 조절하는 최적화된 디스플레이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16. 선명한 시야와 견고한 내구성을 갖춘 디스플레이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17. 6개의 스피커로 풍성하게 채운 사운드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18. 세밀하게 반응하는 햅틱 패드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19. 군더더기 없이 완벽한, 최적의 포트 구성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20. 이미지 편집을 손쉽게 도와주는 AI 컷 아웃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21. 마치 대화를 나누듯 빠르고 직관적인 검색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22. PC와 모바일이 이어진 초연결 생태계 Galaxy Ecosystem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23. PC와 스마트폰 간 파일을 서로 자유롭게 공유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24. 갤럭시 기기를 간단하게 연결하고 제어하는 주변 기기 연결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25. 여러 기기를 간편하게 넘나드는 작업 멀티 컨트롤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26. 태블릿을 듀얼 모니터로 세컨드 스크린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27. 빠르고 안전한 파일 공유 퀵 쉐어
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66760" y="1572768"/>
            <a:ext cx="33677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사양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66760" y="1883664"/>
            <a:ext cx="336773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크기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40.6 cm (16.0 inch)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1.89 kg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터치스크린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Yes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해상도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2880 x 1800 (WQXGA+)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패널 종류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Dynamic AMOLED 2X, Anti-Reflective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배터리 용량 (Typical)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80.20 Wh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충전기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140W USB Type-C Adapter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CPU (이 SKU 기준)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Intel® Core™ Ultra 9 processor 38…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(이 SKU 기준)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 GB / LPDDR5X (On Board)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저장장치 (이 SKU 기준)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TB NVMe SSD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2.0 MP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운영체제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Windows 11 Home
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삼성닷컴 원문 · 2026-08-31 조사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 / 26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899855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오디세이 Ark 2세대 G9 G97NC 4K 스마트 (LS55CG970)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오디세이 Ark 2세대 G9</a:t>
            </a:r>
            <a:pPr indent="0" marL="0">
              <a:buNone/>
            </a:pPr>
            <a:r>
              <a:rPr lang="en-US" sz="1100" b="1" dirty="0">
                <a:solidFill>
                  <a:srgbClr val="142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LS55CG970NKXKR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77295" cy="0"/>
          </a:xfrm>
          <a:prstGeom prst="line">
            <a:avLst/>
          </a:prstGeom>
          <a:noFill/>
          <a:ln w="3175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USP</a:t>
            </a:r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19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탐험을 여는 새로운 시각 조종석 모드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대화면을 하나로 즐기는 멀티스크린 4분할 멀티뷰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게임을 승리로 이끄는 압도적 성능 165 Hz 주사율 &amp; 1 ms 응답속도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현실 그 이상의 압도적 리얼리티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혁신적인 세로 뷰 전환으로 체험하는 조종석 모드와 이클립스 라이팅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오디세이 Ark만의 전용 컨트롤러 아크 다이얼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최대 4개 입력 소스로 한층 더 업그레이드된 멀티태스킹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하나의 기기로 다양한 장치 제어 KVM 스위치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최적의 플레이를 위한 화면 설정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퀀텀 매트릭스 기술로 완성한 강력한 화질
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최첨단 AI로 놀라운 4K 시네마틱 경험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전투에서 우위를 선점하도록 도와주는 디테일 HDR 10+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주변 밝기로부터 자유로운 매트 디스플레이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 강력한 게이밍 사운드 체험 사운드 돔 테크놀로지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 4K 해상도에서 즐기는 놀라운 속도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16. 화면이 끊기는 걱정 없이 완벽한 집중 AMD FreeSync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17. 한곳에서 즐기는 최고의 게임 라인업 게이밍 허브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18. 게이밍에서 스트리밍으로 빠르게 접속 스마트 TV 경험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19. 게임 전용 모드로 빠르게 변환 가능한 게임 바
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66760" y="1572768"/>
            <a:ext cx="33677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사양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66760" y="1883664"/>
            <a:ext cx="336773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크기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138.7 cm (55형)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해상도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3,840 x 2,160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주사율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Max 165 Hz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밝기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600 cd/㎡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패널 타입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소비전력(Typical)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103.0 W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응답속도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(GTG)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평면 / 곡면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Curved · 1000 R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명암비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1,000,000:1 (Static) · Mega DCR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HDR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Quantum HDR 32x · HDR10+ Gaming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색재현성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DCI 95 % (Typ.)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기능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Smart
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삼성닷컴 원문 · 2026-08-31 조사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/ 26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인덕션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899855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Infinite Line 후드일체형 인덕션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Infinite Line 후드일체형</a:t>
            </a:r>
            <a:pPr indent="0" marL="0">
              <a:buNone/>
            </a:pPr>
            <a:r>
              <a:rPr lang="en-US" sz="1100" b="1" dirty="0">
                <a:solidFill>
                  <a:srgbClr val="142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CC99H84JAD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77295" cy="0"/>
          </a:xfrm>
          <a:prstGeom prst="line">
            <a:avLst/>
          </a:prstGeom>
          <a:noFill/>
          <a:ln w="3175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USP</a:t>
            </a:r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28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후드일체형으로 더 자유롭게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어디에 올려도 빈틈 걱정 없이 균일하게 화력을 전달하는 올 플렉스존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최대 7,400W의 강력한 화력으로 더 빠르고 완성도 있는 조리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매트한 무광 디자인에 긁힘 걱정 없는 견고함까지 Infinite Glass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요리 종류에 따라 자동으로 작동하는 스마트 모드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애프터 런 기능으로 조리 후에도 깔끔한 마무리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소비자의 부담을 줄인 에너지 소비효율 1등급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손쉬운 분리와 물 세척으로 쉬운 필터 관리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후드일체형 인덕션의 편의 기능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섬세한 화력 조절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덕트 키트 없이 설치 가능한 후드일체형 인덕션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국내 유일 자동확산소화기 설치 의무 유예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상/하단 동시 조리 가능한 듀얼 쿡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 기름 없이도 바삭하게 에어프라이
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 겉은 바삭, 속은 촉촉 고메 베이퍼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16. 복잡한 양식 요리도 간편하게 자동조리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17. 사용하기 쉬운 풀터치 LCD 디스플레이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18. 모바일 원격 제어로 간편해진 스마트 컨트롤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19. 레시피 검색·추천 및 쇼핑까지 SmartThings Cooking 서비스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20. 자동으로 요리를 도와주는 로스팅 온도센서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21. 닫을 때도 안전하게 소프트 클로징 도어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22. 내부 청소도 간편하게 고온 청소 기능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23. 그릴로 바삭하게 전자레인지로 빠르게 복합 조리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24. 빵 해동과 홈 디저트도 간편하게 노오븐 베이킹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25. 집콕이 더 즐거워지는 홈쿡 레시피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26. 다양한 컬러와 세련된 디자인으로 주방을 아름답게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27. 더 빨라진 쾌속해동 Plus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28. 항균처리로 미생물 발생을 억제하는 세라믹 조리실
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66760" y="1572768"/>
            <a:ext cx="33677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사양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66760" y="1883664"/>
            <a:ext cx="336773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치수 (가로×세로×높이)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 x 520 x 230 mm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 (제품/전체)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27.2 / 31 kg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에너지소비효율등급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1등급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소비전력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7,650 W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간섭소음절감(DNC)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출력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7.4 kW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화구 수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(플렉스) EA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플렉스존 사이즈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210 X 365 mm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플렉스 존(앞)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2.1 / 2.7 (Max) kW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플렉스 존(뒤)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2.1 / 2.7 (Max) kW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플렉스 존 전체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2.7 / 3.7 (Max) kW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부스터 수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EA
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삼성닷컴 원문 · 2026-08-31 조사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/ 26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899855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Infinite Line 빌트인 전기오븐 75L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Infinite Line 빌트인 75L</a:t>
            </a:r>
            <a:pPr indent="0" marL="0">
              <a:buNone/>
            </a:pPr>
            <a:r>
              <a:rPr lang="en-US" sz="1100" b="1" dirty="0">
                <a:solidFill>
                  <a:srgbClr val="142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NV75T9879CD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77295" cy="0"/>
          </a:xfrm>
          <a:prstGeom prst="line">
            <a:avLst/>
          </a:prstGeom>
          <a:noFill/>
          <a:ln w="3175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USP</a:t>
            </a:r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10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상/하단 동시 조리 가능한 듀얼 쿡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기름 없이도 바삭하게 에어프라이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겉은 바삭, 속은 촉촉 고메 베이퍼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복잡한 양식 요리도 간편하게 자동조리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사용하기 쉬운 풀터치 LCD 디스플레이
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모바일 원격 제어로 간편해진 스마트 컨트롤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레시피 검색·추천 및 쇼핑까지 SmartThings Cooking 서비스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자동으로 요리를 도와주는 로스팅 온도센서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닫을 때도 안전하게 소프트 클로징 도어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내부 청소도 간편하게 고온 청소 기능
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66760" y="1572768"/>
            <a:ext cx="33677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사양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66760" y="1883664"/>
            <a:ext cx="336773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외관 크기 (가로×높이×깊이)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595 X 596 X 570 mm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48.8 kg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소비전력 — 오븐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2,700 W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방식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빌트인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용량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 L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오븐 온도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~ 275 ℃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히터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Sheath Heater (상 / 하단)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컨벡션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Fan + Heater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그릴 방식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와이드 듀얼그릴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스팀어시스트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있음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조리모드 — 오븐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있음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조리모드 — 전자레인지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
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삼성닷컴 원문 · 2026-08-31 조사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/ 26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전자레인지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899855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Bespoke 전자레인지 23L (그릴 프라이)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Bespoke 23L 그릴 프라이</a:t>
            </a:r>
            <a:pPr indent="0" marL="0">
              <a:buNone/>
            </a:pPr>
            <a:r>
              <a:rPr lang="en-US" sz="1100" b="1" dirty="0">
                <a:solidFill>
                  <a:srgbClr val="142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MG23T5018CC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77295" cy="0"/>
          </a:xfrm>
          <a:prstGeom prst="line">
            <a:avLst/>
          </a:prstGeom>
          <a:noFill/>
          <a:ln w="3175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USP</a:t>
            </a:r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그릴로 바삭하게 전자레인지로 빠르게 복합조리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빵 해동과 홈디저트도 간편하게 노오븐 베이킹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다양한 컬러 세련된 글라스 감성디자인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집콕이 더 즐거워지는 홈쿡 레시피
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0" y="1901952"/>
            <a:ext cx="37033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다양한 컬러와 세련된 디자인으로 주방을 아름답게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더 빨라진 쾌속해동 Plus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항균처리로 미생물 발생을 억제하는 세라믹 조리실
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66760" y="1572768"/>
            <a:ext cx="33677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사양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66760" y="1883664"/>
            <a:ext cx="336773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외관 크기 (가로×높이×깊이)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489 x 275 x 381 mm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13.0 kg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소비전력 — 그릴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1050 W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전자레인지 출력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700 W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방식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프리스탠딩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용량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L (가용 10 L)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히터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Sheath heater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그릴 방식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그릴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조리모드 — 오븐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조리모드 — 전자레인지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있음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조리모드 — 에어프라이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
</a:t>
            </a:r>
            <a:pPr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5A62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조리모드 — 찜
</a:t>
            </a:r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151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
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삼성닷컴 원문 · 2026-08-31 조사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362895" y="6473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 / 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삼성전자판매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품목별 하이엔드 USP</dc:title>
  <dc:subject>PptxGenJS Presentation</dc:subject>
  <dc:creator>경원영업팀</dc:creator>
  <cp:lastModifiedBy>경원영업팀</cp:lastModifiedBy>
  <cp:revision>1</cp:revision>
  <dcterms:created xsi:type="dcterms:W3CDTF">2026-08-31T03:09:48Z</dcterms:created>
  <dcterms:modified xsi:type="dcterms:W3CDTF">2026-08-31T03:09:48Z</dcterms:modified>
</cp:coreProperties>
</file>