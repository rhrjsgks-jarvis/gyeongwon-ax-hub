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8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모델별 핵심 USP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48640" y="329184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</a:rPr>
              <a:t>70개 모델 · 삼성닷컴 공식 셀링포인트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B4FC"/>
                </a:solidFill>
              </a:rPr>
              <a:t>경원영업팀 · 세일즈 코파일럿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291072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8CF8"/>
                </a:solidFill>
              </a:rPr>
              <a:t>수집 2026-09-02 · 출처 samsung.com/sec — 목록 API uspDescList · PDP #compGoodsFeatures / 2026-09-02 추가분 11종은 삼성 공식 세일즈가이드(scripts/fixtures/usp-guides.json) / 2026-09-02 추가분은 삼성 공식 세일즈가이드 PDF 11종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81E"/>
                </a:solidFill>
              </a:rPr>
              <a:t>담긴 모델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545775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6270"/>
                </a:solidFill>
              </a:rPr>
              <a:t>1 / 4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  <a:gridCol w="5486400"/>
                <a:gridCol w="1673352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카테고리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모델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제품명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USP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KMR85RH95AFXKR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Micro RGB RH95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KMR85RH9GAFXKR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Micro RGB RH9G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KQ77SH95AFXKR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OLED SH95 (195cm)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KQ77SH93AFXKR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OLED SH93 (195cm)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KQ85LSH03WFXKR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The Frame Pro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KU85MH80AFXKR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Mini LED MH80 (214cm)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KU27LSFM7AXXKR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2025 The Movingstyle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HW-Q930H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9.1.4ch 사운드바 Q930H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HW-Q990H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11.1.4ch 사운드바 Q990H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RM90H91B1W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패밀리허브 4도어 864L (81.2cm,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RM80H91S1X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하이브리드 4도어 873L (오토오픈도어)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RM70H91RMA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하이브리드 4도어 901L (에너지 1등급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RM80H64S2A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하이브리드 4도어 키친핏 Max 609L 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RM90H64P2W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패밀리허브 4도어 키친핏 Max 602L 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RK80F49C1X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 487L (맞춤숙성실)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RK80F42C2A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 키친핏 Max 418L 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정수기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RWP90H15AN*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얼음정수기 (냉/온/정수)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의류케어(세탁건조기)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WD90H25AH*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콤보 25/20kg (177.8mm LCD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의류케어(워시타워)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WH90F2522AAH*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원바디 25/22kg (177.8mm LC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WD80H25BHS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콤보 25/18kg (71.1mm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8A0"/>
                </a:solidFill>
              </a:rPr>
              <a:t>목차 (이어서)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545775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6270"/>
                </a:solidFill>
              </a:rPr>
              <a:t>2 / 4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  <a:gridCol w="5486400"/>
                <a:gridCol w="1673352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카테고리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모델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제품명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USP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DV10BB8440GB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건조기 슬림 10kg+상단 설치 키트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WA80F19SKB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AI 통버블 세탁기 19kg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WW13BB844DGB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세탁기 슬림 13kg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WF90F25AD*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세탁기 25kg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DV90F22CD*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건조기 22kg (177.8mm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의류케어(에어드레서)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DF90H24R5C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대용량 5~9벌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DF18CB8700CR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일반용량 3~5벌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AF90H19D38WR*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무풍콤보 갤러리 프로 청정 62.6/18.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AF70F19D24IR*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무풍 클래식 62.6/18.7㎡ (리모컨 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AP90H10198EDD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공기청정기 (100㎡, 리유저블 필터)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AP90H10163EDD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공기청정기 (100㎡, S 필터)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AP70F06103RVD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블루스카이 5500 (60㎡)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VS90F40CN*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제트 400W 펫브러시 패키지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VS70H18GV*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제트 핏 물걸레 브러시 패키지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로봇청소기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VR90F01SAG*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스팀 울트라 자동 급배수 (리폼비 포함)+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로봇청소기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VR90F01AAG*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스팀 울트라+먼지봉투+다회용포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CC99H63I1D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인덕션 (플렉스존)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CC99F63G1DS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인덕션 (플렉스존)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CC99F63U1DS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인덕션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CC80H63G1HS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인덕션 (플렉스존)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8A0"/>
                </a:solidFill>
              </a:rPr>
              <a:t>목차 (이어서)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545775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6270"/>
                </a:solidFill>
              </a:rPr>
              <a:t>3 / 4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  <a:gridCol w="5486400"/>
                <a:gridCol w="1673352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카테고리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모델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제품명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USP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DW99F79E1US*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Infinite AI 식기세척기 빌트인 14인용 (필터 내장형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DW90F79F1US*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식기세척기 빌트인 14인용 (필터 내장형,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DW80F75L1U*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식기세척기 빌트인 14인용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식기세척기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DW90F79P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식기세척기 빌트인 14인용 (컵 맞춤 세척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AR80H07D21W/KO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AI 무풍콤보 프로 벽걸이 24.4㎡ (1등급)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10줄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AR80H06D2A1Q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AI 무풍콤보 프로 벽걸이 홈멀티 18.7㎡ (청정)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9줄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AR70H06D1A1Q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AI 무풍콤보 프로 벽걸이 홈멀티 18.7㎡ (무청)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8줄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KMR115MRF95XKR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Micro RGB MRF95 (115형)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8줄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공기청정기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AP70F03102RVD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블루스카이 3100 (33㎡)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8줄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의류케어(세탁건조기)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WD90H25BHW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콤보 MID 25/20kg (7형 LCD)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12줄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의류케어(에어드레서)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DF90H24R4D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대용량 5~9벌 (하의 2)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11줄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의류케어(에어드레서)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DF80H24R1C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에어드레서 5~9벌 (하의 1)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6줄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HW-QS90H/KR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7.1.2ch 올인원 사운드바 QS90H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7줄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사운드바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HW-LS50H/KR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Music Studio 5 (LS50H/LS51H)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RK70F42F2X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 키친핏 420L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RK80F42E2A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 키친핏 (E 타입)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5줄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김치냉장고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RK70F42M2A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Bespoke AI 김치플러스 4도어 키친핏 (M 타입)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5줄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KMR85RH85AFXKR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Micro RGB RH85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KQ83SH95AEXKR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OLED SH95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KQ83SH93AEXKR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OLED SH93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8A0"/>
                </a:solidFill>
              </a:rPr>
              <a:t>목차 (이어서)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545775" y="457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A6270"/>
                </a:solidFill>
              </a:rPr>
              <a:t>4 / 4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  <a:gridCol w="5486400"/>
                <a:gridCol w="1673352"/>
              </a:tblGrid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카테고리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모델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제품명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USP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A0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KQ83SH90AEXKR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OLED SH90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KQ83SH85AEXKR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OLED SH85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KQ100QNH80FXKR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Neo QLED 4K QNH80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KQ85QNH70AFXKR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Neo QLED 4K QNH70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KU100MH90FXKR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Mini LED MH90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3줄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KU85MH70AFXKR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Mini LED MH70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KQ98LSH03EFXKR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The Frame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KU98UH9000FXKR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Crystal UHD UH9000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TV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KU85UH8000FXKR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Crystal UHD UH8000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4줄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에어컨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AF90H25D36WN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2026 Bespoke AI 무풍콤보 갤러리 프로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5181E"/>
                          </a:solidFill>
                        </a:rPr>
                        <a:t>5줄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Micro RGB RH95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KMR85RH95AFXKR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3500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322576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AI 엔진 Pro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291185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276148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Precision Color 100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디테일로 빚어낸 화질의 정점, Micro RGB 기술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엔진으로 살아나는 컬러, Micro RGB AI 엔진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세계 최초 인증, 압도적 색 표현력 Micro RGB Precision Color 100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128개 AI 뉴럴 네트워크로 완성되는 세밀함 4K AI 업스케일링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AI로 더욱 풍부하고 생생해진 축구 관람, AI 축구 모드 Pro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한 번의 명령만으로 음성과 음악, 효과음을 분리·조절, AI 사운드 컨트롤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경계를 넘어선 새로운 경험, Infinity Air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Micro RGB RH9G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KMR85RH9GAFXKR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3500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322576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AI 엔진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291185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276148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Micro RGB Precision Color 100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디테일로 빚어낸 화질의 정점, Micro RGB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완성한 컬러, Micro RGB AI 엔진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세계 최초 인증, 압도적 색 표현력 Micro RGB Precision Color 100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콘텐츠를 4K급 화질로 업스케일링, 4K AI 업스케일링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명령으로 음성과 효과음을 분리, AI 사운드 컨트롤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차원이 다른 깊이감과 생생한 대비, Micro RGB HDR+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SDR 콘텐츠를 HDR급 화질로 변환, 오토 HDR 리마스터링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압도적 존재감과 세련된 실루엣의 조화, Monolith Edge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OLED SH95 (195cm)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KQ77SH95AFXKR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무반사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3500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322576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Floatlayer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27889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2761488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얼티밋 게이밍 팩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(18)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삼성의 가장 진보한 AI 4K 프로세서, 3세대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128개 AI 뉴럴 네트워크로 완성되는 세밀함 4K AI 업스케일링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명령만으로 음성과 음악, 효과음을 분리·조절, AI 사운드 컨트롤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깊어진 대비와 생생한 컬러, OLED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승리를 위한 몰입의 완성, 얼티밋 게이밍 팩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아트 프레임의 새로운 패러다임, FloatLayer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놀랍도록 빠른 반응의 게임 플레이 G-SYNC 호환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OLED SH93 (195cm)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KQ77SH93AFXKR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무반사 기술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3500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322576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얼티밋 게이밍 팩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27889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2761488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LaserSlim 디자인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(17)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빛 반사 걱정 없는, 무반사(Reflection Glare Free) 기술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승리를 위한 몰입의 완성, 얼티밋 게이밍 팩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삼성의 가장 진보한 AI 4K 프로세서, 3세대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128개 AI 뉴럴 네트워크로 완성되는 세밀함 4K AI 업스케일링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명령만으로 음성과 음악, 효과음을 분리·조절, AI 사운드 컨트롤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깊어진 대비와 생생한 컬러, OLED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초슬림으로 정의하는 우아함의 기준 LaserSlim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끊김이나 찢김, 지연 걱정 없는 매끄러운 플레이 FreeSync 프리미엄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놀랍도록 빠른 반응의 게임 플레이 G-SYNC 호환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The Frame Pro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KQ85LSH03WFXKR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무선 원 커넥트로 완성한 모던 프레임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59588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아트 모드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03479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007360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눈부심 걱정 없는 Neo QLED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마치 실제 액자인 듯 자연스러운 조화 무선 원 커넥트로 완성한 모던 프레임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복잡한 선 없이 깔끔하게 연결 무선 원 커넥트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마치 벽과 하나인 듯 밀착 슬림핏 벽걸이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공간에 맞게 연출하는 다채로운 베젤 맞춤형 프레임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공간에 어울리는 높낮이 조절까지 높이 조절 스탠드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TV가 꺼지는 순간 시작되는 나만의 갤러리 아트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세계 유수의 작품을 무료로 감상 아트 스트림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집에서 만나는 세계적인 명작들 아트 스토어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일상 공간에 더해진 예술 아트 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몰입감을 높여주는 선명한 화면 눈부심 걱정 없는 Neo QLED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빛 반사를 줄여 더욱 선명해지는 화면 눈부심 방지 기술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팬톤으로부터 검증된 정확한 색 표현 아트풀 컬러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배터리 없이 태양광만으로 충전 솔라셀 리모트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Mini LED MH80 (214cm)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KU85MH80AFXKR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Samsung Vision AI 컴패니언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59588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Mini LED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03479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007360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모션 터보 144Hz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보다 진보된 기술로 섬세하게 빛나는 Mini LED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더욱 풍부하고 생생해진 축구 관람, AI 축구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언어로 즐기는 콘텐츠, 실시간 번역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취향대로 만드는 AI 배경화면,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완성하는 궁극의 4K 화질 2세대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콘텐츠를 4K급 화질로 업스케일링, 4K AI 업스케일링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한 번의 명령으로 음성과 효과음을 분리, AI 사운드 컨트롤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눈앞에 펼쳐지는 생생한 깊이감, 명암비 강화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Mini LED로 정교하게 구현된 실제에 가까운 초광색 퓨어 스펙트럼 컬러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장면을 더 깊고 또렷하게 표현하는 시네마틱 스케일 Mini LED HDR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SDR 콘텐츠를 HDR급 화질로 변환, 오토 HDR 리마스터링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지능적으로 강화되는 AI 컬러 표현 컬러 부스터 Pro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공간의 품격을 높이는 우아한 슬림 디자인 Metal Stream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안심하고 사용할 수 있는 TV 삼성 Knox 보안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완전히 개인화된 시청 경험의 완성 One UI Tizen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삼성 TV의 대화면으로 만나는 소중한 추억, Google 포토 for 삼성 TV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찢김이나 끊김 걱정 없이 부드러운 HDR 게이밍 FreeSync 프리미엄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게임 플레이 중에도 원하는 만큼 섬세하게 설정 게임 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구독 없이 즐기는 삼성 TV 속 다채로운 콘텐츠, 삼성 TV 플러스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2025 The Movingstyle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KU27LSFM7AXXKR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분리와 이동이 자유로운 스타일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3500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322576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간편하게 올려두고 즐기는 스타일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27889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2761488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터치 인터랙션으로 완성한 스타일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(22)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초경량 스크린으로 어디서든 분리와 이동이 자유로운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경험을 자유롭게, 분리형 스크린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매끄러운 이동을 위한 세련된 스탠드, 롤러블 플로어 스탠드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슬림한 디자인으로 공간을 더욱 돋보이게, 슬림 스타일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각도로 시청 경험을 편안하게, 풀 모션 서포트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원하는 곳 어디서나 자유롭게 감상 간편한 시청형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내장 배터리로 어디서나 자유롭게 즐기는 엔터테인먼트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어디서든 보고 싶을 때 손쉽게, 일체형 킥스탠드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필요할 때 어디서든 간편하게 연결 슬림핏 카메라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매끄러운 연결로 사용감을 편하게, 다채로운 인터랙티브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손끝으로 만나는 직관적인 컨트롤, 터치 인터랙션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손안의 스마트폰에서 눈앞의 디스플레이까지 한 번에 간편한 연결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라이프스타일을 즐기는 방법 스마트한 나만의 맞춤형 스타일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부드러운 화면으로 즐기는 게임 플레이, 120Hz 주사율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기술로 완성된 강력한 시청 경험, 2세대 AI 4K 프로세서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꺼진 화면에서도 필요한 정보를 한눈에, Now Brief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큐레이션으로 경험하는 특별한 라이프스타일 아트 스토어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나만의 분위기에 맞게 AI로 만든 생성형 배경화면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손끝으로 자유롭게 표현하는 나만의 영감 스케치 나우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실시간 TV부터 다양한 콘텐츠를 무료로 더 즐겁게 삼성 TV 플러스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선명한 화질로 실감 나는 몰입감, QHD 해상도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Dolby Atmos로 만나는 차원이 다른 사운드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9.1.4ch 사운드바 Q930H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HW-Q930H  (HW-Q930H/KR)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트루 9.1.4ch 풀 서라운드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3500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322576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Dolby Atmos® 무선 연결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27889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2761488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 심포니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숨 막힐 듯 빠져드는 서라운드 사운드 — 트루 9.1.4ch 풀 서라운드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연결하는 나만의 시네마틱 사운드 — Dolby Atmos® 무선 연결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강렬한 몰입감의 3차원 공간 음향 — 이클립사 오디오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사운드바와 TV가 이루는 가장 섬세한 하모니 — Q 심포니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소음 방해 없이 또렷하게 듣는 명대사 — 액티브 보이스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콘텐츠 유형에 맞게 최적화된 사운드 — AI 사운드 최적화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게임 속으로 뛰어든 듯 생생한 사운드 — 게임 모드 Pro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늦은 밤에도 즐길 수 있는 풍성한 저음 — 저음 완화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화면 중앙에서 들려오는 놀라운 현실감 — 사운드 출력 위치 조정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콘텐츠 전환에도 균일하고 편안한 사운드 — 자동 음량 조절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좋아하는 콘텐츠를 듣는 다양한 방법 — 음성 비서 &amp; 음악 스트리밍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더욱 쉽고 편리한 연결과 통합 제어 — 삼성 사운드 앱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끊김 없이 전달되는 고품질 사운드 — HDMI eARC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즐기는 사운드 경험 — 스마트싱스 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11.1.4ch 사운드바 Q990H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HW-Q990H  (HW-Q990H/KR)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트루 11.1.4ch 풀 서라운드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3500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322576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Dolby Atmos® 무선 연결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27889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2761488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 심포니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온몸을 감싸는 압도적 서라운드 사운드 — 트루 11.1.4ch 풀 서라운드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극도의 몰입감을 만드는 사운드의 비결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연결하는 나만의 시네마틱 사운드 — Dolby Atmos® 무선 연결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강렬한 몰입감의 3차원 공간 음향 — 이클립사 오디오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사운드바와 TV가 이루는 가장 섬세한 하모니 — Q 심포니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소음 방해 없이 또렷하게 듣는 명대사 — 액티브 보이스 Pro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콘텐츠 유형에 맞게 최적화된 사운드 — AI 사운드 최적화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게임 속으로 뛰어든 듯 생생한 사운드 — 게임 모드 Pro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늦은 밤에도 즐길 수 있는 풍성한 저음 — 저음 완화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화면 중앙에서 들려오는 놀라운 현실감 — 사운드 출력 위치 조정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콘텐츠도 균일하고 편안한 사운드 — 자동 음량 조절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좋아하는 콘텐츠를 듣는 다양한 방법 — 음성 비서 &amp; 음악 스트리밍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더욱 쉽고 편리한 연결과 통합 제어 — 삼성 사운드 앱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끊김 없이 전달되는 고품질 사운드 — HDMI 2.1 / HDMI eARC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손쉽게 즐기는 사운드 경험 — 스마트싱스 앱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86" b="1" dirty="0">
                <a:solidFill>
                  <a:srgbClr val="FFFFFF"/>
                </a:solidFill>
              </a:rPr>
              <a:t>Bespoke AI 패밀리허브 4도어 864L (81.2cm, AI 푸드매니저)</a:t>
            </a:r>
            <a:endParaRPr lang="en-US" sz="2286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RM90H91B1W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완전 새로운 푸드 경험 AI 푸드매니저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스마트한 키친 라이프의 시작 패밀리허브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완전 새로운 푸드 경험 AI 푸드매니저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나에게 딱 맞는 정보로 편리하게 사용하는 Now brief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 열림·문 닫힘으로 편리하게 오토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 효율을 높이는 설계로 더 깊어진 선반과 여유로운 수납공간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위스키볼 아이스까지 취향 따라 즐기는 듀얼 아이스메이커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최고 등급의 IoT 보안 성능 Knox 보안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냄새 걱정 없이 깔끔한 UV 청정탈취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하이브리드 4도어 873L (오토오픈도어)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RM80H91S1X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음성으로 더 쉽고 편리하게 빅스비 음성인식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공간 효율을 높이는 설계로 더 깊어진 선반과 여유로운 수납공간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자동으로 얼음을 만들어주는 대용량 빅 아이스메이커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 수납의 정석 푸드 쇼케이스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냄새 걱정 없이 깔끔한 UV 청정탈취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63" b="1" dirty="0">
                <a:solidFill>
                  <a:srgbClr val="FFFFFF"/>
                </a:solidFill>
              </a:rPr>
              <a:t>Bespoke AI 하이브리드 4도어 901L (에너지 1등급 최저기준 대비 -35%, UV탈취)</a:t>
            </a:r>
            <a:endParaRPr lang="en-US" sz="2063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RM70H91RMA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더 오랫동안 신선하게 보관하는 하이브리드 정온 모드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소비량을 절감하는 AI 절약 모드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 효율을 높이는 설계로 더 깊어진 선반과 900L 이상 대용량 수납공간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냄새 걱정 없이 깔끔한 UV 청정탈취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12" b="1" dirty="0">
                <a:solidFill>
                  <a:srgbClr val="FFFFFF"/>
                </a:solidFill>
              </a:rPr>
              <a:t>Bespoke AI 하이브리드 4도어 키친핏 Max 609L (푸드 쇼케이스)</a:t>
            </a:r>
            <a:endParaRPr lang="en-US" sz="231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RM80H64S2A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새로운 기술로 완성된 키친핏 Max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47294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322576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평소엔 효율적으로 필요할 땐 강력하게 AI 하이브리드 쿨링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1577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007360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(20)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새로운 기술로 완성된 키친핏 Max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맞춤형 조합으로 주방을 나답게 나만의 조합 &amp; 오리지널 키친핏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매일 풍성한 가족의 식탁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4인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아이와 함께 즐거운 한 끼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3인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신혼 부부의 첫 보금자리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2인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싱글의 여유, 맛있는 행복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1인 가구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자동으로 얼음을 만들어주는 대용량 빅 아이스메이커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식재료 수납의 정석 푸드 쇼케이스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냄새 걱정 없이 깔끔한 UV 청정탈취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2" b="1" dirty="0">
                <a:solidFill>
                  <a:srgbClr val="FFFFFF"/>
                </a:solidFill>
              </a:rPr>
              <a:t>Bespoke AI 패밀리허브 4도어 키친핏 Max 602L (22.5cm, AI 푸드매니저)</a:t>
            </a:r>
            <a:endParaRPr lang="en-US" sz="210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RM90H64P2W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새로운 기술로 완성된 키친핏 Max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47294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322576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완전 새로운 푸드 경험 AI 푸드매니저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1577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007360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스마트한 키친 라이프의 시작 패밀리허브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새로운 기술로 완성된 키친핏 Max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완전 새로운 푸드 경험 AI 푸드매니저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스마트한 키친 라이프의 시작 패밀리허브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나에게 딱 맞는 정보로 편리하게 사용하는 Now brief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평소엔 효율적으로 필요할 땐 강력하게 하이브리드 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 열림·문 닫힘으로 편리하게 오토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효율을 높여주는 AI 인버터 컴프레서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 소비량을 최대 25%까지 절감하는 AI 절약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맞춤형 조합으로 주방을 나답게 나만의 조합 &amp; 오리지널 키친핏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자동으로 얼음을 만들어주는 대용량 빅 아이스메이커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식재료에 따라 최적의 상태로 보관할 수 있는 3단계 멀티 팬트리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최고 등급의 IoT 보안 성능 Knox 보안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냄새 걱정 없이 깔끔한 UV 청정탈취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김치플러스 4도어 487L (맞춤숙성실)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RK80F49C1X  (RK80F49C1W)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냉기를 꽉 잡아 아삭하고 신선하게 메탈쿨링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육즙 손실 걱정없는 육류해동부터 과일숙성까지 맞춤숙성실의 다양한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유산균 아삭 숙성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김치 보관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김치 숙성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보관 모드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냉장/냉동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칸칸칸 모드로 편리하게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냉장고 안 김치냄새 섞일 걱정 없는 냄새케어 안심 김치통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중간 벽 없이 넉넉한 수납, 와이드 상칸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어두운 밤에도 눈부심을 방지할 수 있는 젠틀 라이팅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깔끔한 디스플레이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식재료의 신선도를 유지해주고 냄새까지 덜어주는 고내탈취필터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감각적인 Bespoke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68" b="1" dirty="0">
                <a:solidFill>
                  <a:srgbClr val="FFFFFF"/>
                </a:solidFill>
              </a:rPr>
              <a:t>Bespoke AI 김치플러스 4도어 키친핏 Max 418L (맞춤숙성실)</a:t>
            </a:r>
            <a:endParaRPr lang="en-US" sz="2368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RK80F42C2A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새로운 기술로 완성된 키친핏 Max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47294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322576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1577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007360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새로운 기술로 완성된 키친핏 Max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 문열림으로 편리하게 오토 오픈 도어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음성으로 더 쉽고 편리하게 빅스비 음성 인식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냉기를 꽉 잡아 음식의 신선함을 지키는 메탈쿨링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육즙 손실 걱정없는 육류해동부터 과일숙성까지 맞춤숙성실의 다양한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유산균 아삭 숙성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김치 보관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김치 숙성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맞춤 보관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냉장/냉동 모드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칸칸칸 모드로 편리하게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냉장고 안 김치냄새 섞일 걱정 없는 냄새케어 안심 김치통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중간 벽 없이 넉넉한 수납, 와이드 상칸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어두운 밤에도 눈부심을 방지할 수 있는 젠틀 라이팅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깔끔한 디스플레이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식재료의 신선도를 유지해주고 냄새까지 덜어주는 고내탈취필터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공간에 딱 맞게 설치하고, 수납까지 넉넉하게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맞춤형 조합으로 주방을 나답게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감각적인 Bespoke 디자인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정수기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얼음정수기 (냉/온/정수)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RWP90H15AN*  (RWP90H15ANW)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직수관과 아이스룸을 전해수 살균으로 깨끗하게 AI 맞춤 살균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8488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871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유해 물질 82종 제거로 믿고 마실 수 있는 국내 최다 항목 NSF 인증 정수기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6636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51332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하루 8kg 얼음으로 여름철에도 넉넉하게 강력한 제빙량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사용 패턴을 분석해 AI가 알아서 살균하는 AI 맞춤 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직수관부터 얼음 토출구까지 AI 맞춤 살균과 UV 살균으로 더욱 깨끗하게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유해물질 82종 제거로 안심하고 마시는 국내 최다 항목 NSF 인증 정수기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하루 8kg 제빙, 한 번에 800g까지 온 가족이 넉넉하게 즐기는 대용량 얼음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목소리 인식으로 원하는 물을 편리하게 출수하는 보이스 ID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4시간마다 고인물 없이 비워주는 자동 잔수 비움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오염과 부식에 강한 스테인리스 소재를 물이 닿는 직수관부터 출수 코크, 패널까지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원하는 온도와 출수량으로 편리하게 커스터마이징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온도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출수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출수구와 얼음 토출구를 야간에도 쉽게 확인할 수 있는 스마트 라이팅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AI 얼음정수기로 시작하는 나만의 커피 브루잉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의류케어(세탁건조기)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63" b="1" dirty="0">
                <a:solidFill>
                  <a:srgbClr val="FFFFFF"/>
                </a:solidFill>
              </a:rPr>
              <a:t>Bespoke AI 콤보 25/20kg (177.8mm LCD)</a:t>
            </a:r>
            <a:endParaRPr lang="en-US" sz="2563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WD90H25AH*  (WD90H25AHS)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세탁부터 건조까지 한 번에 ONE 솔루션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 25kg, 건조 20kg 국내 최대 용량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 콤보 한 대로 단 69분 만에 끝내는 세탁 라이프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(17)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대용량 열교환기에 부스터 열교환기를 더해 확실한 건조 성능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넓은 화면으로 직관적인 조작 스마트 스크린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AI가 알아서 최적의 코스로 AI 맞춤+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냄새 걱정 없는 쾌적한 마무리 오토 오픈 도어+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소량 빨래는 시간 특화 코스로 빠르게 한벌 코스 &amp; 셔츠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얇은 이불부터 두꺼운 이불까지 뽀송하게 이불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부담을 확 줄인 에너지 소비 AI 에너지 절약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 소비효율 1등급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절약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강력한 살균과 간편한 탈취, 에어워시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보다 조용한 세탁 건조 AI 진동소음 저감 시스템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다양한 공간에 조화롭게 어우러지는 Bespoke AI 콤보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Bespoke AI 콤보 차이점이 궁금해요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콤보 · 수납함 설치가이드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의류케어(워시타워)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27" b="1" dirty="0">
                <a:solidFill>
                  <a:srgbClr val="FFFFFF"/>
                </a:solidFill>
              </a:rPr>
              <a:t>Bespoke AI 원바디 25/22kg (177.8mm LCD)</a:t>
            </a:r>
            <a:endParaRPr lang="en-US" sz="2527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WH90F2522AAH*  (WH90F2522AAHS)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AI로 세탁부터 건조까지 알아서 AI 맞춤+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손끝에서 시작하고 음성으로 완성되는 AI 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세탁·건조 후 알아서 문이 열려 습기 걱정 없는 오토 오픈 도어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(18)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세탁기와 건조기를 하나로 Bespoke AI 원바디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맞춤+로 세탁부터 건조까지 알아서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AI로 세탁부터 탈수까지 똑똑하고 섬세하게 AI 맞춤세탁+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옷감 특성에 맞춰 섬세하게 AI 맞춤건조+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손끝에서 시작하고 음성으로 완성되는 스마트 스크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손끝에서 시작하고 음성으로 완성되는 스마트 스크린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강력한 직수로 열교환기 자동 세척 직수 파워 오토 클린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세탁·건조 후 알아서 문이 열려 습기 걱정 없는 오토 오픈 도어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사계절 이불을 깨끗하게 이불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에너지를 절약하는 확실한 방법 AI 에너지 절약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보다 조용한 세탁 AI 진동소음 저감 시스템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더 빠르고 더 꼼꼼하게, 사계절 우수한 건조 특허 받은 하이브리드 히트펌프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유해 세균과 빈대까지 싹 스팀살균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99.9% 살균으로 안심 위생관리 솔루션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기기 내부까지 강력하게 무세제통세척+ &amp; 열풍내부살균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많은 빨래도 걱정 없는 대용량 세탁·건조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콤보 25/18kg (71.1mm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WD80H25BHS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세탁부터 건조까지 한 번에 ONE 솔루션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대용량 건조로 넉넉하게 건조까지 89분으로 빠르게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AI가 알아서 최적의 코스로 AI 맞춤+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(15)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세탁부터 건조까지 한 번에 ONE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대용량 건조로 넉넉하게 건조까지 89분으로 빠르게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직관적이고 편리한 다이얼 스크린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AI가 알아서 최적의 코스로 AI 맞춤+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얇은 이불부터 두꺼운 이불까지 뽀송하게 이불 코스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부담을 확 줄인 에너지 소비 AI 에너지 절약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곰팡이에 강한 소재 기술로 안심 안심소재 고무패킹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패딩과 침구류를 간편하게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보다 조용한 세탁 건조 AI 진동소음 저감 시스템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공간에 조화롭게 어우러지는 Bespoke AI 콤보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AI 콤보 차이점이 궁금해요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콤보 · 수납함 설치가이드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건조기 슬림 10kg+상단 설치 키트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DV10BB8440GB  (DV10BB8440GBR)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디지털 인버터 컴프레서로 빠르고 똑똑한 AI 맞춤건조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59588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센서로 정확하고 빠르게 쾌속건조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1577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007360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심플한 디자인과 컴팩트한 사이즈로 다양한 공간 맞춤 Bespoke 슬림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디지털 인버터 컴프레서로 빠르고 똑똑한 AI 맞춤건조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정밀 센서로 정확하고 빠르게 쾌속건조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옷감 손상 걱정 없이 골고루 자연의 좋은 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절약 하는 확실한 방법 AI 에너지 절약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 코스에 꼭 맞는 건조 코스 추천 코스연동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직접 확인하고 간편하게 청소하여 위생적인 관리 할 수 있는 직접관리형 열교환기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한번 더 안심, 내부케어 코스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유해 세균 99.9%까지 제거하는 살균건조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건조기 설치 가이드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통버블 세탁기 19kg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WA80F19SKB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AI로 세탁부터 탈수까지 알아서 AI 맞춤세탁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59588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풍부한 버블로 깨끗한 세탁 버블폭포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1577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007360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AI로 세탁부터 탈수까지 알아서 AI 맞춤세탁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풍부한 버블로 깨끗한 세탁 버블폭포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제트샷으로 빠르고 강력하게 입체돌풍세탁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스테인리스 이중안심필터로 안심위생관리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청바지부터 아기옷까지 다운로드 코스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 코스에 꼭 맞는 건조 코스 추천 코스연동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보다 조용한 세탁 AI 진동소음 저감 시스템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기기 내부 구석구석을 위생적으로 무세제통세척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고객을 생각한 디자인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세탁기 슬림 13kg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WW13BB844DGB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세탁부터 탈수까지 알아서 AI 맞춤세탁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59588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섬세하고 강력한 버블워시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1577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007360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에너지 절약 하는 확실한 방법 AI 에너지 절약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심플한 디자인과 컴팩트한 사이즈로 다양한 공간 맞춤 Bespoke 슬림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세탁부터 탈수까지 알아서 AI 맞춤세탁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옷감 무게, 세제 종류에 맞게 알아서 평소 세탁 오염도에 맞는세제량 투입까지 세제자동투입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SmartThings Clothing Care 세제/유연제 스캔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세탁물에 맞춰 깨끗하고 부드럽게 버블워시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 절약 하는 확실한 방법 AI 에너지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세제없이 깨끗한 통 관리 무세제통세척+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유해세균 99.9 % 제거하는 살균세탁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 코스에 꼭 맞는 건조 코스 추천 코스연동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세탁기 설치 가이드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세탁기 25kg (177.8mm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WF90F25AD*  (WF90F25ADS / WF90F25ADT / WF90F25ADY)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AI로 세탁부터 탈수까지 똑똑하고 섬세하게 AI 맞춤세탁+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손끝에서 시작하고 음성으로 완성되는 AI 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세탁 후 알아서 문이 열려 습기 걱정 없는 오토 오픈 도어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세탁기의 새로운 기준을 세우다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AI로 세탁부터 탈수까지 똑똑하고 섬세하게 AI 맞춤세탁+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손끝에서 시작하고 음성으로 완성되는 스마트 스크린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 후 알아서 문이 열려 습기 걱정 없는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세탁물에 맞게 적정 세제를 알아서 세제자동투입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사계절 이불을 깨끗하게 이불세탁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에너지를 절약하는 확실한 방법 AI 에너지 절약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보다 조용한 세탁 AI 진동소음 저감 시스템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스팀살균으로 유해 세균과 빈대까지 싹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펫케어세탁으로 알러젠 걱정 없이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세제 없이 깨끗한 통 관리 무세제통세척+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환경을 생각하는 파타고니아 협업 미세플라스틱저감 코스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많은 빨래도 걱정 없는 국내 최대 용량 25kg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공간에 조화롭게 어우러지는 Bespoke AI 세탁기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건조기 22kg (177.8mm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DV90F22CD*  (DV90F22CDS / DV90F22CDT / DV90F22CDY)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옷감 특성에 맞춰 섬세하게 AI 맞춤건조+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손끝에서 시작하고 음성으로 완성되는 AI 홈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건조 후 알아서 문이 열려 습기 걱정 없는 오토 오픈 도어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건조기의 새로운 기준을 세우다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옷감 특성에 맞춰 섬세하게 AI 맞춤건조+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손끝에서 시작하고 음성으로 완성되는 스마트 스크린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건조 후 알아서 문이 열려 습기 걱정 없는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 빠르고 더 꼼꼼하게, 사계절 우수한 건조 특허 받은 하이브리드 히트펌프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사계절 이불을 깨끗하게 이불건조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에너지를 절약하는 확실한 방법 AI 에너지 절약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99.9% 살균으로 안심 위생관리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보이지 않는 곳까지 구석구석 강력하게 열풍내부살균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먼지, 녹, 잔수 걱정 없는 직접관리형 열교환기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많은 빨래도 걱정 없는 대용량 건조 22kg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다양한 공간에 조화롭게 어우러지는 Bespoke AI 건조기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의류케어(에어드레서)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대용량 5~9벌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DF90H24R5C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다림질 없는 일상의 시작 주름집중케어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47294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322576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바람과 스팀으로 매일 새 옷처럼 듀얼에어워시 &amp; 듀얼제트스팀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1577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007360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3중 필터로 먼지 쌓일 틈 없는 트리플집진케어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(8)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다림질 없는 일상의 시작 주름집중케어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3중 필터로 먼지 쌓일 틈 없는 트리플집진케어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바이러스와 세균 99.99% 제거, 탈취와 주름 제거까지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실내도 쾌적한 공간 제습 기능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LCD 디스플레이로 편리한 조작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다양한 컬러로 공간 맞춤 Bespoke AI 에어드레서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매일 새 옷처럼, AI로 산뜻한 건조까지 Bespoke AI 에어드레서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일반용량 3~5벌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DF18CB8700CR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6408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871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강력한 듀얼에어워시, 듀얼제트스팀으로 빠르게 탈취, 살균하는 진짜 의류케어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97891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82854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최적의 건조 시간을 찾아 섬세한 건조와 구김 제거 AI섬세건조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6636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51332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트리플집진케어로 부유 먼지까지 제거하는 청정 케어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위에선 강력한 듀얼에어워시, 아래에선 듀얼제트스팀으로 빠르게 탈취, 살균하는 청정 의류케어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건조와 구김 제거를 한 번에 섬세 건조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트리플집진케어로 부유 먼지까지 제거하는 청정 케어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심플한 디자인과 다양한 컬러로 공간 맞춤 Bespoke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에너지를 절약하는 확실한 방법 AI 절약 모드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인체 공학적 디자인으로 조작이 편리한 일체형 디스플레이 도어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똑똑한 AI 기능으로 쉽고 편리하게 나에게 맞는 코스 추천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바이러스와 세균까지 꼼꼼한 살균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물 샐 걱정 없는 제대로 된 안심 설계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실내도 쾌적한 공간 제습 기능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27" b="1" dirty="0">
                <a:solidFill>
                  <a:srgbClr val="FFFFFF"/>
                </a:solidFill>
              </a:rPr>
              <a:t>Bespoke AI 무풍콤보 갤러리 프로 청정 62.6/18.7㎡</a:t>
            </a:r>
            <a:endParaRPr lang="en-US" sz="2527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AF90H19D38WR*  (AF90H19D38WRT)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2941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1131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냉방면적(62.6/18.7㎡), AI모션바람, 무풍콤보, 무풍, AI절약, 1등급, 슬림디자인, 청정, 5가지 모션바람, 심리스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32390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088640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스탠드 색상: 에센셜 화이트, 벽걸이 색상: 화이트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(8)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공간의 품격을 한층 높이는 패브릭 패턴과 일체형 바디로 완성된 세련된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스스로 공간까지 학습하여 상황에 맞게 온도, 습도를 알아서 맞춰주는 AI 쾌적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서큘레이터로 사각지대 걱정 없이 빠르게 하이패스 서큘 냉방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손쉽게 열어 간편하게 직접 관리할 수 있는 이지케어 셀프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자동으로 알아서 청소, 관리를 해주는 이지케어 스마트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미세먼지는 기본, 살균, 공간 제균에 알러젠 유발물질까지 걸러주는 알러젠 케어 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92" b="1" dirty="0">
                <a:solidFill>
                  <a:srgbClr val="FFFFFF"/>
                </a:solidFill>
              </a:rPr>
              <a:t>Bespoke AI 무풍 클래식 62.6/18.7㎡ (리모컨 포함)</a:t>
            </a:r>
            <a:endParaRPr lang="en-US" sz="249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AF70F19D24IR*  (AF70F19D24IR1T)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하이패스 방식으로 빠르게, 직바람 없이 쾌적하게 하이패스 AI 무풍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스마트싱스로 상황에 맞게 관리해주는 AI 에너지 절약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AI가 알아서 관리하는 Bixby Care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(10)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직바람 없는 무풍과 상황에 맞게 온도, 습도까지 알아서 맞춰주는 AI 쾌적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집사가 알아서 관리하는 Bixby Care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넓은 공간도 직선으로 빠르게 하이패스 회오리 냉방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공간에 컬러를 더하다. 우리 집에 어울리는 Bespoke 디자인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쉽게 열어 더 편하게 관리하는 이지케어 8단계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공간에 어울리는 컬러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어느 공간에나 완벽하게 어울리는 메탈릭 실버 컬러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우리 집 인테리어에 맞는 아트패널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공기청정기 (100㎡, 리유저블 필터)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AP90H10198EDD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주기적으로 교체할 필요 없는 리유저블 필터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4면에서 오염된 공기를 흡입, 토출하는 4way 서라운드 &amp; 부스터 청정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실내 공기질까지 학습해 맞춰주는 맞춤 청정 AI+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리유저블 필터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필터 관리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4way 서라운드 &amp; 부스터 청정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인피니트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맞춤 청정 AI+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절약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환기 가이드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사용성을 높여주는 다양한 기능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Quick Remote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저소음 무풍청정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더 간편하고 청결하게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공기청정기 (100㎡, S 필터)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AP90H10163EDD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4면에서 오염된 공기를 흡입, 토출하는 4way 서라운드 &amp; 부스터 청정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59588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더욱 강력해진 일체형 S 필터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1577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007360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실내 공기질까지 학습해 맞춰주는 맞춤 청정 AI+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인피니트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4way 서라운드 &amp; 부스터 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S 필터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맞춤 청정 AI+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절약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사용성을 높여주는 다양한 기능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Quick Remote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저소음 무풍청정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더 간편하고 청결하게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블루스카이 5500 (60㎡)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AP70F06103RVD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실내 공기질까지 학습해 맞춰주는 맞춤청정 AI+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초미세먼지까지 제거 가능한 3단계 청정 시스템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나의 일상에 맞춰 실내 공기를 관리해주는 AI 루틴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(7)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 공기질까지 학습해 맞춰주는 맞춤청정 AI+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초미세먼지까지 제거 가능한 3단계 청정 시스템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깨끗한 공기를 구석구석 3방향 입체청정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나의 일상에 맞춰 실내 공기를 관리해주는 AI 루틴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초미세먼지를 정밀하게 감지하는 레이저 PM1.0 센서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컬러·숫자로 청정도를 한눈에 청정지수 디스플레이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Bespoke 슬림 디자인과 이동 바퀴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제트 400W 펫브러시 패키지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VS90F40CN*  (VS90F40CNK)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특허 출원한 기술로 더 강력하고 오래가는 최대 400W 흡입력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청소 환경을 감지해 최적의 흡입력을 구현하는 AI 모드 2.0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좁은 틈의 먼지까지 손쉽게 청소 가능한  에어 블로워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훨씬 더 강력해진 최대 400W 흡입력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 환경을 알아서 감지하는 AI+ 인증 무선 스틱 청소기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눈에 보이지 않는 먼지까지 손쉽게 청소하는 에어 블로워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상황에 맞게 사용하는 블로워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21% 가벼워진 브러시 무게와 측면 하단 LED 라이트로 더 편리해진 청소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새로워진 브러시 구조로 업그레이드된 청소 성능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오염물에 직접 분사하는 고온 세척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빠른 예열, 여유 있는 청소 시간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미세먼지 배출 걱정 없는 위생관리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스스로 상태를 진단하는 스마트 자가진단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청소의 완성도를 높여주는 다양한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브러시 수납과 배터리 충전도 편리하게! 액세서리 크래들 &amp; 배터리 충전 거치대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말하듯 친절하게 알려주는 대화형 알림창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핸드폰 수신을 알려주는 스마트 콜 알림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직접 분리하여 청소 할 수 있어 깔끔한 먼지통 물세척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나만의 인테리어를 완성시켜주는 Bespoke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제트 핏 물걸레 브러시 패키지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VS70H18GV*  (VS70H18GVG)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1.96kg의 가벼운 무게와 슬림해진 디자인으로 언제 어디서든 손쉽게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최대 180W 흡입력과 최장 50분 고성능 배터리로 넓은 공간도 한 번에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청소기를 깔끔하게 보관하고 충전하는 스탠딩 거치대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1.96kg의 가벼운 무게와 슬림해진 디자인으로 언제 어디서든 손쉽게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최대 180W 흡입력과 최장 50분 고성능 배터리로 넓은 공간도 한 번에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새로워진 브러시 구조로 업그레이드된 청소성능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청소기를 깔끔하게 보관하고 충전하는 스탠딩 거치대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 중 상태 변화를 감지하여 스스로 동작 상태를 조절하는 스마트 모션 클리닝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99.999% 미세먼지 배출 차단하는 5단계 필터레이션 시스템으로 위생 걱정 없는 청소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말하듯 친절하게 알려주는 대화형 LCD 알림창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가구 위나 틈새도 문제없는 솔/틈새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청소의 완성도를 높여주는 다양한 브러시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직접 분리하여 청소할 수 있어 깔끔한 먼지통 물세척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나만의 인테리어를 완성시켜주는 가볍고 슬림한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로봇청소기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12" b="1" dirty="0">
                <a:solidFill>
                  <a:srgbClr val="FFFFFF"/>
                </a:solidFill>
              </a:rPr>
              <a:t>Bespoke AI 스팀 울트라 자동 급배수 (리폼비 포함)+먼지봉투+다회용포</a:t>
            </a:r>
            <a:endParaRPr lang="en-US" sz="231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VR90F01SAG*  (VR90F01SAG98CS)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간편한 급수와 배수 관리에 빌트인 설치까지 자동 급배수 스팀 청정스테이션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강력한 흡입력과 이지패스 휠로 확실한 청소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1cm 장애물을 감지하여 끊김 없는 효율적인 청소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가구장 맞춤 리폼부터 설치까지 삼성 전문가가 책임집니다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우리 집에 맞춰 설치 가능해요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Bespoke AI 스팀 울트라 자동 급배수 기능 모아보기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자동 급배수 시스템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다양한 설치 스타일과 전문 원데이 설치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높은 문턱과 매트를 넘나드는 주행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물처럼 투명한 액체까지 감지하여 추가 오염 방지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기술을 만나 더 똑똑해진 청소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고체 상태의 오염 구역을 인식하면 한 번 더 집중 청소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간편하게 설정 가능한 청소 구역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3D 듀얼 장애물 센서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dToF LiDAR 주행 센서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3D로 확인하는 우리 집 지도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카펫은 안전하게 바닥은 깨끗하게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사각지대까지 놓치지 않는 구석 청소 솔루션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상황에 따라 설정 가능한 다양한 청소 모드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검증된 보안 성능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먼지통, 세척판 물세척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Bespoke 디자인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로봇청소기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스팀 울트라+먼지봉투+다회용포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VR90F01AAG*  (VR90F01AAG98C)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6408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871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99.999% 물걸레 스팀 살균으로 냄새까지 줄여주는 100°C 스팀 청정스테이션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97891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82854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강력한 흡입력과 이지패스 휠로 확실한 청소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6636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51332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Knox 보안 기술 적용으로 검증된 보안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(16)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AI 스팀 울트라 기능 모아보기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높은 문턱과 매트를 넘나드는 주행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물처럼 투명한 액체까지 감지하여 추가 오염 방지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AI 기술을 만나 더 똑똑해진 청소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고체 상태의 오염 구역을 인식하면 한 번 더 집중 청소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간편하게 설정 가능한 청소 구역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3D 듀얼 장애물 센서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dToF LiDAR 주행 센서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3D로 확인하는 우리 집 지도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카펫은 안전하게 바닥은 깨끗하게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사각지대까지 놓치지 않는 구석 청소 솔루션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상황에 따라 설정 가능한 다양한 청소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검증된 보안 성능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 아이 마중 기능까지, 패밀리 케어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먼지통, 세척판 물세척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Bespoke 디자인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인덕션 (플렉스존)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CC99H63I1D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6408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871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97891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82854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최대 6,600W 초고화력으로 더 빠르고 편리하게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6636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51332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용기를 따라 자동 이동하는 화력으로 끊김 걱정 없이 조리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어디에 올려도 균일하게 화력 전달이 가능한 콰트로 플렉스존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최대 6,600W 초고화력으로 더 빠르고 편리하게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인덕션 (플렉스존)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CC99F63G1DS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6408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871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97891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82854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79374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513328"/>
            <a:ext cx="4261104" cy="871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Infinite AI 인덕션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CC99F63U1DS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6408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871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97891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82854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79374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513328"/>
            <a:ext cx="4261104" cy="871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매트한 무광 디자인에 긁힘 걱정 없는 견고함까지 Infinite Glass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많은 요리도 한 번에 3,400W 초고화력 빠른 조리 All MAX 부스트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인덕션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인덕션 (플렉스존)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CC80H63G1HS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인테리어를 완성하는 Seamless 디자인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자동 화력 조절로 간편식 조리까지 편리하게 AI 끓음 감지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전체 화구 사용으로 많은 요리도 한번에 3,400W 초고화력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키친 인테리어를 완성하는 Seamless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전원 OFF 가능한 스마트 컨트롤 기능으로 외출 시에도 안심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많은 요리도 한번에 3,400W 초고화력 빠른 조리 All MAX 부스트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86" b="1" dirty="0">
                <a:solidFill>
                  <a:srgbClr val="FFFFFF"/>
                </a:solidFill>
              </a:rPr>
              <a:t>Infinite AI 식기세척기 빌트인 14인용 (필터 내장형, 컵 맞춤 세척)</a:t>
            </a:r>
            <a:endParaRPr lang="en-US" sz="2286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DW99F79E1US*  (DW99F79E1UHCS)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식기세척기의 상태를 바로 확인할 수 있는 플로어 디스플레이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특허 출원된 정수 기술로 세척수까지 안심 정수 필터 내장형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12" b="1" dirty="0">
                <a:solidFill>
                  <a:srgbClr val="FFFFFF"/>
                </a:solidFill>
              </a:rPr>
              <a:t>Bespoke AI 식기세척기 빌트인 14인용 (필터 내장형, 컵 맞춤 세척)</a:t>
            </a:r>
            <a:endParaRPr lang="en-US" sz="2312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DW90F79F1US*  (DW90F79F1USWS)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(13)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특허 출원된 정수 기술로 세척수까지 안심 정수 필터 내장형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식기세척기 빌트인 14인용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DW80F75L1U*  (DW80F75L1U01S)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물방울까지 뽀송하게 건조 열풍건조 100℃+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식기세척기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63" b="1" dirty="0">
                <a:solidFill>
                  <a:srgbClr val="FFFFFF"/>
                </a:solidFill>
              </a:rPr>
              <a:t>Bespoke AI 식기세척기 빌트인 14인용 (컵 맞춤 세척)</a:t>
            </a:r>
            <a:endParaRPr lang="en-US" sz="2563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DW90F79P  (DW90F79P1USWS)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4036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(12)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세척의 처음부터 끝까지 알아서 AI 맞춤 세척+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키친 인테리어에 녹아드는 일체감 Seamless 디자인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가벼운 푸시로 편리하게 사용하는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효율적인 구조로 많은 그릇도 걱정 없이 대용량 맞춤 선반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 스팀으로 말끔하게 세척하는 스팀불림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빈틈없이 강력하게 압도적 클린 4단 입체 물살 강력세척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고온직수와 열풍건조로 젖병부터 통살균까지 99.999% 파워살균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물방울까지 뽀송하게 건조 100℃ 열풍건조+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야간 저소음 코스로 한밤중에도 조용하게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음성으로 친절하게 알려주는 Bixby 음성인식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띄움자재 없이 슬림하고 깔끔한 슬림핏 직렬 설치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우리집 에너지 부담을 줄여주는 에너지 소비효율 1등급 식기세척기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무풍콤보 프로 벽걸이 24.4㎡ (1등급)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AR80H07D21W/KO  (AR80H07D21WT)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1094415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358384"/>
            <a:ext cx="110944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270"/>
                </a:solidFill>
              </a:rPr>
              <a:t>※ 셀링포인트가 많아 이 장표에서는 핵심 키워드 칸을 접었습니다.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49808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1</a:t>
            </a:r>
            <a:endParaRPr lang="en-US" sz="1066" dirty="0"/>
          </a:p>
        </p:txBody>
      </p:sp>
      <p:sp>
        <p:nvSpPr>
          <p:cNvPr id="10" name="Text 8"/>
          <p:cNvSpPr/>
          <p:nvPr/>
        </p:nvSpPr>
        <p:spPr>
          <a:xfrm>
            <a:off x="1170432" y="1883664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공간과 바람을 이어주는 우아함 심리스 그리드 디자인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9808" y="24241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2</a:t>
            </a:r>
            <a:endParaRPr lang="en-US" sz="1066" dirty="0"/>
          </a:p>
        </p:txBody>
      </p:sp>
      <p:sp>
        <p:nvSpPr>
          <p:cNvPr id="12" name="Text 10"/>
          <p:cNvSpPr/>
          <p:nvPr/>
        </p:nvSpPr>
        <p:spPr>
          <a:xfrm>
            <a:off x="1170432" y="2322576"/>
            <a:ext cx="4952848" cy="514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49808" y="301142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3</a:t>
            </a:r>
            <a:endParaRPr lang="en-US" sz="1066" dirty="0"/>
          </a:p>
        </p:txBody>
      </p:sp>
      <p:sp>
        <p:nvSpPr>
          <p:cNvPr id="14" name="Text 12"/>
          <p:cNvSpPr/>
          <p:nvPr/>
        </p:nvSpPr>
        <p:spPr>
          <a:xfrm>
            <a:off x="1170432" y="2909824"/>
            <a:ext cx="4952848" cy="514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직바람 없는 무풍과 불필요하게 온도를 낮추지 않고, 춥지 않게 제습하는 쾌적제습이 만난 무풍콤보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359867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4</a:t>
            </a:r>
            <a:endParaRPr lang="en-US" sz="1066" dirty="0"/>
          </a:p>
        </p:txBody>
      </p:sp>
      <p:sp>
        <p:nvSpPr>
          <p:cNvPr id="16" name="Text 14"/>
          <p:cNvSpPr/>
          <p:nvPr/>
        </p:nvSpPr>
        <p:spPr>
          <a:xfrm>
            <a:off x="1170432" y="3497072"/>
            <a:ext cx="4952848" cy="514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스스로 학습하여 온도, 습도를 알아서 맞춰주는 AI 쾌적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49808" y="41117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5</a:t>
            </a:r>
            <a:endParaRPr lang="en-US" sz="1066" dirty="0"/>
          </a:p>
        </p:txBody>
      </p:sp>
      <p:sp>
        <p:nvSpPr>
          <p:cNvPr id="18" name="Text 16"/>
          <p:cNvSpPr/>
          <p:nvPr/>
        </p:nvSpPr>
        <p:spPr>
          <a:xfrm>
            <a:off x="1170432" y="4084320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23280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6</a:t>
            </a:r>
            <a:endParaRPr lang="en-US" sz="1066" dirty="0"/>
          </a:p>
        </p:txBody>
      </p:sp>
      <p:sp>
        <p:nvSpPr>
          <p:cNvPr id="20" name="Text 18"/>
          <p:cNvSpPr/>
          <p:nvPr/>
        </p:nvSpPr>
        <p:spPr>
          <a:xfrm>
            <a:off x="6543904" y="1883664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빠르고 시원한 패스트 쿨링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23280" y="24241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7</a:t>
            </a:r>
            <a:endParaRPr lang="en-US" sz="1066" dirty="0"/>
          </a:p>
        </p:txBody>
      </p:sp>
      <p:sp>
        <p:nvSpPr>
          <p:cNvPr id="22" name="Text 20"/>
          <p:cNvSpPr/>
          <p:nvPr/>
        </p:nvSpPr>
        <p:spPr>
          <a:xfrm>
            <a:off x="6543904" y="2322576"/>
            <a:ext cx="4952848" cy="514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초미세먼지는 기본, 유해세균 걱정 없는 PM 1.0 청정 필터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23280" y="293725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8</a:t>
            </a:r>
            <a:endParaRPr lang="en-US" sz="1066" dirty="0"/>
          </a:p>
        </p:txBody>
      </p:sp>
      <p:sp>
        <p:nvSpPr>
          <p:cNvPr id="24" name="Text 22"/>
          <p:cNvSpPr/>
          <p:nvPr/>
        </p:nvSpPr>
        <p:spPr>
          <a:xfrm>
            <a:off x="6543904" y="2909824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관리가 편해 더 위생적인 이지케어 5단계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23280" y="345033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9</a:t>
            </a:r>
            <a:endParaRPr lang="en-US" sz="1066" dirty="0"/>
          </a:p>
        </p:txBody>
      </p:sp>
      <p:sp>
        <p:nvSpPr>
          <p:cNvPr id="26" name="Text 24"/>
          <p:cNvSpPr/>
          <p:nvPr/>
        </p:nvSpPr>
        <p:spPr>
          <a:xfrm>
            <a:off x="6543904" y="3348736"/>
            <a:ext cx="4952848" cy="514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23280" y="403758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1" b="1" dirty="0">
                <a:solidFill>
                  <a:srgbClr val="FFFFFF"/>
                </a:solidFill>
              </a:rPr>
              <a:t>10</a:t>
            </a:r>
            <a:endParaRPr lang="en-US" sz="831" dirty="0"/>
          </a:p>
        </p:txBody>
      </p:sp>
      <p:sp>
        <p:nvSpPr>
          <p:cNvPr id="28" name="Text 26"/>
          <p:cNvSpPr/>
          <p:nvPr/>
        </p:nvSpPr>
        <p:spPr>
          <a:xfrm>
            <a:off x="6543904" y="3935984"/>
            <a:ext cx="4952848" cy="514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10% 넓어진 흡입구와 멀티 블레이드로 강력한 기류 제어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무풍콤보 프로 벽걸이 홈멀티 18.7㎡ (청정)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AR80H06D2A1Q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372864"/>
          </a:xfrm>
          <a:prstGeom prst="roundRect">
            <a:avLst>
              <a:gd name="adj" fmla="val 2509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1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공간과 바람을 이어주는 우아함 심리스 그리드 디자인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9808" y="23754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2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1170432" y="2322576"/>
            <a:ext cx="4261104" cy="416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28651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3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1170432" y="2812288"/>
            <a:ext cx="4261104" cy="416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직바람 없는 무풍과 불필요하게 온도를 낮추지 않고, 춥지 않게 제습하는 쾌적제습이 만난 무풍콤보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9808" y="33294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4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1170432" y="3302000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스스로 학습하여 온도, 습도를 알아서 맞춰주는 AI 쾌적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9808" y="376834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5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1170432" y="3740912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49808" y="420725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6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1170432" y="417982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빠르고 시원한 패스트 쿨링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49808" y="467156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7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1170432" y="4618736"/>
            <a:ext cx="4261104" cy="416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초미세먼지는 기본, 유해세균 걱정 없는 PM 1.0 청정 필터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49808" y="513588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8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1170432" y="5108448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관리가 편해 더 위생적인 이지케어 5단계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49808" y="560019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</a:rPr>
              <a:t>9</a:t>
            </a:r>
            <a:endParaRPr lang="en-US" sz="820" dirty="0"/>
          </a:p>
        </p:txBody>
      </p:sp>
      <p:sp>
        <p:nvSpPr>
          <p:cNvPr id="25" name="Text 23"/>
          <p:cNvSpPr/>
          <p:nvPr/>
        </p:nvSpPr>
        <p:spPr>
          <a:xfrm>
            <a:off x="1170432" y="5547360"/>
            <a:ext cx="4261104" cy="416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(6)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무풍냉방 시 MAX 냉방 대비 최대 77%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절약모드로 소비전력 최대 30% 절전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쾌적제습 최대 30% 절전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0.3㎛ 초미세먼지 90% 제거 (2배 빠른 청정속도)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PM1.0 필터로 유해세균(대장균, 황색포도상구균) 99% 살균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 저소음 25dB(청정모델)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AI 무풍콤보 프로 벽걸이 홈멀티 18.7㎡ (무청)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AR70H06D1A1Q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309872"/>
          </a:xfrm>
          <a:prstGeom prst="roundRect">
            <a:avLst>
              <a:gd name="adj" fmla="val 2546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690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1</a:t>
            </a:r>
            <a:endParaRPr lang="en-US" sz="984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481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공간과 바람을 이어주는 우아함 심리스 그리드 디자인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52374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2</a:t>
            </a:r>
            <a:endParaRPr lang="en-US" sz="984" dirty="0"/>
          </a:p>
        </p:txBody>
      </p:sp>
      <p:sp>
        <p:nvSpPr>
          <p:cNvPr id="11" name="Text 9"/>
          <p:cNvSpPr/>
          <p:nvPr/>
        </p:nvSpPr>
        <p:spPr>
          <a:xfrm>
            <a:off x="1170432" y="2438400"/>
            <a:ext cx="4261104" cy="481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9808" y="307848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3</a:t>
            </a:r>
            <a:endParaRPr lang="en-US" sz="984" dirty="0"/>
          </a:p>
        </p:txBody>
      </p:sp>
      <p:sp>
        <p:nvSpPr>
          <p:cNvPr id="13" name="Text 11"/>
          <p:cNvSpPr/>
          <p:nvPr/>
        </p:nvSpPr>
        <p:spPr>
          <a:xfrm>
            <a:off x="1170432" y="2993136"/>
            <a:ext cx="4261104" cy="481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직바람 없는 무풍과 불필요하게 온도를 낮추지 않고, 춥지 않게 제습하는 쾌적제습이 만난 무풍콤보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9808" y="36332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4</a:t>
            </a:r>
            <a:endParaRPr lang="en-US" sz="984" dirty="0"/>
          </a:p>
        </p:txBody>
      </p:sp>
      <p:sp>
        <p:nvSpPr>
          <p:cNvPr id="15" name="Text 13"/>
          <p:cNvSpPr/>
          <p:nvPr/>
        </p:nvSpPr>
        <p:spPr>
          <a:xfrm>
            <a:off x="1170432" y="3547872"/>
            <a:ext cx="4261104" cy="481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스스로 학습하여 온도, 습도를 알아서 맞춰주는 AI 쾌적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9808" y="41300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5</a:t>
            </a:r>
            <a:endParaRPr lang="en-US" sz="984" dirty="0"/>
          </a:p>
        </p:txBody>
      </p:sp>
      <p:sp>
        <p:nvSpPr>
          <p:cNvPr id="17" name="Text 15"/>
          <p:cNvSpPr/>
          <p:nvPr/>
        </p:nvSpPr>
        <p:spPr>
          <a:xfrm>
            <a:off x="1170432" y="4102608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9808" y="4568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6</a:t>
            </a:r>
            <a:endParaRPr lang="en-US" sz="984" dirty="0"/>
          </a:p>
        </p:txBody>
      </p:sp>
      <p:sp>
        <p:nvSpPr>
          <p:cNvPr id="19" name="Text 17"/>
          <p:cNvSpPr/>
          <p:nvPr/>
        </p:nvSpPr>
        <p:spPr>
          <a:xfrm>
            <a:off x="1170432" y="4541520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빠르고 시원한 패스트 쿨링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49808" y="50078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7</a:t>
            </a:r>
            <a:endParaRPr lang="en-US" sz="984" dirty="0"/>
          </a:p>
        </p:txBody>
      </p:sp>
      <p:sp>
        <p:nvSpPr>
          <p:cNvPr id="21" name="Text 19"/>
          <p:cNvSpPr/>
          <p:nvPr/>
        </p:nvSpPr>
        <p:spPr>
          <a:xfrm>
            <a:off x="1170432" y="4980432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관리가 편해 더 위생적인 이지케어 5단계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9808" y="550468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8</a:t>
            </a:r>
            <a:endParaRPr lang="en-US" sz="984" dirty="0"/>
          </a:p>
        </p:txBody>
      </p:sp>
      <p:sp>
        <p:nvSpPr>
          <p:cNvPr id="23" name="Text 21"/>
          <p:cNvSpPr/>
          <p:nvPr/>
        </p:nvSpPr>
        <p:spPr>
          <a:xfrm>
            <a:off x="1170432" y="5419344"/>
            <a:ext cx="4261104" cy="481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알아서 맞춤 관리하고 모바일로 간편하게 제어하는 SmartThings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(4)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무풍냉방 시 MAX 냉방 대비 최대 77% 절약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절약모드로 소비전력 최대 30% 절전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쾌적제습 최대 30% 절전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무풍 저소음 23dB(무청모델)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Micro RGB MRF95 (115형)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KMR115MRF95XKR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315968"/>
          </a:xfrm>
          <a:prstGeom prst="roundRect">
            <a:avLst>
              <a:gd name="adj" fmla="val 2542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20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181E"/>
                </a:solidFill>
              </a:rPr>
              <a:t>Micro RGB 정밀 컬러 — VDE 인증을 받은 당사의 기술은 보다 정확한 색상으로 실제와 같은 화질로 뛰어난 몰입감을 제공합니다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49808" y="245059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70432" y="2340864"/>
            <a:ext cx="426110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181E"/>
                </a:solidFill>
              </a:rPr>
              <a:t>Micro RGB 기술 — 81bit 프로세싱으로 가장 밝은 하이라이트부터 가장 어두운 그림자까지 보다 세밀하고 선명한 디테일을 만나 보실 수 있습니다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49808" y="3054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70432" y="2944368"/>
            <a:ext cx="426110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181E"/>
                </a:solidFill>
              </a:rPr>
              <a:t>Micro RGB의 AI엔진 — AI가 각 장면을 실시간으로 분석한 후, 색상의 강도를 바탕으로 R/G/B 각 광원의 출력을 세밀하게 튜닝하여 보다 생생한 화질을 제공합니다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49808" y="358444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70432" y="3547872"/>
            <a:ext cx="42611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181E"/>
                </a:solidFill>
              </a:rPr>
              <a:t>무반사 기술로 완성한 Glare Free — 삼성만의 무반사 기술로 언제라도 눈부심, 빛 반사 걱정 없이 편안한 시청이 가능합니다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9808" y="41148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70432" y="4005072"/>
            <a:ext cx="426110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181E"/>
                </a:solidFill>
              </a:rPr>
              <a:t>Micro RGB 컬러 부스터 Pro — AI가 실시간으로 화면을 분석하여 색 밀도를 평가하고, 이 분석을 바탕으로 모든 장면의 색 수준을 최적화합니다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49808" y="46451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6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70432" y="4608576"/>
            <a:ext cx="42611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181E"/>
                </a:solidFill>
              </a:rPr>
              <a:t>팬톤 컬러 인증 — 색 정확도를 측정하는 글로벌 지표인 팬톤에서 검증 받은 색 표현력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9808" y="51023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7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70432" y="5065776"/>
            <a:ext cx="42611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181E"/>
                </a:solidFill>
              </a:rPr>
              <a:t>메탈 슈퍼 슬림 디자인 — 44.9mm의 두께, 챔퍼 베젤, 매트한 마무리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49808" y="55595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8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70432" y="5522976"/>
            <a:ext cx="42611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5181E"/>
                </a:solidFill>
              </a:rPr>
              <a:t>Vision AI — 클릭 투 서치가 빅스비를 만나 더욱 똑똑해져 이제는 TV와 대화도 주고 받을 수 있어요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광원이 작을 수록 모든 장면에서 더 정확한 색상과 디테일로 더 좋은 화질을 제공합니다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공기청정기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블루스카이 3100 (33㎡)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AP70F03102RVD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295648"/>
          </a:xfrm>
          <a:prstGeom prst="roundRect">
            <a:avLst>
              <a:gd name="adj" fmla="val 2554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5181E"/>
                </a:solidFill>
              </a:rPr>
              <a:t>오염도를 예측해 미리 실내 공기를 정화해요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49808" y="235102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70432" y="2322576"/>
            <a:ext cx="4261104" cy="367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5181E"/>
                </a:solidFill>
              </a:rPr>
              <a:t>AI+ 청정 기술로 10분마다 실내외 공기질을 비교, 학습해 오염도를 미리 예측하고 실내 공기를 관리해드립니다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49808" y="286105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70432" y="2763520"/>
            <a:ext cx="4261104" cy="505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5181E"/>
                </a:solidFill>
              </a:rPr>
              <a:t>생활악취와 유해가스는 물론 초미세먼지까지 제거! 초미세먼지 기준(2.5㎛)보다 작은 0.01㎛ 사이즈 먼지까지 99.999% 제거하는 초미세청정이 가능합니다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49808" y="337007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70432" y="3342640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5181E"/>
                </a:solidFill>
              </a:rPr>
              <a:t>숯 탈취필터를 통해 각종 생활악취와 유해가스를 제거합니다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49808" y="38100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70432" y="3781552"/>
            <a:ext cx="4261104" cy="367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5181E"/>
                </a:solidFill>
              </a:rPr>
              <a:t>깨끗한 공기를 구석구석까지 강력하게 내보내요. 3방향 입체청정이란 정화된 공기를 3방향으로 토출하여 신속한 청정효과를 발휘하는 기능입니다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49808" y="43891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6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170432" y="4222496"/>
            <a:ext cx="4261104" cy="644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5181E"/>
                </a:solidFill>
              </a:rPr>
              <a:t>SmartThings에서 AI루틴 설정이 가능해 나의 일상에 맞춰 실내 공기를 관리할 수 있습니다. 날씨 상태와 미세먼지 농도에 따라 설정된 루틴이 자동으로 작동되어, 나의 생활 패턴에 맞춘 공기질을 케어 받을 수 있습니다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49808" y="50373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7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70432" y="4939792"/>
            <a:ext cx="4261104" cy="505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5181E"/>
                </a:solidFill>
              </a:rPr>
              <a:t>외출 후 전원을 켜 둔 공기청정기에 대한 알람을 받을 수 있고 집과 가까워지면 공기청정기를 켤지 묻는 알람을 받아 우리 집 공기를 미리 깨끗하게 케어할 수도 있습니다 (웰컴&amp;어웨이 케어)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49808" y="554736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8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70432" y="5518912"/>
            <a:ext cx="4261104" cy="367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5181E"/>
                </a:solidFill>
              </a:rPr>
              <a:t>취침모드 설정 시 나의 취침 시간에 맞추어 공기청정기가 취침모드로 자동으로 작동되어 쾌적한 숙면 케어가 가능합니다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(3)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실내 공기질까지 학습해 관리하는 맞춤 청정 AI+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초미세먼지까지 99.999% 제거하는 초미세청정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깨끗한 공기를 구석구석 3방향 입체청정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의류케어(세탁건조기)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콤보 MID 25/20kg (7형 LCD)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WD90H25BHW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1094415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358384"/>
            <a:ext cx="110944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270"/>
                </a:solidFill>
              </a:rPr>
              <a:t>※ 셀링포인트가 많아 이 장표에서는 핵심 키워드 칸을 접었습니다.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49808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1</a:t>
            </a:r>
            <a:endParaRPr lang="en-US" sz="1066" dirty="0"/>
          </a:p>
        </p:txBody>
      </p:sp>
      <p:sp>
        <p:nvSpPr>
          <p:cNvPr id="10" name="Text 8"/>
          <p:cNvSpPr/>
          <p:nvPr/>
        </p:nvSpPr>
        <p:spPr>
          <a:xfrm>
            <a:off x="1170432" y="1883664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세탁 25kg, 건조 20kg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9808" y="23500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2</a:t>
            </a:r>
            <a:endParaRPr lang="en-US" sz="1066" dirty="0"/>
          </a:p>
        </p:txBody>
      </p:sp>
      <p:sp>
        <p:nvSpPr>
          <p:cNvPr id="12" name="Text 10"/>
          <p:cNvSpPr/>
          <p:nvPr/>
        </p:nvSpPr>
        <p:spPr>
          <a:xfrm>
            <a:off x="1170432" y="2322576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쾌속 코스 89분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49808" y="27889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3</a:t>
            </a:r>
            <a:endParaRPr lang="en-US" sz="1066" dirty="0"/>
          </a:p>
        </p:txBody>
      </p:sp>
      <p:sp>
        <p:nvSpPr>
          <p:cNvPr id="14" name="Text 12"/>
          <p:cNvSpPr/>
          <p:nvPr/>
        </p:nvSpPr>
        <p:spPr>
          <a:xfrm>
            <a:off x="1170432" y="2761488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AI 맞춤+ 코스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32278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4</a:t>
            </a:r>
            <a:endParaRPr lang="en-US" sz="1066" dirty="0"/>
          </a:p>
        </p:txBody>
      </p:sp>
      <p:sp>
        <p:nvSpPr>
          <p:cNvPr id="16" name="Text 14"/>
          <p:cNvSpPr/>
          <p:nvPr/>
        </p:nvSpPr>
        <p:spPr>
          <a:xfrm>
            <a:off x="1170432" y="3200400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세제자동투입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49808" y="366674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5</a:t>
            </a:r>
            <a:endParaRPr lang="en-US" sz="1066" dirty="0"/>
          </a:p>
        </p:txBody>
      </p:sp>
      <p:sp>
        <p:nvSpPr>
          <p:cNvPr id="18" name="Text 16"/>
          <p:cNvSpPr/>
          <p:nvPr/>
        </p:nvSpPr>
        <p:spPr>
          <a:xfrm>
            <a:off x="1170432" y="3639312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스마트 스크린 (7형 LCD + 빅스비)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9808" y="410565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6</a:t>
            </a:r>
            <a:endParaRPr lang="en-US" sz="1066" dirty="0"/>
          </a:p>
        </p:txBody>
      </p:sp>
      <p:sp>
        <p:nvSpPr>
          <p:cNvPr id="20" name="Text 18"/>
          <p:cNvSpPr/>
          <p:nvPr/>
        </p:nvSpPr>
        <p:spPr>
          <a:xfrm>
            <a:off x="1170432" y="4078224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대용량 먼지 필터 (원터치)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23280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7</a:t>
            </a:r>
            <a:endParaRPr lang="en-US" sz="1066" dirty="0"/>
          </a:p>
        </p:txBody>
      </p:sp>
      <p:sp>
        <p:nvSpPr>
          <p:cNvPr id="22" name="Text 20"/>
          <p:cNvSpPr/>
          <p:nvPr/>
        </p:nvSpPr>
        <p:spPr>
          <a:xfrm>
            <a:off x="6543904" y="1883664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직수 파워 오토 클린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23280" y="23500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8</a:t>
            </a:r>
            <a:endParaRPr lang="en-US" sz="1066" dirty="0"/>
          </a:p>
        </p:txBody>
      </p:sp>
      <p:sp>
        <p:nvSpPr>
          <p:cNvPr id="24" name="Text 22"/>
          <p:cNvSpPr/>
          <p:nvPr/>
        </p:nvSpPr>
        <p:spPr>
          <a:xfrm>
            <a:off x="6543904" y="2322576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무세제통세척·열풍내부케어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123280" y="27889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9</a:t>
            </a:r>
            <a:endParaRPr lang="en-US" sz="1066" dirty="0"/>
          </a:p>
        </p:txBody>
      </p:sp>
      <p:sp>
        <p:nvSpPr>
          <p:cNvPr id="26" name="Text 24"/>
          <p:cNvSpPr/>
          <p:nvPr/>
        </p:nvSpPr>
        <p:spPr>
          <a:xfrm>
            <a:off x="6543904" y="2761488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패딩케어, 이불/먼지털기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123280" y="32278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1" b="1" dirty="0">
                <a:solidFill>
                  <a:srgbClr val="FFFFFF"/>
                </a:solidFill>
              </a:rPr>
              <a:t>10</a:t>
            </a:r>
            <a:endParaRPr lang="en-US" sz="831" dirty="0"/>
          </a:p>
        </p:txBody>
      </p:sp>
      <p:sp>
        <p:nvSpPr>
          <p:cNvPr id="28" name="Text 26"/>
          <p:cNvSpPr/>
          <p:nvPr/>
        </p:nvSpPr>
        <p:spPr>
          <a:xfrm>
            <a:off x="6543904" y="3200400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AI 진동소음 저감 시스템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23280" y="374091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1" b="1" dirty="0">
                <a:solidFill>
                  <a:srgbClr val="FFFFFF"/>
                </a:solidFill>
              </a:rPr>
              <a:t>11</a:t>
            </a:r>
            <a:endParaRPr lang="en-US" sz="831" dirty="0"/>
          </a:p>
        </p:txBody>
      </p:sp>
      <p:sp>
        <p:nvSpPr>
          <p:cNvPr id="30" name="Text 28"/>
          <p:cNvSpPr/>
          <p:nvPr/>
        </p:nvSpPr>
        <p:spPr>
          <a:xfrm>
            <a:off x="6543904" y="3639312"/>
            <a:ext cx="4952848" cy="514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에너지 소비효율 1등급 (1등급 최저기준보다 최대 25% 절전)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23280" y="425399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1" b="1" dirty="0">
                <a:solidFill>
                  <a:srgbClr val="FFFFFF"/>
                </a:solidFill>
              </a:rPr>
              <a:t>12</a:t>
            </a:r>
            <a:endParaRPr lang="en-US" sz="831" dirty="0"/>
          </a:p>
        </p:txBody>
      </p:sp>
      <p:sp>
        <p:nvSpPr>
          <p:cNvPr id="32" name="Text 30"/>
          <p:cNvSpPr/>
          <p:nvPr/>
        </p:nvSpPr>
        <p:spPr>
          <a:xfrm>
            <a:off x="6543904" y="4226560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인버터 히트펌프 + 부스터 열교환기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의류케어(에어드레서)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대용량 5~9벌 (하의 2)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DF90H24R4D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11094415" cy="4328160"/>
          </a:xfrm>
          <a:prstGeom prst="roundRect">
            <a:avLst>
              <a:gd name="adj" fmla="val 2535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6120384"/>
            <a:ext cx="110944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270"/>
                </a:solidFill>
              </a:rPr>
              <a:t>※ 셀링포인트가 많아 이 장표에서는 핵심 키워드 칸을 접었습니다.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49808" y="206654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1</a:t>
            </a:r>
            <a:endParaRPr lang="en-US" sz="984" dirty="0"/>
          </a:p>
        </p:txBody>
      </p:sp>
      <p:sp>
        <p:nvSpPr>
          <p:cNvPr id="10" name="Text 8"/>
          <p:cNvSpPr/>
          <p:nvPr/>
        </p:nvSpPr>
        <p:spPr>
          <a:xfrm>
            <a:off x="1170432" y="1883664"/>
            <a:ext cx="49528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주름집중케어에서 옵션을 선택하여 원하는 시간과 세기로 주름을 관리해보세요. 쾌속 15분/표준 25분/강력 35분으로 빠르게 주름을 제거해줍니다.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9808" y="28163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2</a:t>
            </a:r>
            <a:endParaRPr lang="en-US" sz="984" dirty="0"/>
          </a:p>
        </p:txBody>
      </p:sp>
      <p:sp>
        <p:nvSpPr>
          <p:cNvPr id="12" name="Text 10"/>
          <p:cNvSpPr/>
          <p:nvPr/>
        </p:nvSpPr>
        <p:spPr>
          <a:xfrm>
            <a:off x="1170432" y="2633472"/>
            <a:ext cx="49528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듀얼에어워시와 듀얼제트스팀으로 빠르게 탈취, 살균할 수 있습니다. '바람'과 '스팀'으로 조용하고 강력하게 케어해줍니다.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9808" y="356616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3</a:t>
            </a:r>
            <a:endParaRPr lang="en-US" sz="984" dirty="0"/>
          </a:p>
        </p:txBody>
      </p:sp>
      <p:sp>
        <p:nvSpPr>
          <p:cNvPr id="14" name="Text 12"/>
          <p:cNvSpPr/>
          <p:nvPr/>
        </p:nvSpPr>
        <p:spPr>
          <a:xfrm>
            <a:off x="1170432" y="3383280"/>
            <a:ext cx="49528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털어낸 먼지는 3개의 필터로 확실하게 케어해줍니다. 의류관리 후 기기 내에 남아 있을 수 있는 먼지를 90%까지 제거합니다.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9808" y="42184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4</a:t>
            </a:r>
            <a:endParaRPr lang="en-US" sz="984" dirty="0"/>
          </a:p>
        </p:txBody>
      </p:sp>
      <p:sp>
        <p:nvSpPr>
          <p:cNvPr id="16" name="Text 14"/>
          <p:cNvSpPr/>
          <p:nvPr/>
        </p:nvSpPr>
        <p:spPr>
          <a:xfrm>
            <a:off x="1170432" y="4133088"/>
            <a:ext cx="4952848" cy="481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머신러닝 알고리즘을 적용하여 AI 맞춤건조가 꼭 맞는 건조 시간을 찾아 건조합니다.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49808" y="487070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5</a:t>
            </a:r>
            <a:endParaRPr lang="en-US" sz="984" dirty="0"/>
          </a:p>
        </p:txBody>
      </p:sp>
      <p:sp>
        <p:nvSpPr>
          <p:cNvPr id="18" name="Text 16"/>
          <p:cNvSpPr/>
          <p:nvPr/>
        </p:nvSpPr>
        <p:spPr>
          <a:xfrm>
            <a:off x="1170432" y="4687824"/>
            <a:ext cx="49528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셔츠 한 벌 건조 코스가 업그레이드 되었습니다. 더 적은 에너지로 건조 시간은 빨라지고 주름 제거 정도도 향상되었습니다.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49808" y="55229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6</a:t>
            </a:r>
            <a:endParaRPr lang="en-US" sz="984" dirty="0"/>
          </a:p>
        </p:txBody>
      </p:sp>
      <p:sp>
        <p:nvSpPr>
          <p:cNvPr id="20" name="Text 18"/>
          <p:cNvSpPr/>
          <p:nvPr/>
        </p:nvSpPr>
        <p:spPr>
          <a:xfrm>
            <a:off x="1170432" y="5437632"/>
            <a:ext cx="4952848" cy="481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일체형 도어로 깔끔하고 옷장과 동일한 595mm 깊이로 빌트인 인테리어 구현이 가능합니다.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123280" y="1911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7</a:t>
            </a:r>
            <a:endParaRPr lang="en-US" sz="984" dirty="0"/>
          </a:p>
        </p:txBody>
      </p:sp>
      <p:sp>
        <p:nvSpPr>
          <p:cNvPr id="22" name="Text 20"/>
          <p:cNvSpPr/>
          <p:nvPr/>
        </p:nvSpPr>
        <p:spPr>
          <a:xfrm>
            <a:off x="6543904" y="1883664"/>
            <a:ext cx="495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더욱 슬림해진 에어행어로 일반 옷장에서도 사용 가능합니다.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123280" y="250545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8</a:t>
            </a:r>
            <a:endParaRPr lang="en-US" sz="984" dirty="0"/>
          </a:p>
        </p:txBody>
      </p:sp>
      <p:sp>
        <p:nvSpPr>
          <p:cNvPr id="24" name="Text 22"/>
          <p:cNvSpPr/>
          <p:nvPr/>
        </p:nvSpPr>
        <p:spPr>
          <a:xfrm>
            <a:off x="6543904" y="2322576"/>
            <a:ext cx="49528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에어행어 사이에 일반 옷걸이를 걸어서 최대 9벌까지 관리할 수 있습니다. 대용량케어 코스로 우리 가족 의류를 한꺼번에 살균, 탈취해보세요.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123280" y="31577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9</a:t>
            </a:r>
            <a:endParaRPr lang="en-US" sz="984" dirty="0"/>
          </a:p>
        </p:txBody>
      </p:sp>
      <p:sp>
        <p:nvSpPr>
          <p:cNvPr id="26" name="Text 24"/>
          <p:cNvSpPr/>
          <p:nvPr/>
        </p:nvSpPr>
        <p:spPr>
          <a:xfrm>
            <a:off x="6543904" y="3072384"/>
            <a:ext cx="4952848" cy="481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긴 옷 케어존이 있어 긴 옷들도 바닥에 끌리지 않아 꼼꼼한 케어가 가능합니다.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23280" y="38100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</a:rPr>
              <a:t>10</a:t>
            </a:r>
            <a:endParaRPr lang="en-US" sz="768" dirty="0"/>
          </a:p>
        </p:txBody>
      </p:sp>
      <p:sp>
        <p:nvSpPr>
          <p:cNvPr id="28" name="Text 26"/>
          <p:cNvSpPr/>
          <p:nvPr/>
        </p:nvSpPr>
        <p:spPr>
          <a:xfrm>
            <a:off x="6543904" y="3627120"/>
            <a:ext cx="4952848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SmartThings를 통해 AI 절약 모드 설정하고 에어드레서 AI 맞춤건조 코스를 선택하면, 에너지 사용량을 최대 15% 줄일 수 있습니다.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23280" y="446227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8" b="1" dirty="0">
                <a:solidFill>
                  <a:srgbClr val="FFFFFF"/>
                </a:solidFill>
              </a:rPr>
              <a:t>11</a:t>
            </a:r>
            <a:endParaRPr lang="en-US" sz="768" dirty="0"/>
          </a:p>
        </p:txBody>
      </p:sp>
      <p:sp>
        <p:nvSpPr>
          <p:cNvPr id="30" name="Text 28"/>
          <p:cNvSpPr/>
          <p:nvPr/>
        </p:nvSpPr>
        <p:spPr>
          <a:xfrm>
            <a:off x="6543904" y="4376928"/>
            <a:ext cx="4952848" cy="481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바람을 이용한 저진동 의류케어로 옷장과 딱 맞게 설치할 수 있습니다.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의류케어(에어드레서)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에어드레서 5~9벌 (하의 1)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DF80H24R1C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133088"/>
          </a:xfrm>
          <a:prstGeom prst="roundRect">
            <a:avLst>
              <a:gd name="adj" fmla="val 2655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6654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1</a:t>
            </a:r>
            <a:endParaRPr lang="en-US" sz="984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듀얼에어워시와 듀얼제트스팀으로 빠르게 탈취, 살균할 수 있습니다. '바람'과 '스팀'으로 조용하고 강력하게 케어해줍니다.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2</a:t>
            </a:r>
            <a:endParaRPr lang="en-US" sz="984" dirty="0"/>
          </a:p>
        </p:txBody>
      </p:sp>
      <p:sp>
        <p:nvSpPr>
          <p:cNvPr id="11" name="Text 9"/>
          <p:cNvSpPr/>
          <p:nvPr/>
        </p:nvSpPr>
        <p:spPr>
          <a:xfrm>
            <a:off x="1170432" y="2633472"/>
            <a:ext cx="4261104" cy="481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일체형 도어로 깔끔하고 옷장과 동일한 595mm 깊이로 빌트인 인테리어 구현이 가능합니다.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9808" y="32735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3</a:t>
            </a:r>
            <a:endParaRPr lang="en-US" sz="984" dirty="0"/>
          </a:p>
        </p:txBody>
      </p:sp>
      <p:sp>
        <p:nvSpPr>
          <p:cNvPr id="13" name="Text 11"/>
          <p:cNvSpPr/>
          <p:nvPr/>
        </p:nvSpPr>
        <p:spPr>
          <a:xfrm>
            <a:off x="1170432" y="3188208"/>
            <a:ext cx="4261104" cy="481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더욱 슬림해진 에어행어로 일반 옷장에서도 사용 가능합니다.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9808" y="392582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4</a:t>
            </a:r>
            <a:endParaRPr lang="en-US" sz="984" dirty="0"/>
          </a:p>
        </p:txBody>
      </p:sp>
      <p:sp>
        <p:nvSpPr>
          <p:cNvPr id="15" name="Text 13"/>
          <p:cNvSpPr/>
          <p:nvPr/>
        </p:nvSpPr>
        <p:spPr>
          <a:xfrm>
            <a:off x="1170432" y="3742944"/>
            <a:ext cx="426110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에어행어 사이에 일반 옷걸이를 걸어서 최대 9벌까지 관리할 수 있습니다. 대용량케어 코스로 우리 가족 의류를 한꺼번에 살균, 탈취해보세요.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9808" y="4578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5</a:t>
            </a:r>
            <a:endParaRPr lang="en-US" sz="984" dirty="0"/>
          </a:p>
        </p:txBody>
      </p:sp>
      <p:sp>
        <p:nvSpPr>
          <p:cNvPr id="17" name="Text 15"/>
          <p:cNvSpPr/>
          <p:nvPr/>
        </p:nvSpPr>
        <p:spPr>
          <a:xfrm>
            <a:off x="1170432" y="4492752"/>
            <a:ext cx="4261104" cy="481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긴 옷 케어존이 있어 긴 옷들도 바닥에 끌리지 않아 꼼꼼한 케어가 가능합니다.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9808" y="523036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6</a:t>
            </a:r>
            <a:endParaRPr lang="en-US" sz="984" dirty="0"/>
          </a:p>
        </p:txBody>
      </p:sp>
      <p:sp>
        <p:nvSpPr>
          <p:cNvPr id="19" name="Text 17"/>
          <p:cNvSpPr/>
          <p:nvPr/>
        </p:nvSpPr>
        <p:spPr>
          <a:xfrm>
            <a:off x="1170432" y="5047488"/>
            <a:ext cx="426110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SmartThings를 통해 AI 절약 모드 설정하고 에어드레서 AI 맞춤건조 코스를 선택하면, 에너지 사용량을 최대 15% 줄일 수 있습니다.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897880" y="17830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0"/>
                </a:solidFill>
              </a:rPr>
              <a:t>이 모델 지면에서 따로 뽑을 특장점 제목이 없습니다.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7.1.2ch 올인원 사운드바 QS90H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HW-QS90H/KR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275328"/>
          </a:xfrm>
          <a:prstGeom prst="roundRect">
            <a:avLst>
              <a:gd name="adj" fmla="val 256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True 7.1.2Ch All-in-One Sound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Convertible Fit (벽걸이·테이블 탑 겸용)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280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무선 돌비 애트모스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37195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369214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 심포니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9808" y="428142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131056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사운드 컨트롤(사운드 출력 위치 조정·자동 음량 조절)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49808" y="496620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70432" y="4815840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Quad Bass Woofer(4개 내장 우퍼)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552805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70432" y="550062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9 Wide Range Drivers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897880" y="17830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0"/>
                </a:solidFill>
              </a:rPr>
              <a:t>이 모델 지면에서 따로 뽑을 특장점 제목이 없습니다.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사운드바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Music Studio 5 (LS50H/LS51H)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HW-LS50H/KR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Dot 디자인 (Erwan Bouroullec 디자인)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무선 뮤직 스트리밍(삼성 Seamless Codec)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280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파워풀 사운드(AI 저음 최적화)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37195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369214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돌비 애트모스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삼성만의 아이코닉한 디자인이 어느 공간에 두어도 소품처럼 자연스럽게 어울립니다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김치플러스 4도어 키친핏 420L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RK70F42F2X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3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냉장고장과 김치냉장고의 틈이 좌, 우 4mm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27188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2568448"/>
            <a:ext cx="4261104" cy="611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108도까지 도어를 활짝 열어서 사용 가능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49808" y="32806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3253232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유산균 아삭 숙성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49808" y="37195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70432" y="3692144"/>
            <a:ext cx="4261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식재료맞춤보관 / 스캔킵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(2)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알아서 맛 맞추다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기술로 완성한 김치, 음식 맛을 살리는 김치냉장고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김치플러스 4도어 키친핏 (E 타입)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RK80F42E2A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358640"/>
          </a:xfrm>
          <a:prstGeom prst="roundRect">
            <a:avLst>
              <a:gd name="adj" fmla="val 251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6654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1</a:t>
            </a:r>
            <a:endParaRPr lang="en-US" sz="984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더 빈틈 없는 진짜 키친핏 Max — 냉장고장과 김치냉장고의 좌, 우 틈이 4mm밖에 되지 않아 깔끔합니다.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301142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2</a:t>
            </a:r>
            <a:endParaRPr lang="en-US" sz="984" dirty="0"/>
          </a:p>
        </p:txBody>
      </p:sp>
      <p:sp>
        <p:nvSpPr>
          <p:cNvPr id="11" name="Text 9"/>
          <p:cNvSpPr/>
          <p:nvPr/>
        </p:nvSpPr>
        <p:spPr>
          <a:xfrm>
            <a:off x="1170432" y="2633472"/>
            <a:ext cx="4261104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자동 문 열림으로 편리하게 오토 오픈 도어 — 무거운 김치통을 들고 있어도 손쉽게 문을 열 수 있습니다. 말을 하거나 손등, 손가락 등으로 도어부의 센서를 터치하면 상칸 도어가 자동으로 열립니다.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9808" y="395630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3</a:t>
            </a:r>
            <a:endParaRPr lang="en-US" sz="984" dirty="0"/>
          </a:p>
        </p:txBody>
      </p:sp>
      <p:sp>
        <p:nvSpPr>
          <p:cNvPr id="13" name="Text 11"/>
          <p:cNvSpPr/>
          <p:nvPr/>
        </p:nvSpPr>
        <p:spPr>
          <a:xfrm>
            <a:off x="1170432" y="3773424"/>
            <a:ext cx="426110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음성으로 더 쉽고 편리하게 빅스비 음성 인식 — 기능 조작, 상태 확인을 할 때 말을 하면 김치 냉장고가 알아 듣고 그대로 실행해서 편리합니다.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9808" y="470611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4</a:t>
            </a:r>
            <a:endParaRPr lang="en-US" sz="984" dirty="0"/>
          </a:p>
        </p:txBody>
      </p:sp>
      <p:sp>
        <p:nvSpPr>
          <p:cNvPr id="15" name="Text 13"/>
          <p:cNvSpPr/>
          <p:nvPr/>
        </p:nvSpPr>
        <p:spPr>
          <a:xfrm>
            <a:off x="1170432" y="4523232"/>
            <a:ext cx="426110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최대 118배 더 많은 유산균을 증식시켜서 시원하고 아삭한 김치를 더 오래 맛 볼 수 있습니다. (유산균 아삭 숙성모드)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9808" y="54559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5</a:t>
            </a:r>
            <a:endParaRPr lang="en-US" sz="984" dirty="0"/>
          </a:p>
        </p:txBody>
      </p:sp>
      <p:sp>
        <p:nvSpPr>
          <p:cNvPr id="17" name="Text 15"/>
          <p:cNvSpPr/>
          <p:nvPr/>
        </p:nvSpPr>
        <p:spPr>
          <a:xfrm>
            <a:off x="1170432" y="5273040"/>
            <a:ext cx="4261104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메탈쿨링 커버, 커튼+, 선반, 김치통의 탁월한 냉기 보존으로 한겨울 땅 속처럼 냉기가 유지됩니다. (메탈쿨링)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(11)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Ⅰ. 더 빈틈없는 진짜 키친핏 Max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Ⅱ. 자동 문 열림으로 편리하게 오토 오픈 도어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Ⅲ. 말로 더 쉽고 편리하게 빅스비 음성 인식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Ⅳ. 냉기를 꽉 잡아 아삭하고 신선하게 메탈쿨링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Ⅵ. 더 많은 유산균이 김치맛을 시원하게, 유산균 아삭 숙성모드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Ⅶ. 원하는 칸과 모드에 맞춰 보관하는 칸칸칸 모드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Ⅷ. 냉장고 속 김치 냄새가 섞일 걱정 없는 냄새케어 김치통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Ⅸ. 맞춤 운전으로 신선함을 유지하는 AI 정온 모드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Ⅹ. 식재료 본연의 맛을 지키는 ±0.3℃ 초미세정온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XI. 구입 김치를 맛있게 보관하는 스캔킵</a:t>
            </a:r>
            <a:endParaRPr lang="en-US" sz="10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000" dirty="0">
                <a:solidFill>
                  <a:srgbClr val="15181E"/>
                </a:solidFill>
              </a:rPr>
              <a:t>XII. 500가지 식재료를 최적의 모드로 보관하는 식재료 맞춤 보관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김치냉장고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Bespoke AI 김치플러스 4도어 키친핏 (M 타입)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RK70F42M2A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114800"/>
          </a:xfrm>
          <a:prstGeom prst="roundRect">
            <a:avLst>
              <a:gd name="adj" fmla="val 266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031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7" b="1" dirty="0">
                <a:solidFill>
                  <a:srgbClr val="FFFFFF"/>
                </a:solidFill>
              </a:rPr>
              <a:t>1</a:t>
            </a:r>
            <a:endParaRPr lang="en-US" sz="1107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81E"/>
                </a:solidFill>
              </a:rPr>
              <a:t>더 빈틈 없는 진짜 키친핏 Max — 냉장고장과 김치냉장고의 좌, 우 틈이 4mm밖에 되지 않아 깔끔합니다.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49808" y="292608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7" b="1" dirty="0">
                <a:solidFill>
                  <a:srgbClr val="FFFFFF"/>
                </a:solidFill>
              </a:rPr>
              <a:t>2</a:t>
            </a:r>
            <a:endParaRPr lang="en-US" sz="1107" dirty="0"/>
          </a:p>
        </p:txBody>
      </p:sp>
      <p:sp>
        <p:nvSpPr>
          <p:cNvPr id="11" name="Text 9"/>
          <p:cNvSpPr/>
          <p:nvPr/>
        </p:nvSpPr>
        <p:spPr>
          <a:xfrm>
            <a:off x="1170432" y="2706624"/>
            <a:ext cx="426110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81E"/>
                </a:solidFill>
              </a:rPr>
              <a:t>최대 118배 더 많은 유산균을 증식시켜서 시원하고 아삭한 김치를 더 오래 맛 볼 수 있습니다. (유산균 아삭 숙성모드)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49808" y="37490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7" b="1" dirty="0">
                <a:solidFill>
                  <a:srgbClr val="FFFFFF"/>
                </a:solidFill>
              </a:rPr>
              <a:t>3</a:t>
            </a:r>
            <a:endParaRPr lang="en-US" sz="1107" dirty="0"/>
          </a:p>
        </p:txBody>
      </p:sp>
      <p:sp>
        <p:nvSpPr>
          <p:cNvPr id="13" name="Text 11"/>
          <p:cNvSpPr/>
          <p:nvPr/>
        </p:nvSpPr>
        <p:spPr>
          <a:xfrm>
            <a:off x="1170432" y="3529584"/>
            <a:ext cx="426110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81E"/>
                </a:solidFill>
              </a:rPr>
              <a:t>식재료에 맞춰 상칸 최대 19개 모드, 중/하칸 24개 모드로 보관 가능합니다. (칸칸칸 모드)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49808" y="45720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7" b="1" dirty="0">
                <a:solidFill>
                  <a:srgbClr val="FFFFFF"/>
                </a:solidFill>
              </a:rPr>
              <a:t>4</a:t>
            </a:r>
            <a:endParaRPr lang="en-US" sz="1107" dirty="0"/>
          </a:p>
        </p:txBody>
      </p:sp>
      <p:sp>
        <p:nvSpPr>
          <p:cNvPr id="15" name="Text 13"/>
          <p:cNvSpPr/>
          <p:nvPr/>
        </p:nvSpPr>
        <p:spPr>
          <a:xfrm>
            <a:off x="1170432" y="4352544"/>
            <a:ext cx="426110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81E"/>
                </a:solidFill>
              </a:rPr>
              <a:t>스마트싱스로 검색하면 500가지의 식재료에 따라 적합한 보관 모드를 추천해 줍니다. (식재료 맞춤 보관)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49808" y="52852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7" b="1" dirty="0">
                <a:solidFill>
                  <a:srgbClr val="FFFFFF"/>
                </a:solidFill>
              </a:rPr>
              <a:t>5</a:t>
            </a:r>
            <a:endParaRPr lang="en-US" sz="1107" dirty="0"/>
          </a:p>
        </p:txBody>
      </p:sp>
      <p:sp>
        <p:nvSpPr>
          <p:cNvPr id="17" name="Text 15"/>
          <p:cNvSpPr/>
          <p:nvPr/>
        </p:nvSpPr>
        <p:spPr>
          <a:xfrm>
            <a:off x="1170432" y="5175504"/>
            <a:ext cx="426110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81E"/>
                </a:solidFill>
              </a:rPr>
              <a:t>스마트싱스로 구입 김치의 바코드를 스캔해서 최적의 보관 모드로 관리합니다. (스캔킵)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(7)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Ⅰ. 더 빈틈없는 진짜 키친핏 Max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Ⅵ. 더 많은 유산균이 김치맛을 시원하게, 유산균 아삭 숙성모드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Ⅶ. 원하는 칸과 모드에 맞춰 보관하는 칸칸칸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Ⅸ. 맞춤 운전으로 신선함을 유지하는 AI 정온 모드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Ⅹ. 식재료 본연의 맛을 지키는 ±0.3℃ 초미세정온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XI. 구입 김치를 맛있게 보관하는 스캔킵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XII. 500가지 식재료를 최적의 모드로 보관하는 식재료 맞춤 보관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Micro RGB RH85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KMR85RH85AFXKR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259072"/>
          </a:xfrm>
          <a:prstGeom prst="roundRect">
            <a:avLst>
              <a:gd name="adj" fmla="val 2576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30225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1</a:t>
            </a:r>
            <a:endParaRPr lang="en-US" sz="1066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1148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Micro RGB 기술 — 사람의 머리카락보다 얇은 마이크로 크기의 R(빨강), G(초록), B(파랑) LED 광원 사용하여 모든 장면에서 더 정확한 색상과 디테일로 더 좋은 화질을 제공합니다.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" y="341782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2</a:t>
            </a:r>
            <a:endParaRPr lang="en-US" sz="1066" dirty="0"/>
          </a:p>
        </p:txBody>
      </p:sp>
      <p:sp>
        <p:nvSpPr>
          <p:cNvPr id="11" name="Text 9"/>
          <p:cNvSpPr/>
          <p:nvPr/>
        </p:nvSpPr>
        <p:spPr>
          <a:xfrm>
            <a:off x="1170432" y="3104896"/>
            <a:ext cx="4261104" cy="936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Micro RGB AI 엔진 — AI가 각 장면을 실시간으로 분석한 후, 색상의 강도를 바탕으로 R/G/B 각 광원의 출력을 세밀하게 튜닝하여 보다 생생한 화질을 제공합니다.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49808" y="44277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3</a:t>
            </a:r>
            <a:endParaRPr lang="en-US" sz="1066" dirty="0"/>
          </a:p>
        </p:txBody>
      </p:sp>
      <p:sp>
        <p:nvSpPr>
          <p:cNvPr id="13" name="Text 11"/>
          <p:cNvSpPr/>
          <p:nvPr/>
        </p:nvSpPr>
        <p:spPr>
          <a:xfrm>
            <a:off x="1170432" y="4114800"/>
            <a:ext cx="4261104" cy="936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Micro RGB 정밀 컬러 100 — VDE 인증을 받은 당사의 기술은 보다 정확한 색상으로 실제와 같은 화질로 뛰어난 몰입감을 제공합니다.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49808" y="533196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6" b="1" dirty="0">
                <a:solidFill>
                  <a:srgbClr val="FFFFFF"/>
                </a:solidFill>
              </a:rPr>
              <a:t>4</a:t>
            </a:r>
            <a:endParaRPr lang="en-US" sz="1066" dirty="0"/>
          </a:p>
        </p:txBody>
      </p:sp>
      <p:sp>
        <p:nvSpPr>
          <p:cNvPr id="15" name="Text 13"/>
          <p:cNvSpPr/>
          <p:nvPr/>
        </p:nvSpPr>
        <p:spPr>
          <a:xfrm>
            <a:off x="1170432" y="5124704"/>
            <a:ext cx="4261104" cy="7254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81E"/>
                </a:solidFill>
              </a:rPr>
              <a:t>Vision AI 컴패니언 — 영화관급의 감동은 방해 받지 않으면서, AI버튼을 눌러 즉각적인 질문과 답변을 받을 수 있습니다.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(8)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Micro RGB 기술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Micro RGB AI 엔진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Micro RGB 정밀한 색상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사운드 컨트롤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무반사 기술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무선 원커넥트 박스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OLED SH95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KQ83SH95AEXKR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389120"/>
          </a:xfrm>
          <a:prstGeom prst="roundRect">
            <a:avLst>
              <a:gd name="adj" fmla="val 2500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2616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1</a:t>
            </a:r>
            <a:endParaRPr lang="en-US" sz="984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무반사 기술 — UL 인증을 받은 삼성의 Glare Free로 눈부심과 빛 반사 걱정 없이 편안하게 시청하세요. 무반사 기술 적용이 적용되어 밖에서 들어오는 빛으로 인한 눈부심없이 몰입감 높은 시청이 가능합니다.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330403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2</a:t>
            </a:r>
            <a:endParaRPr lang="en-US" sz="984" dirty="0"/>
          </a:p>
        </p:txBody>
      </p:sp>
      <p:sp>
        <p:nvSpPr>
          <p:cNvPr id="11" name="Text 9"/>
          <p:cNvSpPr/>
          <p:nvPr/>
        </p:nvSpPr>
        <p:spPr>
          <a:xfrm>
            <a:off x="1170432" y="3023616"/>
            <a:ext cx="4261104" cy="871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FloatLayer Design — 새로운 라이프 스타일 디자인으로 벽에서 살짝 떠 있는 느낌의 가볍고 세련된 디자인은 공간을 더욱 고급스럽게 만들 수 있습니다.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9808" y="434644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3</a:t>
            </a:r>
            <a:endParaRPr lang="en-US" sz="984" dirty="0"/>
          </a:p>
        </p:txBody>
      </p:sp>
      <p:sp>
        <p:nvSpPr>
          <p:cNvPr id="13" name="Text 11"/>
          <p:cNvSpPr/>
          <p:nvPr/>
        </p:nvSpPr>
        <p:spPr>
          <a:xfrm>
            <a:off x="1170432" y="3968496"/>
            <a:ext cx="4261104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얼티밋 게이밍 팩 — 모션터보 165Hz로 빠르고 즉각적인 반응, AMD Freesync premium pro 인증 및 엔비디아 G-SYNC 호환 인증까지 모두 적용되어 압도적인 게이밍 경험이 가능합니다.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9808" y="538886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4" b="1" dirty="0">
                <a:solidFill>
                  <a:srgbClr val="FFFFFF"/>
                </a:solidFill>
              </a:rPr>
              <a:t>4</a:t>
            </a:r>
            <a:endParaRPr lang="en-US" sz="984" dirty="0"/>
          </a:p>
        </p:txBody>
      </p:sp>
      <p:sp>
        <p:nvSpPr>
          <p:cNvPr id="15" name="Text 13"/>
          <p:cNvSpPr/>
          <p:nvPr/>
        </p:nvSpPr>
        <p:spPr>
          <a:xfrm>
            <a:off x="1170432" y="5108448"/>
            <a:ext cx="4261104" cy="871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81E"/>
                </a:solidFill>
              </a:rPr>
              <a:t>Vision AI 컴패니언 — OLED와 VAC가 만나 더욱 더 몰입감을 높일 수 있어요. 게임 중 게임 관련 궁금한 내용을 VAC에게 질문하고 필요한 정보를 얻을 수 있습니다.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(9)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무반사 기술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FloatLayer Design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얼티밋 게이밍 팩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OLED HDR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팬톤 컬러 인증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사운드 컨트롤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무선 원커넥트 박스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OLED SH93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KQ83SH93AEXKR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240784"/>
          </a:xfrm>
          <a:prstGeom prst="roundRect">
            <a:avLst>
              <a:gd name="adj" fmla="val 258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5188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1" b="1" dirty="0">
                <a:solidFill>
                  <a:srgbClr val="FFFFFF"/>
                </a:solidFill>
              </a:rPr>
              <a:t>1</a:t>
            </a:r>
            <a:endParaRPr lang="en-US" sz="1271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847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81E"/>
                </a:solidFill>
              </a:rPr>
              <a:t>무반사 기술 — UL 인증을 받은 삼성의 Glare Free로 눈부심과 빛 반사 걱정 없이 편안하게 시청하세요.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49808" y="345033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1" b="1" dirty="0">
                <a:solidFill>
                  <a:srgbClr val="FFFFFF"/>
                </a:solidFill>
              </a:rPr>
              <a:t>2</a:t>
            </a:r>
            <a:endParaRPr lang="en-US" sz="1271" dirty="0"/>
          </a:p>
        </p:txBody>
      </p:sp>
      <p:sp>
        <p:nvSpPr>
          <p:cNvPr id="11" name="Text 9"/>
          <p:cNvSpPr/>
          <p:nvPr/>
        </p:nvSpPr>
        <p:spPr>
          <a:xfrm>
            <a:off x="1170432" y="2804160"/>
            <a:ext cx="4261104" cy="1603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81E"/>
                </a:solidFill>
              </a:rPr>
              <a:t>얼티밋 게이밍 팩 — 모션터보 165Hz로 빠르고 즉각적인 반응, AMD Freesync premium pro 인증 및 엔비디아 G-SYNC 호환 인증까지 모두 적용되어 압도적인 게이밍 경험이 가능합니다.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49808" y="50007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1" b="1" dirty="0">
                <a:solidFill>
                  <a:srgbClr val="FFFFFF"/>
                </a:solidFill>
              </a:rPr>
              <a:t>3</a:t>
            </a:r>
            <a:endParaRPr lang="en-US" sz="1271" dirty="0"/>
          </a:p>
        </p:txBody>
      </p:sp>
      <p:sp>
        <p:nvSpPr>
          <p:cNvPr id="13" name="Text 11"/>
          <p:cNvSpPr/>
          <p:nvPr/>
        </p:nvSpPr>
        <p:spPr>
          <a:xfrm>
            <a:off x="1170432" y="4480560"/>
            <a:ext cx="4261104" cy="1351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81E"/>
                </a:solidFill>
              </a:rPr>
              <a:t>Vision AI 컴패니언 — OLED와 VAC가 만나 더욱 더 몰입감을 높일 수 있어요. 게임 중 게임 관련 궁금한 내용을 VAC에게 질문하고 필요한 정보를 얻을 수 있습니다.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무반사 기술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FloatLayer Design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얼티밋 게이밍 팩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OLED HDR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팬톤 컬러 인증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사운드 컨트롤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무선 원커넥트 박스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OLED SH90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KQ83SH90AEXKR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126992"/>
          </a:xfrm>
          <a:prstGeom prst="roundRect">
            <a:avLst>
              <a:gd name="adj" fmla="val 2659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38353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FFFFFF"/>
                </a:solidFill>
              </a:rPr>
              <a:t>1</a:t>
            </a:r>
            <a:endParaRPr lang="en-US" sz="123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1310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81E"/>
                </a:solidFill>
              </a:rPr>
              <a:t>무반사 기술 — UL 인증을 받은 삼성의 Glare Free로 눈부심과 빛 반사 걱정 없이 편안하게 시청하세요. (Glare Free 적용 모델 : 26년 SH90 모델까지 확대 적용)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88924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FFFFFF"/>
                </a:solidFill>
              </a:rPr>
              <a:t>2</a:t>
            </a:r>
            <a:endParaRPr lang="en-US" sz="1230" dirty="0"/>
          </a:p>
        </p:txBody>
      </p:sp>
      <p:sp>
        <p:nvSpPr>
          <p:cNvPr id="11" name="Text 9"/>
          <p:cNvSpPr/>
          <p:nvPr/>
        </p:nvSpPr>
        <p:spPr>
          <a:xfrm>
            <a:off x="1170432" y="3267456"/>
            <a:ext cx="4261104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81E"/>
                </a:solidFill>
              </a:rPr>
              <a:t>얼티밋 게이밍 팩 — 모션터보 165Hz로 빠르고 즉각적인 반응, AMD Freesync premium pro 인증 및 엔비디아 G-SYNC 호환 인증까지 모두 적용되어 압도적인 게이밍 경험이 가능합니다.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9808" y="51511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FFFFFF"/>
                </a:solidFill>
              </a:rPr>
              <a:t>3</a:t>
            </a:r>
            <a:endParaRPr lang="en-US" sz="1230" dirty="0"/>
          </a:p>
        </p:txBody>
      </p:sp>
      <p:sp>
        <p:nvSpPr>
          <p:cNvPr id="13" name="Text 11"/>
          <p:cNvSpPr/>
          <p:nvPr/>
        </p:nvSpPr>
        <p:spPr>
          <a:xfrm>
            <a:off x="1170432" y="4895088"/>
            <a:ext cx="426110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81E"/>
                </a:solidFill>
              </a:rPr>
              <a:t>Vision AI 컴패니언 — 게임 중 게임 관련 궁금한 내용을 VAC에게 질문하고 필요한 정보를 얻을 수 있습니다.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무반사 기술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FloatLayer Design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얼티밋 게이밍 팩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OLED HDR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팬톤 컬러 인증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사운드 컨트롤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무선 원커넥트 박스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OLED SH85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KQ83SH85AEXKR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126992"/>
          </a:xfrm>
          <a:prstGeom prst="roundRect">
            <a:avLst>
              <a:gd name="adj" fmla="val 2659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38353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FFFFFF"/>
                </a:solidFill>
              </a:rPr>
              <a:t>1</a:t>
            </a:r>
            <a:endParaRPr lang="en-US" sz="123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1310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81E"/>
                </a:solidFill>
              </a:rPr>
              <a:t>Vision AI 컴패니언 — TV 시청 중에도 무엇이든 물어보세요. 콘텐츠를 일시 정지 하거나 스마트폰이나 다른 기기를 사용하지 않아도 보다 큰 화면에서 실시간 답변을 받아볼 수 있습니다.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7673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FFFFFF"/>
                </a:solidFill>
              </a:rPr>
              <a:t>2</a:t>
            </a:r>
            <a:endParaRPr lang="en-US" sz="1230" dirty="0"/>
          </a:p>
        </p:txBody>
      </p:sp>
      <p:sp>
        <p:nvSpPr>
          <p:cNvPr id="11" name="Text 9"/>
          <p:cNvSpPr/>
          <p:nvPr/>
        </p:nvSpPr>
        <p:spPr>
          <a:xfrm>
            <a:off x="1170432" y="3267456"/>
            <a:ext cx="4261104" cy="1310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81E"/>
                </a:solidFill>
              </a:rPr>
              <a:t>AI 축구 모드 — 현장에 있는 것 처럼, 모든 경기를 월드컵의 순간으로 만들어 보세요. 실시간 최적화 기능은 생생한 비주얼과 함께 몰입감 있는 사운드를 제공합니다.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9808" y="502920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FFFFFF"/>
                </a:solidFill>
              </a:rPr>
              <a:t>3</a:t>
            </a:r>
            <a:endParaRPr lang="en-US" sz="1230" dirty="0"/>
          </a:p>
        </p:txBody>
      </p:sp>
      <p:sp>
        <p:nvSpPr>
          <p:cNvPr id="13" name="Text 11"/>
          <p:cNvSpPr/>
          <p:nvPr/>
        </p:nvSpPr>
        <p:spPr>
          <a:xfrm>
            <a:off x="1170432" y="4651248"/>
            <a:ext cx="4261104" cy="1066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81E"/>
                </a:solidFill>
              </a:rPr>
              <a:t>팬톤 컬러 인증 — 글로벌 색상 지표인 팬톤이 인증한 컬러 매핑 기술로 실제와 가장 가까운 색상을 경험하세요. 2,140개의 팬톤 색상을 표현할 수 있습니다.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(9)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무반사 기술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FloatLayer Design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얼티밋 게이밍 팩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OLED HDR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팬톤 컬러 인증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사운드 컨트롤 Pro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무선 원커넥트 박스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Neo QLED 4K QNH80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KQ100QNH80FXKR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332224"/>
          </a:xfrm>
          <a:prstGeom prst="roundRect">
            <a:avLst>
              <a:gd name="adj" fmla="val 2533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8033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5" b="1" dirty="0">
                <a:solidFill>
                  <a:srgbClr val="FFFFFF"/>
                </a:solidFill>
              </a:rPr>
              <a:t>1</a:t>
            </a:r>
            <a:endParaRPr lang="en-US" sz="1025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90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81E"/>
                </a:solidFill>
              </a:rPr>
              <a:t>퀀텀 Mini LED — 4분할로 더욱 정교해진 초정밀 퀀텀 Mini LED를 촘촘하게 배치하고 정밀한 백라이트 제어를 통해 밝고 빛 번짐 없는 뛰어난 화질을 만들어 냅니다.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31577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5" b="1" dirty="0">
                <a:solidFill>
                  <a:srgbClr val="FFFFFF"/>
                </a:solidFill>
              </a:rPr>
              <a:t>2</a:t>
            </a:r>
            <a:endParaRPr lang="en-US" sz="1025" dirty="0"/>
          </a:p>
        </p:txBody>
      </p:sp>
      <p:sp>
        <p:nvSpPr>
          <p:cNvPr id="11" name="Text 9"/>
          <p:cNvSpPr/>
          <p:nvPr/>
        </p:nvSpPr>
        <p:spPr>
          <a:xfrm>
            <a:off x="1170432" y="2861056"/>
            <a:ext cx="4261104" cy="90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81E"/>
                </a:solidFill>
              </a:rPr>
              <a:t>리얼 QLED 100% 컬러볼륨 — 삼성 퀀텀닷 시트가 100% 색 재현율을 제공하여 낮처럼 밝은 환경에서도 자연색에 가까운 생생하고 정확한 색상으로 시청하실 수 있습니다.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49808" y="41351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5" b="1" dirty="0">
                <a:solidFill>
                  <a:srgbClr val="FFFFFF"/>
                </a:solidFill>
              </a:rPr>
              <a:t>3</a:t>
            </a:r>
            <a:endParaRPr lang="en-US" sz="1025" dirty="0"/>
          </a:p>
        </p:txBody>
      </p:sp>
      <p:sp>
        <p:nvSpPr>
          <p:cNvPr id="13" name="Text 11"/>
          <p:cNvSpPr/>
          <p:nvPr/>
        </p:nvSpPr>
        <p:spPr>
          <a:xfrm>
            <a:off x="1170432" y="3838448"/>
            <a:ext cx="4261104" cy="90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81E"/>
                </a:solidFill>
              </a:rPr>
              <a:t>모션 터보 144Hz — 빠르게 움직이며 화면 전환이 빠른 속도감 있는 게임 등에서 빛을 발하는 기능으로 빠른 속도의 화면을 잔상없이 선명하고 부드럽게 플레이 가능합니다.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49808" y="521411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5" b="1" dirty="0">
                <a:solidFill>
                  <a:srgbClr val="FFFFFF"/>
                </a:solidFill>
              </a:rPr>
              <a:t>4</a:t>
            </a:r>
            <a:endParaRPr lang="en-US" sz="1025" dirty="0"/>
          </a:p>
        </p:txBody>
      </p:sp>
      <p:sp>
        <p:nvSpPr>
          <p:cNvPr id="15" name="Text 13"/>
          <p:cNvSpPr/>
          <p:nvPr/>
        </p:nvSpPr>
        <p:spPr>
          <a:xfrm>
            <a:off x="1170432" y="4815840"/>
            <a:ext cx="4261104" cy="110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81E"/>
                </a:solidFill>
              </a:rPr>
              <a:t>Vision AI 컴패니언 — TV 시청 중에 무엇이든 물어보세요. 콘텐츠를 일시 정지하거나 스마트폰이나 다른 기기를 사용하지 않아도 보던 큰 화면에서 실시간 답변을 받아 볼 수 있습니다.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(7)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퀀텀 Mini LED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리얼 QLED 100% 컬러볼륨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모션 터보 144Hz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퀀텀 AI 프로세서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사운드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Neo QLED 4K QNH70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KQ85QNH70AFXKR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370832"/>
          </a:xfrm>
          <a:prstGeom prst="roundRect">
            <a:avLst>
              <a:gd name="adj" fmla="val 2510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38353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FFFFFF"/>
                </a:solidFill>
              </a:rPr>
              <a:t>1</a:t>
            </a:r>
            <a:endParaRPr lang="en-US" sz="123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1310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81E"/>
                </a:solidFill>
              </a:rPr>
              <a:t>퀀텀 Mini LED — 4분할로 더욱 정교해진 초정밀 퀀텀 Mini LED를 촘촘하게 배치하고 정밀한 백라이트 제어를 통해 밝고 빛 번짐 없는 뛰어난 화질을 만들어 냅니다.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7673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FFFFFF"/>
                </a:solidFill>
              </a:rPr>
              <a:t>2</a:t>
            </a:r>
            <a:endParaRPr lang="en-US" sz="1230" dirty="0"/>
          </a:p>
        </p:txBody>
      </p:sp>
      <p:sp>
        <p:nvSpPr>
          <p:cNvPr id="11" name="Text 9"/>
          <p:cNvSpPr/>
          <p:nvPr/>
        </p:nvSpPr>
        <p:spPr>
          <a:xfrm>
            <a:off x="1170432" y="3267456"/>
            <a:ext cx="4261104" cy="1310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81E"/>
                </a:solidFill>
              </a:rPr>
              <a:t>리얼 QLED 100% 컬러볼륨 — 삼성 퀀텀닷 시트가 100% 색 재현율을 제공하여 낮처럼 밝은 환경에서도 자연색에 가까운 생생하고 정확한 색상으로 시청하실 수 있습니다.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49808" y="51511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FFFFFF"/>
                </a:solidFill>
              </a:rPr>
              <a:t>3</a:t>
            </a:r>
            <a:endParaRPr lang="en-US" sz="1230" dirty="0"/>
          </a:p>
        </p:txBody>
      </p:sp>
      <p:sp>
        <p:nvSpPr>
          <p:cNvPr id="13" name="Text 11"/>
          <p:cNvSpPr/>
          <p:nvPr/>
        </p:nvSpPr>
        <p:spPr>
          <a:xfrm>
            <a:off x="1170432" y="4651248"/>
            <a:ext cx="4261104" cy="1310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81E"/>
                </a:solidFill>
              </a:rPr>
              <a:t>Vision AI 컴패니언 — TV 시청 중에 무엇이든 물어보세요. 콘텐츠를 일시 정지하거나 스마트폰이나 다른 기기를 사용하지 않아도 보던 큰 화면에서 실시간 답변을 받아 볼 수 있습니다.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(7)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퀀텀 Mini LED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리얼 QLED 100% 컬러볼륨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모션 터보 144Hz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퀀텀 AI 프로세서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사운드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Mini LED MH90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KU100MH90FXKR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240784"/>
          </a:xfrm>
          <a:prstGeom prst="roundRect">
            <a:avLst>
              <a:gd name="adj" fmla="val 258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27787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1" b="1" dirty="0">
                <a:solidFill>
                  <a:srgbClr val="FFFFFF"/>
                </a:solidFill>
              </a:rPr>
              <a:t>1</a:t>
            </a:r>
            <a:endParaRPr lang="en-US" sz="1271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1099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81E"/>
                </a:solidFill>
              </a:rPr>
              <a:t>Mini LED — Mini LED는 각 구역의 밝기를 독립적으로 제어할 수 있어 전체적으로 더 선명한 대비와 더 정교한 컬러 표현이 가능합니다.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49808" y="35763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1" b="1" dirty="0">
                <a:solidFill>
                  <a:srgbClr val="FFFFFF"/>
                </a:solidFill>
              </a:rPr>
              <a:t>2</a:t>
            </a:r>
            <a:endParaRPr lang="en-US" sz="1271" dirty="0"/>
          </a:p>
        </p:txBody>
      </p:sp>
      <p:sp>
        <p:nvSpPr>
          <p:cNvPr id="11" name="Text 9"/>
          <p:cNvSpPr/>
          <p:nvPr/>
        </p:nvSpPr>
        <p:spPr>
          <a:xfrm>
            <a:off x="1170432" y="3056128"/>
            <a:ext cx="4261104" cy="1351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81E"/>
                </a:solidFill>
              </a:rPr>
              <a:t>AI 축구 모드 — 현장에 있는 것 처럼, 모든 경기를 월드컵의 순간으로 만들 수 있습니다. 이제 비싼 경기장 티켓팅 대신 집에서 AI 축구 모드를 ON 하세요.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49808" y="50007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1" b="1" dirty="0">
                <a:solidFill>
                  <a:srgbClr val="FFFFFF"/>
                </a:solidFill>
              </a:rPr>
              <a:t>3</a:t>
            </a:r>
            <a:endParaRPr lang="en-US" sz="1271" dirty="0"/>
          </a:p>
        </p:txBody>
      </p:sp>
      <p:sp>
        <p:nvSpPr>
          <p:cNvPr id="13" name="Text 11"/>
          <p:cNvSpPr/>
          <p:nvPr/>
        </p:nvSpPr>
        <p:spPr>
          <a:xfrm>
            <a:off x="1170432" y="4480560"/>
            <a:ext cx="4261104" cy="1351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81E"/>
                </a:solidFill>
              </a:rPr>
              <a:t>Vision AI 컴패니언 — TV 시청 중에 무엇이든 물어보세요. 콘텐츠를 일시 정지하거나 스마트폰이나 다른 기기를 사용하지 않아도 보던 큰 화면에서 실시간 답변을 받아 볼 수 있습니다.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(4)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Mini LED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모션 터보 144Hz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Mini LED MH70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KU85MH70AFXKR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4241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139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Mini LED — Mini LED는 각 구역의 밝기를 독립적으로 제어할 수 있어 전체적으로 더 선명한 대비와 더 정교한 컬러 표현이 가능합니다.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40192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348736"/>
            <a:ext cx="4261104" cy="1652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181E"/>
                </a:solidFill>
              </a:rPr>
              <a:t>Vision AI 컴패니언 — TV 시청 중에 무엇이든 물어보세요. 콘텐츠를 일시 정지하거나 스마트폰이나 다른 기기를 사용하지 않아도 보던 큰 화면에서 실시간 답변을 받아 볼 수 있습니다.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(4)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Mini LED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모션 터보 144Hz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AI 축구 모드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The Frame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KQ98LSH03EFXKR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291584"/>
          </a:xfrm>
          <a:prstGeom prst="roundRect">
            <a:avLst>
              <a:gd name="adj" fmla="val 255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1531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8" b="1" dirty="0">
                <a:solidFill>
                  <a:srgbClr val="FFFFFF"/>
                </a:solidFill>
              </a:rPr>
              <a:t>1</a:t>
            </a:r>
            <a:endParaRPr lang="en-US" sz="1148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774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81E"/>
                </a:solidFill>
              </a:rPr>
              <a:t>Vision AI 컴패니언 — The Frame에도 VAC가 적용되어 삼성 tv의 스마트함을 누리실 수 있습니다.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9808" y="319024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8" b="1" dirty="0">
                <a:solidFill>
                  <a:srgbClr val="FFFFFF"/>
                </a:solidFill>
              </a:rPr>
              <a:t>2</a:t>
            </a:r>
            <a:endParaRPr lang="en-US" sz="1148" dirty="0"/>
          </a:p>
        </p:txBody>
      </p:sp>
      <p:sp>
        <p:nvSpPr>
          <p:cNvPr id="11" name="Text 9"/>
          <p:cNvSpPr/>
          <p:nvPr/>
        </p:nvSpPr>
        <p:spPr>
          <a:xfrm>
            <a:off x="1170432" y="2731008"/>
            <a:ext cx="4261104" cy="1229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81E"/>
                </a:solidFill>
              </a:rPr>
              <a:t>모던 프레임 디자인 — 우아하면서 모던한 프레임 디자인은 집안 모든 곳에 액자처럼 조화롭게 어울립니다. 다양한 재질과 색상의 베젤로 나만의 감각을 더한 The Frame을 완성하세요.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437896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8" b="1" dirty="0">
                <a:solidFill>
                  <a:srgbClr val="FFFFFF"/>
                </a:solidFill>
              </a:rPr>
              <a:t>3</a:t>
            </a:r>
            <a:endParaRPr lang="en-US" sz="1148" dirty="0"/>
          </a:p>
        </p:txBody>
      </p:sp>
      <p:sp>
        <p:nvSpPr>
          <p:cNvPr id="13" name="Text 11"/>
          <p:cNvSpPr/>
          <p:nvPr/>
        </p:nvSpPr>
        <p:spPr>
          <a:xfrm>
            <a:off x="1170432" y="4033520"/>
            <a:ext cx="4261104" cy="1001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81E"/>
                </a:solidFill>
              </a:rPr>
              <a:t>무반사 기술 — UL인증 받은 삼성의 무반사기술이 적용되어 빛 반사 걱정없이 TV 시청은 물론 예술 작품 감상에도 최적인 디스플레이를 제공합니다.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49808" y="534009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8" b="1" dirty="0">
                <a:solidFill>
                  <a:srgbClr val="FFFFFF"/>
                </a:solidFill>
              </a:rPr>
              <a:t>4</a:t>
            </a:r>
            <a:endParaRPr lang="en-US" sz="1148" dirty="0"/>
          </a:p>
        </p:txBody>
      </p:sp>
      <p:sp>
        <p:nvSpPr>
          <p:cNvPr id="15" name="Text 13"/>
          <p:cNvSpPr/>
          <p:nvPr/>
        </p:nvSpPr>
        <p:spPr>
          <a:xfrm>
            <a:off x="1170432" y="5108448"/>
            <a:ext cx="4261104" cy="774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81E"/>
                </a:solidFill>
              </a:rPr>
              <a:t>월 마운트 설치 가이드 제공 — 상자에 포함된 월 마운트 가이드를 사용해 프레임을 보다 쉽게 설치 하실 수 있습니다.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(9)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26년 The Frame 차별화 포인트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모던 프레임 디자인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무선 원 커넥트 박스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아트 모드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Neo QLED 화질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무반사 기술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월 마운트 가이드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Q 심포니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Crystal UHD UH9000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KU98UH9000FXKR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3722624"/>
          </a:xfrm>
          <a:prstGeom prst="roundRect">
            <a:avLst>
              <a:gd name="adj" fmla="val 2948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8033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5" b="1" dirty="0">
                <a:solidFill>
                  <a:srgbClr val="FFFFFF"/>
                </a:solidFill>
              </a:rPr>
              <a:t>1</a:t>
            </a:r>
            <a:endParaRPr lang="en-US" sz="1025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90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81E"/>
                </a:solidFill>
              </a:rPr>
              <a:t>Vision AI 컴패니언 — Crystral UHD까지 VAC가 적용되어 삼성 tv의 스마트함을 누리실 수 있습니다. TV 시청 중에 무엇이든 물어보고 실시간 답변을 받아 보세요.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305612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5" b="1" dirty="0">
                <a:solidFill>
                  <a:srgbClr val="FFFFFF"/>
                </a:solidFill>
              </a:rPr>
              <a:t>2</a:t>
            </a:r>
            <a:endParaRPr lang="en-US" sz="1025" dirty="0"/>
          </a:p>
        </p:txBody>
      </p:sp>
      <p:sp>
        <p:nvSpPr>
          <p:cNvPr id="11" name="Text 9"/>
          <p:cNvSpPr/>
          <p:nvPr/>
        </p:nvSpPr>
        <p:spPr>
          <a:xfrm>
            <a:off x="1170432" y="2861056"/>
            <a:ext cx="4261104" cy="701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81E"/>
                </a:solidFill>
              </a:rPr>
              <a:t>4K 화질 업스케일링 — 좋아하는 콘텐츠를 4K 화질로 시청하는 4K 업스케일링을 제공합니다. 저해상도 영상도 4K급 화질로 시청하세요.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49808" y="38303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5" b="1" dirty="0">
                <a:solidFill>
                  <a:srgbClr val="FFFFFF"/>
                </a:solidFill>
              </a:rPr>
              <a:t>3</a:t>
            </a:r>
            <a:endParaRPr lang="en-US" sz="1025" dirty="0"/>
          </a:p>
        </p:txBody>
      </p:sp>
      <p:sp>
        <p:nvSpPr>
          <p:cNvPr id="13" name="Text 11"/>
          <p:cNvSpPr/>
          <p:nvPr/>
        </p:nvSpPr>
        <p:spPr>
          <a:xfrm>
            <a:off x="1170432" y="3635248"/>
            <a:ext cx="4261104" cy="701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81E"/>
                </a:solidFill>
              </a:rPr>
              <a:t>다이나믹 사운드 — 4D 영화를 보는 것 처럼 TV 사운드가 영상의 움직임을 따라 움직여 입체적이고 역동적인 생동감을 느낄 수 있습니다.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49808" y="470611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5" b="1" dirty="0">
                <a:solidFill>
                  <a:srgbClr val="FFFFFF"/>
                </a:solidFill>
              </a:rPr>
              <a:t>4</a:t>
            </a:r>
            <a:endParaRPr lang="en-US" sz="1025" dirty="0"/>
          </a:p>
        </p:txBody>
      </p:sp>
      <p:sp>
        <p:nvSpPr>
          <p:cNvPr id="15" name="Text 13"/>
          <p:cNvSpPr/>
          <p:nvPr/>
        </p:nvSpPr>
        <p:spPr>
          <a:xfrm>
            <a:off x="1170432" y="4409440"/>
            <a:ext cx="4261104" cy="904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81E"/>
                </a:solidFill>
              </a:rPr>
              <a:t>삼성 TV 플러스 — 영화, 드라마, 예능, 스포츠까지 인터넷만 연결하면 다양한 무료 콘텐츠를 언제든지 즐길 수 있는 TV 플러스를 만나 보세요.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(4)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4K 화질 업스케일링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다이나믹 사운드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삼성 TV 플러스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TV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Crystal UHD UH8000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KU85UH8000FXKR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291584"/>
          </a:xfrm>
          <a:prstGeom prst="roundRect">
            <a:avLst>
              <a:gd name="adj" fmla="val 2557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11531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8" b="1" dirty="0">
                <a:solidFill>
                  <a:srgbClr val="FFFFFF"/>
                </a:solidFill>
              </a:rPr>
              <a:t>1</a:t>
            </a:r>
            <a:endParaRPr lang="en-US" sz="1148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774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81E"/>
                </a:solidFill>
              </a:rPr>
              <a:t>Vision AI 컴패니언 — Crystral UHD까지 VAC가 적용되어 삼성 tv의 스마트함을 누리실 수 있습니다.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9808" y="3076448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8" b="1" dirty="0">
                <a:solidFill>
                  <a:srgbClr val="FFFFFF"/>
                </a:solidFill>
              </a:rPr>
              <a:t>2</a:t>
            </a:r>
            <a:endParaRPr lang="en-US" sz="1148" dirty="0"/>
          </a:p>
        </p:txBody>
      </p:sp>
      <p:sp>
        <p:nvSpPr>
          <p:cNvPr id="11" name="Text 9"/>
          <p:cNvSpPr/>
          <p:nvPr/>
        </p:nvSpPr>
        <p:spPr>
          <a:xfrm>
            <a:off x="1170432" y="2731008"/>
            <a:ext cx="4261104" cy="1001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81E"/>
                </a:solidFill>
              </a:rPr>
              <a:t>4K 화질 업스케일링 — 좋아하는 콘텐츠를 4K 화질로 시청하는 4K 업스케일링을 제공합니다. 저해상도 영상도 4K급 화질로 시청하세요.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415137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8" b="1" dirty="0">
                <a:solidFill>
                  <a:srgbClr val="FFFFFF"/>
                </a:solidFill>
              </a:rPr>
              <a:t>3</a:t>
            </a:r>
            <a:endParaRPr lang="en-US" sz="1148" dirty="0"/>
          </a:p>
        </p:txBody>
      </p:sp>
      <p:sp>
        <p:nvSpPr>
          <p:cNvPr id="13" name="Text 11"/>
          <p:cNvSpPr/>
          <p:nvPr/>
        </p:nvSpPr>
        <p:spPr>
          <a:xfrm>
            <a:off x="1170432" y="3805936"/>
            <a:ext cx="4261104" cy="1001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81E"/>
                </a:solidFill>
              </a:rPr>
              <a:t>다이나믹 사운드 — 4D 영화를 보는 것 처럼 TV 사운드가 영상의 움직임을 따라 움직여 입체적이고 역동적인 생동감을 느낄 수 있습니다.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49808" y="522630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48" b="1" dirty="0">
                <a:solidFill>
                  <a:srgbClr val="FFFFFF"/>
                </a:solidFill>
              </a:rPr>
              <a:t>4</a:t>
            </a:r>
            <a:endParaRPr lang="en-US" sz="1148" dirty="0"/>
          </a:p>
        </p:txBody>
      </p:sp>
      <p:sp>
        <p:nvSpPr>
          <p:cNvPr id="15" name="Text 13"/>
          <p:cNvSpPr/>
          <p:nvPr/>
        </p:nvSpPr>
        <p:spPr>
          <a:xfrm>
            <a:off x="1170432" y="4880864"/>
            <a:ext cx="4261104" cy="1001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81E"/>
                </a:solidFill>
              </a:rPr>
              <a:t>삼성 TV 플러스 — 영화, 드라마, 예능, 스포츠까지 인터넷만 연결하면 다양한 무료 콘텐츠를 언제든지 즐길 수 있는 TV 플러스를 만나 보세요.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(4)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Vision AI 컴패니언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4K 화질 업스케일링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다이나믹 사운드</a:t>
            </a:r>
            <a:endParaRPr lang="en-US" sz="11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50" dirty="0">
                <a:solidFill>
                  <a:srgbClr val="15181E"/>
                </a:solidFill>
              </a:rPr>
              <a:t>삼성 TV 플러스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428A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D2FE"/>
                </a:solidFill>
              </a:rPr>
              <a:t>에어컨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438912"/>
            <a:ext cx="798545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2026 Bespoke AI 무풍콤보 갤러리 프로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534095" y="475488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7D2FE"/>
                </a:solidFill>
              </a:rPr>
              <a:t>AF90H25D36WN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공식 셀링포인트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029200" cy="4066032"/>
          </a:xfrm>
          <a:prstGeom prst="roundRect">
            <a:avLst>
              <a:gd name="adj" fmla="val 2699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02590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1" b="1" dirty="0">
                <a:solidFill>
                  <a:srgbClr val="FFFFFF"/>
                </a:solidFill>
              </a:rPr>
              <a:t>1</a:t>
            </a:r>
            <a:endParaRPr lang="en-US" sz="1271" dirty="0"/>
          </a:p>
        </p:txBody>
      </p:sp>
      <p:sp>
        <p:nvSpPr>
          <p:cNvPr id="9" name="Text 7"/>
          <p:cNvSpPr/>
          <p:nvPr/>
        </p:nvSpPr>
        <p:spPr>
          <a:xfrm>
            <a:off x="1170432" y="1883664"/>
            <a:ext cx="4261104" cy="595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81E"/>
                </a:solidFill>
              </a:rPr>
              <a:t>공간의 품격을 한층 높이는 패브릭 패턴과 일체형 바디로 완성된 세련된 디자인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49808" y="2820416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1" b="1" dirty="0">
                <a:solidFill>
                  <a:srgbClr val="FFFFFF"/>
                </a:solidFill>
              </a:rPr>
              <a:t>2</a:t>
            </a:r>
            <a:endParaRPr lang="en-US" sz="1271" dirty="0"/>
          </a:p>
        </p:txBody>
      </p:sp>
      <p:sp>
        <p:nvSpPr>
          <p:cNvPr id="11" name="Text 9"/>
          <p:cNvSpPr/>
          <p:nvPr/>
        </p:nvSpPr>
        <p:spPr>
          <a:xfrm>
            <a:off x="1170432" y="2552192"/>
            <a:ext cx="4261104" cy="847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81E"/>
                </a:solidFill>
              </a:rPr>
              <a:t>업그레이드 된 AI 기능으로 상황·공간 맞춤형 기류를 제공하는 AI∙모션 바람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749808" y="374091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1" b="1" dirty="0">
                <a:solidFill>
                  <a:srgbClr val="FFFFFF"/>
                </a:solidFill>
              </a:rPr>
              <a:t>3</a:t>
            </a:r>
            <a:endParaRPr lang="en-US" sz="1271" dirty="0"/>
          </a:p>
        </p:txBody>
      </p:sp>
      <p:sp>
        <p:nvSpPr>
          <p:cNvPr id="13" name="Text 11"/>
          <p:cNvSpPr/>
          <p:nvPr/>
        </p:nvSpPr>
        <p:spPr>
          <a:xfrm>
            <a:off x="1170432" y="3472688"/>
            <a:ext cx="4261104" cy="847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81E"/>
                </a:solidFill>
              </a:rPr>
              <a:t>직바람 없는 무풍과 불필요하게 온도를 낮추지 않고, 춥지 않게 제습하는 쾌적제습이 만난 무풍콤보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49808" y="4535424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1" b="1" dirty="0">
                <a:solidFill>
                  <a:srgbClr val="FFFFFF"/>
                </a:solidFill>
              </a:rPr>
              <a:t>4</a:t>
            </a:r>
            <a:endParaRPr lang="en-US" sz="1271" dirty="0"/>
          </a:p>
        </p:txBody>
      </p:sp>
      <p:sp>
        <p:nvSpPr>
          <p:cNvPr id="15" name="Text 13"/>
          <p:cNvSpPr/>
          <p:nvPr/>
        </p:nvSpPr>
        <p:spPr>
          <a:xfrm>
            <a:off x="1170432" y="4393184"/>
            <a:ext cx="4261104" cy="595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81E"/>
                </a:solidFill>
              </a:rPr>
              <a:t>공간까지 학습해, 상황에 맞게 온습도까지 알아서 맞춰주는 AI 쾌적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749808" y="5203952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1" b="1" dirty="0">
                <a:solidFill>
                  <a:srgbClr val="FFFFFF"/>
                </a:solidFill>
              </a:rPr>
              <a:t>5</a:t>
            </a:r>
            <a:endParaRPr lang="en-US" sz="1271" dirty="0"/>
          </a:p>
        </p:txBody>
      </p:sp>
      <p:sp>
        <p:nvSpPr>
          <p:cNvPr id="17" name="Text 15"/>
          <p:cNvSpPr/>
          <p:nvPr/>
        </p:nvSpPr>
        <p:spPr>
          <a:xfrm>
            <a:off x="1170432" y="5061712"/>
            <a:ext cx="4261104" cy="595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81E"/>
                </a:solidFill>
              </a:rPr>
              <a:t>체계적으로 전기료를 관리해주는 AI 에너지 절약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5897880" y="14173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A0"/>
                </a:solidFill>
              </a:rPr>
              <a:t>핵심 키워드 (22)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978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01. 공간의 품격을 한층 높이는 패브릭 패턴과 일체형 바디로 완성된 세련된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02. 업그레이드 된 AI 기능으로 상황·공간 맞춤형 기류를 제공하는 AI∙모션 바람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04. 공간까지 학습해, 상황에 맞게 온습도까지 알아서 맞춰주는 AI 쾌적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05. 체계적으로 전기료를 관리해주는 AI 에너지 절약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06. 서큘레이터로 사각지대 걱정 없이 빠르게 하이패스 서큘 냉방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07. 손쉽게 열어 간편하게 직접 관리할 수 있는 이지케어 셀프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08. 자동으로 알아서 청소, 관리를 해주는 이지케어 스마트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10. 알아서 맞춤 관리하고 모바일로 간편하게 제어하는 SmartThings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일체형 바디와 옆면의 패브릭 패턴으로 더 고급스럽고 세련된 디자인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모션 디스플레이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사용자의 위치와 부재, 활동량을 감지하는 모션 레이더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41080" y="1755648"/>
            <a:ext cx="2651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AI 직접/AI간접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MAX / 순환 / 원거리 / 무풍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직바람을 덜어내고도 시원함은 변함없이 와이드 무풍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소음을 덜어내고도 쾌적하게 28dB 무풍 저소음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냉매를 섬세하게 조절해 불쾌한 추위 없이 쾌적하게 온습도를 유지해주는 쾌적제습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습도를 센싱해 필요한 만큼만 에너지를 사용하는 쾌적제습 최대 30% 절전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스마트싱스로 전기료 절약을 체계적으로 관리해주는 에너지 절감 목표 설정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업그레이드된 AI 절약모드로 상황별 맞춤절전이 가능해 최대 30% 절전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Bespoke AI 무풍콤보 갤러리 프로 전 모델 에너지 소비효율 1,2등급!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무풍모드 사용 시 소비전력 최대 90% 절약</a:t>
            </a:r>
            <a:endParaRPr lang="en-US" sz="90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900" dirty="0">
                <a:solidFill>
                  <a:srgbClr val="15181E"/>
                </a:solidFill>
              </a:rPr>
              <a:t>사람의 움직임을 판단해 알아서 냉방을 조절해주는 부재 절전(레이더)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6199632"/>
            <a:ext cx="11094415" cy="0"/>
          </a:xfrm>
          <a:prstGeom prst="line">
            <a:avLst/>
          </a:prstGeom>
          <a:noFill/>
          <a:ln w="12700">
            <a:solidFill>
              <a:srgbClr val="D8DD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6291072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출처 samsung.com/sec 공식 셀링포인트 · 제품 사양은 담지 않았습니다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899855" y="629107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270"/>
                </a:solidFill>
              </a:rPr>
              <a:t>2026-09-02 확인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삼성전자판매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모델별 핵심 USP</dc:title>
  <dc:subject>PptxGenJS Presentation</dc:subject>
  <dc:creator>경원영업팀</dc:creator>
  <cp:lastModifiedBy>경원영업팀</cp:lastModifiedBy>
  <cp:revision>1</cp:revision>
  <dcterms:created xsi:type="dcterms:W3CDTF">2026-09-03T01:42:35Z</dcterms:created>
  <dcterms:modified xsi:type="dcterms:W3CDTF">2026-09-03T01:42:35Z</dcterms:modified>
</cp:coreProperties>
</file>