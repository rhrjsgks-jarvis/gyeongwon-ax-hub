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9Wy/2gJXanPUMRIxy3ZSMhTb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c50b3b7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6c50b3b7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실제 화면에서 조건을 직접 쳐 보세요. 즉시 뜨는 것이 요점입니다.</a:t>
            </a:r>
            <a:endParaRPr/>
          </a:p>
        </p:txBody>
      </p:sp>
      <p:sp>
        <p:nvSpPr>
          <p:cNvPr id="83" name="Google Shape;83;g3f6c50b3b7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c50b3b74_0_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f6c50b3b74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가정값 두 개(1건당 3분 · 재방문 단가)는 시범 13일로 측정하지 못했습니다. 회사 기준 수치를 넣으면 그대로 금액이 나옵니다.</a:t>
            </a:r>
            <a:br>
              <a:rPr lang="en-US"/>
            </a:br>
            <a:r>
              <a:rPr lang="en-US"/>
              <a:t>또 하나의 가정 — 65개 매장이 시범 10개 매장과 같은 빈도로 쓴다고 봤습니다. 시범 매장은 관심도가 높았을 수 있어 초기에는 낮게 나올 수 있습니다.</a:t>
            </a:r>
            <a:br>
              <a:rPr lang="en-US"/>
            </a:br>
            <a:r>
              <a:rPr lang="en-US"/>
              <a:t>확대 후 3개월이면 상담 건수 · 설치 재방문 · 취소 건수로 실측할 수 있습니다.</a:t>
            </a:r>
            <a:endParaRPr/>
          </a:p>
        </p:txBody>
      </p:sp>
      <p:sp>
        <p:nvSpPr>
          <p:cNvPr id="233" name="Google Shape;23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8A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58368" y="19659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F5"/>
              </a:buClr>
              <a:buSzPts val="2000"/>
              <a:buFont typeface="Malgun Gothic"/>
              <a:buNone/>
            </a:pPr>
            <a:r>
              <a:rPr b="0" i="0" lang="en-US" sz="2000" u="none" cap="none" strike="noStrike">
                <a:solidFill>
                  <a:srgbClr val="C7D0F5"/>
                </a:solidFill>
                <a:latin typeface="Arial"/>
                <a:ea typeface="Arial"/>
                <a:cs typeface="Arial"/>
                <a:sym typeface="Arial"/>
              </a:rPr>
              <a:t>Fast · Right · Every time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697480"/>
            <a:ext cx="25146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697480"/>
            <a:ext cx="2514600" cy="54864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28163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속도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090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상담 시간을 줄여준다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337560" y="2697480"/>
            <a:ext cx="25146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337560" y="2697480"/>
            <a:ext cx="2514600" cy="54864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520440" y="28163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정확도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520440" y="3090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잘못된 정보를 전달하지 않는다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035040" y="2697480"/>
            <a:ext cx="25146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035040" y="2697480"/>
            <a:ext cx="2514600" cy="54864"/>
          </a:xfrm>
          <a:prstGeom prst="rect">
            <a:avLst/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217920" y="28163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217920" y="3090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누가 사용해도 같은 답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58368" y="379476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13일</a:t>
            </a: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· 10개 매장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시범운영 결과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58368" y="41148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F5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C7D0F5"/>
                </a:solidFill>
                <a:latin typeface="Arial"/>
                <a:ea typeface="Arial"/>
                <a:cs typeface="Arial"/>
                <a:sym typeface="Arial"/>
              </a:rPr>
              <a:t>경원영업팀 · 2026.08   |   외부 개발비 0원 · 운영비 0원 · APP 설치 불필요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기획 배경 및 타겟 (Why &amp; Who)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1330000"/>
            <a:ext cx="8321040" cy="155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330000"/>
            <a:ext cx="73152" cy="15500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13232" y="1510000"/>
            <a:ext cx="7865008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왜 이 프로그램을 만들었는가?</a:t>
            </a:r>
            <a:endParaRPr b="1" i="0" sz="15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13232" y="1870000"/>
            <a:ext cx="7865008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삼성닷컴 · 카탈로그에 필요한 정보들은 이미 있었지만, 상담 중 사용하기 번거로웠습니다.</a:t>
            </a:r>
            <a:endParaRPr b="1" i="0" sz="125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13232" y="2310000"/>
            <a:ext cx="7865008" cy="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그래서 외부 개발 없이, 팀 내부에서 만들었습니다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— 개발비 0원 · 운영비 0원, 공식 자료를 그대로 가져와 하나의 계정으로 사용 가능합니다.</a:t>
            </a:r>
            <a:endParaRPr b="0" i="0" sz="110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3050000"/>
            <a:ext cx="8321040" cy="155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3050000"/>
            <a:ext cx="73152" cy="1550000"/>
          </a:xfrm>
          <a:prstGeom prst="rect">
            <a:avLst/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13232" y="3230000"/>
            <a:ext cx="7865008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누가 사용하는가?</a:t>
            </a:r>
            <a:endParaRPr b="1" i="0" sz="1500" u="none" cap="none" strike="noStrike">
              <a:solidFill>
                <a:srgbClr val="7C2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13232" y="3590000"/>
            <a:ext cx="7865008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매장에서 고객을 직접 응대하는 상담 매니저</a:t>
            </a:r>
            <a:endParaRPr b="1" i="0" sz="125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13232" y="4030000"/>
            <a:ext cx="7865008" cy="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경원영업팀 65개 매장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— 로그인, 설치, 계정 발급 없이 매장 모바일 · 태블릿 · PC에서 바로 사용 가능합니다.</a:t>
            </a:r>
            <a:endParaRPr b="0" i="0" sz="110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2/10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상담사의 행동이 바뀌면 지점 숫자가 바뀝니다</a:t>
            </a:r>
            <a:endParaRPr b="1" i="0" sz="2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기존에는 이렇게 일했습니다 → 세일즈 코파일럿으로 이렇게 바뀝니다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1330000"/>
            <a:ext cx="3931920" cy="325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54880" y="1330000"/>
            <a:ext cx="3931920" cy="3250000"/>
          </a:xfrm>
          <a:prstGeom prst="rect">
            <a:avLst/>
          </a:prstGeom>
          <a:solidFill>
            <a:srgbClr val="F2F5FF"/>
          </a:solidFill>
          <a:ln cap="flat" cmpd="sng" w="12700">
            <a:solidFill>
              <a:srgbClr val="C3C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1330000"/>
            <a:ext cx="73152" cy="3250000"/>
          </a:xfrm>
          <a:prstGeom prst="rect">
            <a:avLst/>
          </a:prstGeom>
          <a:solidFill>
            <a:srgbClr val="5B6478"/>
          </a:solidFill>
          <a:ln cap="flat" cmpd="sng" w="12700">
            <a:solidFill>
              <a:srgbClr val="5B6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54880" y="1330000"/>
            <a:ext cx="73152" cy="32500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3232" y="1450000"/>
            <a:ext cx="34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기존 방식 (As-Is)</a:t>
            </a:r>
            <a:endParaRPr b="1" i="0" sz="150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10912" y="1450000"/>
            <a:ext cx="34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AI 도입 후 (To-Be)</a:t>
            </a:r>
            <a:endParaRPr b="1" i="0" sz="15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13232" y="19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속도</a:t>
            </a:r>
            <a:endParaRPr b="1" i="0" sz="10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13232" y="2230000"/>
            <a:ext cx="34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카탈로그로는 고객 니즈 충족 모델을 찾지 못한다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010912" y="19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속도</a:t>
            </a:r>
            <a:endParaRPr b="1" i="0" sz="10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010912" y="2230000"/>
            <a:ext cx="34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검색창에 조건을 입력하면 확인 가능하다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13232" y="27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정확도</a:t>
            </a:r>
            <a:endParaRPr b="1" i="0" sz="10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13232" y="3030000"/>
            <a:ext cx="34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 제약 조건을 몰라 계약 후 설치 당일 취소된다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10912" y="27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정확도</a:t>
            </a:r>
            <a:endParaRPr b="1" i="0" sz="10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10912" y="3030000"/>
            <a:ext cx="34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판매 전 설치 가이드를 30초 만에 확인한다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13232" y="35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1" i="0" sz="1000" u="none" cap="none" strike="noStrike">
              <a:solidFill>
                <a:srgbClr val="7C2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13232" y="3830000"/>
            <a:ext cx="34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1100">
                <a:solidFill>
                  <a:srgbClr val="0B1020"/>
                </a:solidFill>
              </a:rPr>
              <a:t>사람마다 답이 달라 경력 편차가 </a:t>
            </a:r>
            <a:endParaRPr sz="1100">
              <a:solidFill>
                <a:srgbClr val="0B1020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lang="en-US" sz="1100">
                <a:solidFill>
                  <a:srgbClr val="0B1020"/>
                </a:solidFill>
              </a:rPr>
              <a:t>그대로 응대 품질 편차가 된다</a:t>
            </a:r>
            <a:endParaRPr i="0" sz="1100" u="none" cap="none" strike="noStrike">
              <a:solidFill>
                <a:srgbClr val="0B1020"/>
              </a:solidFill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10912" y="35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1" i="0" sz="1000" u="none" cap="none" strike="noStrike">
              <a:solidFill>
                <a:srgbClr val="7C2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10912" y="3830000"/>
            <a:ext cx="3675888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0B1020"/>
                </a:solidFill>
              </a:rPr>
              <a:t>신입사원도 첫날부터 동일한 수준으로 응대한다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3/10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6c50b3b74_0_0"/>
          <p:cNvSpPr/>
          <p:nvPr/>
        </p:nvSpPr>
        <p:spPr>
          <a:xfrm>
            <a:off x="457200" y="274320"/>
            <a:ext cx="868800" cy="274200"/>
          </a:xfrm>
          <a:prstGeom prst="roundRect">
            <a:avLst>
              <a:gd fmla="val 50000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6c50b3b74_0_0"/>
          <p:cNvSpPr/>
          <p:nvPr/>
        </p:nvSpPr>
        <p:spPr>
          <a:xfrm>
            <a:off x="457200" y="274320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속도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6c50b3b74_0_0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상담의</a:t>
            </a:r>
            <a:r>
              <a:rPr b="1" lang="en-US" sz="2500">
                <a:solidFill>
                  <a:srgbClr val="0B1020"/>
                </a:solidFill>
              </a:rPr>
              <a:t> 질을 높이고 시간 낭비를 막아주는</a:t>
            </a: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 모델 파인더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6c50b3b74_0_0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시범 기간 두 번째로 많이 열린 화면 — 120건 · 2위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6c50b3b74_0_0"/>
          <p:cNvSpPr/>
          <p:nvPr/>
        </p:nvSpPr>
        <p:spPr>
          <a:xfrm>
            <a:off x="4530475" y="1476725"/>
            <a:ext cx="436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키워드 한 줄이면 조건이 겹쳐 좁혀집니다</a:t>
            </a:r>
            <a:endParaRPr b="1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(무풍 · 공기청정  — 여러 가지 키워드로 한 번에)</a:t>
            </a:r>
            <a:endParaRPr b="0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6c50b3b74_0_0"/>
          <p:cNvSpPr/>
          <p:nvPr/>
        </p:nvSpPr>
        <p:spPr>
          <a:xfrm>
            <a:off x="4530475" y="2052800"/>
            <a:ext cx="4365000" cy="10515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6c50b3b74_0_0"/>
          <p:cNvSpPr/>
          <p:nvPr/>
        </p:nvSpPr>
        <p:spPr>
          <a:xfrm>
            <a:off x="4673328" y="2052800"/>
            <a:ext cx="412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카탈로그를 찾는 시간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: 모델명·치수·기능을 기억에서 꺼내야 합니다</a:t>
            </a:r>
            <a:endParaRPr b="0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한 줄 조건 검색 시 모델 리스트 즉시 확인 가능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6c50b3b74_0_0"/>
          <p:cNvSpPr/>
          <p:nvPr/>
        </p:nvSpPr>
        <p:spPr>
          <a:xfrm>
            <a:off x="4530475" y="3287245"/>
            <a:ext cx="4365000" cy="4023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6c50b3b74_0_0"/>
          <p:cNvSpPr/>
          <p:nvPr/>
        </p:nvSpPr>
        <p:spPr>
          <a:xfrm>
            <a:off x="4641575" y="3287250"/>
            <a:ext cx="563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매니저</a:t>
            </a:r>
            <a:endParaRPr b="1" i="0" sz="9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6c50b3b74_0_0"/>
          <p:cNvSpPr/>
          <p:nvPr/>
        </p:nvSpPr>
        <p:spPr>
          <a:xfrm>
            <a:off x="5205058" y="3287245"/>
            <a:ext cx="357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고민하며 낭비하던 시간이 줄어 매끄러운 상담 가능</a:t>
            </a:r>
            <a:endParaRPr b="0" i="0" sz="9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6c50b3b74_0_0"/>
          <p:cNvSpPr/>
          <p:nvPr/>
        </p:nvSpPr>
        <p:spPr>
          <a:xfrm>
            <a:off x="4530475" y="3744448"/>
            <a:ext cx="4365000" cy="5121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6c50b3b74_0_0"/>
          <p:cNvSpPr/>
          <p:nvPr/>
        </p:nvSpPr>
        <p:spPr>
          <a:xfrm>
            <a:off x="4641583" y="3744448"/>
            <a:ext cx="515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지점</a:t>
            </a:r>
            <a:endParaRPr b="1" i="0" sz="9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6c50b3b74_0_0"/>
          <p:cNvSpPr/>
          <p:nvPr/>
        </p:nvSpPr>
        <p:spPr>
          <a:xfrm>
            <a:off x="5205058" y="3744448"/>
            <a:ext cx="3571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응대 회전율 — 응대 가능 고객 수 증가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g3f6c50b3b7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739" y="1788749"/>
            <a:ext cx="3876000" cy="2422500"/>
          </a:xfrm>
          <a:prstGeom prst="rect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" name="Google Shape;99;g3f6c50b3b74_0_0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6c50b3b74_0_0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6c50b3b74_0_0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6c50b3b74_0_0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4/10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5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6c50b3b74_0_56"/>
          <p:cNvSpPr/>
          <p:nvPr/>
        </p:nvSpPr>
        <p:spPr>
          <a:xfrm>
            <a:off x="457200" y="274320"/>
            <a:ext cx="868800" cy="274200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6c50b3b74_0_56"/>
          <p:cNvSpPr/>
          <p:nvPr/>
        </p:nvSpPr>
        <p:spPr>
          <a:xfrm>
            <a:off x="457200" y="274320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정확도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6c50b3b74_0_56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 조건을 계약 전에 확인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6c50b3b74_0_56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시범 기간 가장 많이 열린 화면 — 128건 · 1위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6c50b3b74_0_56"/>
          <p:cNvSpPr/>
          <p:nvPr/>
        </p:nvSpPr>
        <p:spPr>
          <a:xfrm>
            <a:off x="4530475" y="1476725"/>
            <a:ext cx="436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직관적인 확인이 가능한 제품별 설치 가이드</a:t>
            </a:r>
            <a:endParaRPr b="1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(21개 카테고리 · 전기 · 배수 · 이격 · 문 폭 사이즈)</a:t>
            </a:r>
            <a:endParaRPr b="0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6c50b3b74_0_56"/>
          <p:cNvSpPr/>
          <p:nvPr/>
        </p:nvSpPr>
        <p:spPr>
          <a:xfrm>
            <a:off x="4530475" y="2052800"/>
            <a:ext cx="4365000" cy="10515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6c50b3b74_0_56"/>
          <p:cNvSpPr/>
          <p:nvPr/>
        </p:nvSpPr>
        <p:spPr>
          <a:xfrm>
            <a:off x="4673328" y="2052800"/>
            <a:ext cx="412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설치 불가 시 손실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: 기사 재방문 비용, 일정 재조정 시간, 반품 손해 비용 등</a:t>
            </a:r>
            <a:endParaRPr b="0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판매 전 30초</a:t>
            </a:r>
            <a:r>
              <a:rPr b="1" lang="en-US" sz="1150">
                <a:solidFill>
                  <a:srgbClr val="5B6478"/>
                </a:solidFill>
              </a:rPr>
              <a:t> 확인이면 그 비용을 만회합니다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6c50b3b74_0_56"/>
          <p:cNvSpPr/>
          <p:nvPr/>
        </p:nvSpPr>
        <p:spPr>
          <a:xfrm>
            <a:off x="4530475" y="3287245"/>
            <a:ext cx="4365000" cy="4023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6c50b3b74_0_56"/>
          <p:cNvSpPr/>
          <p:nvPr/>
        </p:nvSpPr>
        <p:spPr>
          <a:xfrm>
            <a:off x="4641575" y="3287250"/>
            <a:ext cx="563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매니저</a:t>
            </a:r>
            <a:endParaRPr b="1" i="0" sz="9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6c50b3b74_0_56"/>
          <p:cNvSpPr/>
          <p:nvPr/>
        </p:nvSpPr>
        <p:spPr>
          <a:xfrm>
            <a:off x="5205058" y="3287245"/>
            <a:ext cx="357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 조건을 확인함으로</a:t>
            </a:r>
            <a:r>
              <a:rPr lang="en-US" sz="900">
                <a:solidFill>
                  <a:srgbClr val="0B1020"/>
                </a:solidFill>
              </a:rPr>
              <a:t>써</a:t>
            </a:r>
            <a:r>
              <a:rPr b="0" i="0" lang="en-US" sz="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 설치 불가로 인한 취소 확률을 낮춤</a:t>
            </a:r>
            <a:endParaRPr b="0" i="0" sz="9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6c50b3b74_0_56"/>
          <p:cNvSpPr/>
          <p:nvPr/>
        </p:nvSpPr>
        <p:spPr>
          <a:xfrm>
            <a:off x="4530475" y="3744448"/>
            <a:ext cx="4365000" cy="5121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6c50b3b74_0_56"/>
          <p:cNvSpPr/>
          <p:nvPr/>
        </p:nvSpPr>
        <p:spPr>
          <a:xfrm>
            <a:off x="4641583" y="3744448"/>
            <a:ext cx="515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지점</a:t>
            </a:r>
            <a:endParaRPr b="1" i="0" sz="9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6c50b3b74_0_56"/>
          <p:cNvSpPr/>
          <p:nvPr/>
        </p:nvSpPr>
        <p:spPr>
          <a:xfrm>
            <a:off x="5205058" y="3744448"/>
            <a:ext cx="3571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설치 재방문 · 일정 재조정 · 설치 불가 취소 감소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f6c50b3b74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652" y="1502849"/>
            <a:ext cx="1538087" cy="2994300"/>
          </a:xfrm>
          <a:prstGeom prst="rect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1" name="Google Shape;121;g3f6c50b3b74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1739" y="1502849"/>
            <a:ext cx="1538087" cy="2994300"/>
          </a:xfrm>
          <a:prstGeom prst="rect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g3f6c50b3b74_0_56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6c50b3b74_0_56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6c50b3b74_0_56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6c50b3b74_0_56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5/10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5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457200" y="274320"/>
            <a:ext cx="868800" cy="274200"/>
          </a:xfrm>
          <a:prstGeom prst="roundRect">
            <a:avLst>
              <a:gd fmla="val 50000" name="adj"/>
            </a:avLst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274320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누가 응대해도 같은 답이 나온다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지</a:t>
            </a:r>
            <a:r>
              <a:rPr lang="en-US" sz="1250">
                <a:solidFill>
                  <a:srgbClr val="5B6478"/>
                </a:solidFill>
              </a:rPr>
              <a:t>지점장이 일일이 확인할 수 없던 정보 편차가 사라집니다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30475" y="1476725"/>
            <a:ext cx="436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어느 매장에서 사용하더라도 동일한 화면</a:t>
            </a:r>
            <a:endParaRPr b="1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>
                <a:solidFill>
                  <a:srgbClr val="0B1020"/>
                </a:solidFill>
              </a:rPr>
              <a:t>제품 상세검색</a:t>
            </a: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 · 설치환경 · 타사비교 · AS · </a:t>
            </a:r>
            <a:r>
              <a:rPr lang="en-US" sz="1200">
                <a:solidFill>
                  <a:srgbClr val="0B1020"/>
                </a:solidFill>
              </a:rPr>
              <a:t>AI</a:t>
            </a: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구독 케어)</a:t>
            </a:r>
            <a:endParaRPr b="0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30475" y="2052800"/>
            <a:ext cx="4365000" cy="10515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673328" y="2052800"/>
            <a:ext cx="412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사람마다 답이 다르면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: 경력 편차가 곧 응대 품질 편차가 됩니다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30475" y="3287245"/>
            <a:ext cx="4365000" cy="4023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641575" y="3287250"/>
            <a:ext cx="563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매니저</a:t>
            </a:r>
            <a:endParaRPr b="1" i="0" sz="9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205058" y="3287245"/>
            <a:ext cx="357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외워서 답하지 않고, 같은 화면을 보고 응대합니다</a:t>
            </a:r>
            <a:endParaRPr b="0" i="0" sz="9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530475" y="3744448"/>
            <a:ext cx="4365000" cy="512100"/>
          </a:xfrm>
          <a:prstGeom prst="rect">
            <a:avLst/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641583" y="3744448"/>
            <a:ext cx="515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지점</a:t>
            </a:r>
            <a:endParaRPr b="1" i="0" sz="9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205058" y="3744448"/>
            <a:ext cx="3571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신입사원</a:t>
            </a:r>
            <a:r>
              <a:rPr b="1" lang="en-US" sz="1200">
                <a:solidFill>
                  <a:srgbClr val="FFFFFF"/>
                </a:solidFill>
              </a:rPr>
              <a:t>도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첫날부터 </a:t>
            </a:r>
            <a:r>
              <a:rPr b="1" lang="en-US" sz="1200">
                <a:solidFill>
                  <a:srgbClr val="FFFFFF"/>
                </a:solidFill>
              </a:rPr>
              <a:t>동일한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수준으로 응대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739" y="1788749"/>
            <a:ext cx="3876000" cy="2422500"/>
          </a:xfrm>
          <a:prstGeom prst="rect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p5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6/10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개발 중인 프로그램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「개발 중인 서비스」에서 지금 확인 가능합니다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457200" y="1330000"/>
            <a:ext cx="3931920" cy="190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457200" y="1330000"/>
            <a:ext cx="73152" cy="19000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713232" y="1500000"/>
            <a:ext cx="2655888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가전 배치 시뮬레이터</a:t>
            </a:r>
            <a:endParaRPr b="1" i="0" sz="15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3489120" y="1520000"/>
            <a:ext cx="700000" cy="29000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3489120" y="1520000"/>
            <a:ext cx="7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개발중</a:t>
            </a:r>
            <a:endParaRPr b="1" i="0" sz="900" u="none" cap="none" strike="noStrike">
              <a:solidFill>
                <a:srgbClr val="9240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713232" y="1890000"/>
            <a:ext cx="3475888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구매할 가전을 고르면 도면에 맞춰 배치를 추천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— 이격 거리·간섭·방 이탈까지 판정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713232" y="2560000"/>
            <a:ext cx="3475888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카탈로그 실측 7</a:t>
            </a:r>
            <a:r>
              <a:rPr lang="en-US" sz="1050">
                <a:solidFill>
                  <a:srgbClr val="5B6478"/>
                </a:solidFill>
              </a:rPr>
              <a:t>1</a:t>
            </a: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개 사이즈 · 아파트 도면 15</a:t>
            </a:r>
            <a:r>
              <a:rPr lang="en-US" sz="1050">
                <a:solidFill>
                  <a:srgbClr val="5B6478"/>
                </a:solidFill>
              </a:rPr>
              <a:t>8</a:t>
            </a: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개 단지 </a:t>
            </a:r>
            <a:r>
              <a:rPr lang="en-US" sz="1050">
                <a:solidFill>
                  <a:srgbClr val="5B6478"/>
                </a:solidFill>
              </a:rPr>
              <a:t>855</a:t>
            </a: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장 · 3D 보기</a:t>
            </a:r>
            <a:endParaRPr b="0" i="0" sz="10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4754880" y="1330000"/>
            <a:ext cx="3931920" cy="190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4754880" y="1330000"/>
            <a:ext cx="73152" cy="19000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5010912" y="1500000"/>
            <a:ext cx="2655888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통신 요금제 상담 도구</a:t>
            </a:r>
            <a:endParaRPr b="1" i="0" sz="15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7786800" y="1520000"/>
            <a:ext cx="700000" cy="29000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7786800" y="1520000"/>
            <a:ext cx="7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개발중</a:t>
            </a:r>
            <a:endParaRPr b="1" i="0" sz="900" u="none" cap="none" strike="noStrike">
              <a:solidFill>
                <a:srgbClr val="9240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5010912" y="1890000"/>
            <a:ext cx="3475888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3사 요금제 349건 · 부가서비스 542건 · 결합 27건 · 단말 출고가 · 제휴카드 40장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5010912" y="2560000"/>
            <a:ext cx="3475888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휴대폰 월 납부금액과 할부 기간 총액까지 계산</a:t>
            </a:r>
            <a:endParaRPr b="0" i="0" sz="10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457200" y="3420000"/>
            <a:ext cx="8321040" cy="115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457200" y="3420000"/>
            <a:ext cx="73152" cy="1150000"/>
          </a:xfrm>
          <a:prstGeom prst="rect">
            <a:avLst/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713232" y="3570000"/>
            <a:ext cx="7865008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다음 단계</a:t>
            </a:r>
            <a:endParaRPr b="1" i="0" sz="1300" u="none" cap="none" strike="noStrike">
              <a:solidFill>
                <a:srgbClr val="7C2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713232" y="3890000"/>
            <a:ext cx="7865008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아파트 도면 확대 — 도면 추가 확보 시 배치 적중률 향상 예정 (단지 목록 3,829곳 적용 완료)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713232" y="4220000"/>
            <a:ext cx="7865008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도면 3D 완성 후 설치 환경 시뮬레이터 개선 — 우리 집에 설치된 모습을 직관적으로 확인 시 성공률 UP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8473800" y="4841350"/>
            <a:ext cx="5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7/10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시범운영 결과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2026-07-29 ~ 08-10 · 10개 매장 · 863건 — 한 기능만 쓰인 것이 아닙니다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5623560" y="1280160"/>
            <a:ext cx="1508760" cy="7772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5623560" y="1335024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5623560" y="175564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개 매장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7223760" y="1280160"/>
            <a:ext cx="1508760" cy="7772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7223760" y="1335024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7223760" y="175564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일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5623560" y="2148840"/>
            <a:ext cx="1508760" cy="7772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5623560" y="2203704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863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5623560" y="26243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건 실사용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7223760" y="2148840"/>
            <a:ext cx="1508760" cy="7772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7223760" y="2203704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7223760" y="26243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건/일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457200" y="128016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설치환경 가이드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2514600" y="1362456"/>
            <a:ext cx="2286000" cy="164592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4846320" y="128016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457200" y="16459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모델 파인더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2514600" y="1728216"/>
            <a:ext cx="2143125" cy="164592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4703445" y="164592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457200" y="20116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타사비교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2514600" y="2093976"/>
            <a:ext cx="1821656" cy="164592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381976" y="201168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457200" y="237744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컨시어지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2514600" y="2459736"/>
            <a:ext cx="1714500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4274820" y="237744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57200" y="274320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허브 검색·건의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2514600" y="2825496"/>
            <a:ext cx="1696641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256961" y="27432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457200" y="310896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레벨업 챌린지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2514600" y="3191256"/>
            <a:ext cx="1607344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4167664" y="310896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457200" y="34747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AI구독 케어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514600" y="3557016"/>
            <a:ext cx="1553766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114086" y="347472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87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457200" y="38404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쿠폰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2514600" y="3922776"/>
            <a:ext cx="1089422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649742" y="384048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57200" y="420624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배치 시뮬레이터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2514600" y="4288536"/>
            <a:ext cx="875109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3435429" y="420624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5623560" y="3127248"/>
            <a:ext cx="3154680" cy="141732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5788152" y="3127248"/>
            <a:ext cx="28346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상위 세 가지 모두 상담 시 고객에게 즉시 활용 가능한 부분이 가장 많이 사용되었습니다.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보기용이 아닌,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상담 중 실제 사용 중임을 의미합니다.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457200" y="461772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※ 사용 로그 자체가 현장 니즈 데이터입니다 — 무엇을 교육할지, 무엇을 보강할지의 근거가 됩니다.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8473800" y="4841350"/>
            <a:ext cx="5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8/10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경원영업팀 65개 매장 도입 시 기대효과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실측값과 가정값을 구분 — 가정값은 회사 기준으로 바꿔 넣으시면 그대로 답이 나옵니다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365760" y="1188720"/>
            <a:ext cx="4114800" cy="201168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365760" y="1188720"/>
            <a:ext cx="4114800" cy="54864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530352" y="12984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시간 — 현장이 돌려받는 시간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530352" y="1627632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6653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530352" y="1627632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실측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1078992" y="160934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매장당 하루 6.6건 사용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1078992" y="181051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863건 ÷ 10매장 ÷ 13일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530352" y="2011680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530352" y="201168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가정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1078992" y="19933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1건당 찾는 시간 3분 절감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078992" y="21945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상담사 진술 "찾는 시간이 단축된다"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530352" y="2395728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530352" y="239572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078992" y="23774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65개 매장 월 약 </a:t>
            </a:r>
            <a:r>
              <a:rPr b="1" lang="en-US" sz="1150">
                <a:solidFill>
                  <a:srgbClr val="FF0000"/>
                </a:solidFill>
              </a:rPr>
              <a:t>647</a:t>
            </a:r>
            <a:r>
              <a:rPr b="1" i="0" lang="en-US" sz="11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시간</a:t>
            </a: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 절약효과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1078992" y="257860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6.6건 × 3분 × </a:t>
            </a:r>
            <a:r>
              <a:rPr lang="en-US" sz="850">
                <a:solidFill>
                  <a:srgbClr val="5B6478"/>
                </a:solidFill>
              </a:rPr>
              <a:t>평균30</a:t>
            </a: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영업일 × 65매장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530352" y="2779776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530352" y="2779776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078992" y="276148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연 약 </a:t>
            </a:r>
            <a:r>
              <a:rPr b="1" lang="en-US" sz="1150">
                <a:solidFill>
                  <a:srgbClr val="1428A0"/>
                </a:solidFill>
              </a:rPr>
              <a:t>7,8</a:t>
            </a: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00시간 = 상담사 </a:t>
            </a:r>
            <a:r>
              <a:rPr b="1" i="0" lang="en-US" sz="11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1" lang="en-US" sz="1150">
                <a:solidFill>
                  <a:srgbClr val="FF0000"/>
                </a:solidFill>
              </a:rPr>
              <a:t>7</a:t>
            </a:r>
            <a:r>
              <a:rPr b="1" i="0" lang="en-US" sz="11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명 </a:t>
            </a: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절감효과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1078992" y="296265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월 근무 174시간 기준 환산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4663440" y="1188720"/>
            <a:ext cx="4114800" cy="201168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4663440" y="1188720"/>
            <a:ext cx="4114800" cy="54864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828032" y="12984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비용 — 회사가 안 쓰게 되는 돈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4828032" y="1627632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6653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4828032" y="1627632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실측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5376672" y="160934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설치환경 가이드 128건 · 1위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5376672" y="181051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계약 전에 설치 조건을 확인한 횟수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4828032" y="2011680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4828032" y="201168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가정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376672" y="19933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 재방문 1건당 비용 N원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376672" y="21945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기사 출동 + 일정 재조정 + 응대 (사내 기준 </a:t>
            </a:r>
            <a:r>
              <a:rPr lang="en-US" sz="850">
                <a:solidFill>
                  <a:srgbClr val="5B6478"/>
                </a:solidFill>
              </a:rPr>
              <a:t>적용</a:t>
            </a: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4828032" y="2395728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4828032" y="239572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5376672" y="23774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매장당 월 1건이면 연 780건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5376672" y="257860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65매장 × 12개월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4828032" y="2779776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4828032" y="2779776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5376672" y="276148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취소 1건은 매출 전액 소실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5376672" y="296265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막은 취소 1건 = 그 계약 금액 그대로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365760" y="329184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가정을 바꿔도 결과는 동일합니다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365760" y="3566160"/>
            <a:ext cx="26517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502920" y="361188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보수적 2분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502920" y="381304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월 </a:t>
            </a:r>
            <a:r>
              <a:rPr b="1" lang="en-US" sz="1500">
                <a:solidFill>
                  <a:srgbClr val="0B1020"/>
                </a:solidFill>
              </a:rPr>
              <a:t>472</a:t>
            </a:r>
            <a:r>
              <a:rPr b="1" i="0" lang="en-US" sz="1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시간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737360" y="384048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연 </a:t>
            </a:r>
            <a:r>
              <a:rPr lang="en-US" sz="1100">
                <a:solidFill>
                  <a:srgbClr val="5B6478"/>
                </a:solidFill>
              </a:rPr>
              <a:t>5</a:t>
            </a: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100">
                <a:solidFill>
                  <a:srgbClr val="5B6478"/>
                </a:solidFill>
              </a:rPr>
              <a:t>2</a:t>
            </a: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00시간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3200400" y="3566160"/>
            <a:ext cx="2651760" cy="713232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3337560" y="361188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7E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C7E7E3"/>
                </a:solidFill>
                <a:latin typeface="Arial"/>
                <a:ea typeface="Arial"/>
                <a:cs typeface="Arial"/>
                <a:sym typeface="Arial"/>
              </a:rPr>
              <a:t>기준 3분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3337560" y="381304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월 </a:t>
            </a:r>
            <a:r>
              <a:rPr b="1" lang="en-US" sz="1500">
                <a:solidFill>
                  <a:srgbClr val="FFFFFF"/>
                </a:solidFill>
              </a:rPr>
              <a:t>647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4572000" y="384048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7E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C7E7E3"/>
                </a:solidFill>
                <a:latin typeface="Arial"/>
                <a:ea typeface="Arial"/>
                <a:cs typeface="Arial"/>
                <a:sym typeface="Arial"/>
              </a:rPr>
              <a:t>연 </a:t>
            </a:r>
            <a:r>
              <a:rPr lang="en-US" sz="1100">
                <a:solidFill>
                  <a:srgbClr val="C7E7E3"/>
                </a:solidFill>
              </a:rPr>
              <a:t>7,8</a:t>
            </a:r>
            <a:r>
              <a:rPr b="0" i="0" lang="en-US" sz="1100" u="none" cap="none" strike="noStrike">
                <a:solidFill>
                  <a:srgbClr val="C7E7E3"/>
                </a:solidFill>
                <a:latin typeface="Arial"/>
                <a:ea typeface="Arial"/>
                <a:cs typeface="Arial"/>
                <a:sym typeface="Arial"/>
              </a:rPr>
              <a:t>00시간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6035040" y="3566160"/>
            <a:ext cx="265176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172200" y="361188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적극적 5분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6107126" y="3813050"/>
            <a:ext cx="129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월 </a:t>
            </a:r>
            <a:r>
              <a:rPr b="1" lang="en-US" sz="1500">
                <a:solidFill>
                  <a:srgbClr val="0B1020"/>
                </a:solidFill>
              </a:rPr>
              <a:t>1,079</a:t>
            </a:r>
            <a:r>
              <a:rPr b="1" i="0" lang="en-US" sz="1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시간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7406640" y="384048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연 1</a:t>
            </a:r>
            <a:r>
              <a:rPr lang="en-US" sz="1100">
                <a:solidFill>
                  <a:srgbClr val="5B6478"/>
                </a:solidFill>
              </a:rPr>
              <a:t>2</a:t>
            </a: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100">
                <a:solidFill>
                  <a:srgbClr val="5B6478"/>
                </a:solidFill>
              </a:rPr>
              <a:t>9</a:t>
            </a: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00시간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가장 보수적으로 잡아도 65개 매장에서 연 </a:t>
            </a:r>
            <a:r>
              <a:rPr b="1" lang="en-US" sz="1200">
                <a:solidFill>
                  <a:srgbClr val="FFFFFF"/>
                </a:solidFill>
              </a:rPr>
              <a:t>5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1" lang="en-US" sz="1200">
                <a:solidFill>
                  <a:srgbClr val="FFFFFF"/>
                </a:solidFill>
              </a:rPr>
              <a:t>2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00시간, 도입 비용 0원 절약된 시간이 그대로 순증됩니다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8473800" y="4841350"/>
            <a:ext cx="5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9/10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640080" y="700000"/>
            <a:ext cx="786384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지금 바로 열어 보세요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640080" y="1130000"/>
            <a:ext cx="786384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휴대폰 카메라로 QR을 비추면 됩니다 — 로그인도, 설치도 필요 없습니다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lescopilot-store.vercel.app QR 코드" id="303" name="Google Shape;3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7000" y="1500000"/>
            <a:ext cx="2050000" cy="20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6"/>
          <p:cNvSpPr txBox="1"/>
          <p:nvPr/>
        </p:nvSpPr>
        <p:spPr>
          <a:xfrm>
            <a:off x="640080" y="3700000"/>
            <a:ext cx="786384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salescopilot-store.vercel.app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 txBox="1"/>
          <p:nvPr/>
        </p:nvSpPr>
        <p:spPr>
          <a:xfrm>
            <a:off x="640080" y="4020000"/>
            <a:ext cx="786384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세일즈 코파일럿 · 경원영업팀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2026-08-10T00:11:11Z</dcterms:created>
  <dc:creator>경원영업팀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