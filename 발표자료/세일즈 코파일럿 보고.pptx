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가정값 두 개(1건당 3분 · 재방문 단가)는 시범 13일로 측정하지 못했습니다. 회사 기준 수치를 넣으면 그대로 금액이 나옵니다.
또 하나의 가정 — 65개 매장이 시범 10개 매장과 같은 빈도로 쓴다고 봤습니다. 시범 매장은 관심도가 높았을 수 있어 초기에는 낮게 나올 수 있습니다.
확대 후 3개월이면 상담 건수 · 설치 재방문 · 취소 건수로 실측할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8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노윤정\gyeongwon-ax-hub\발표자료\이미지\01b-log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502920"/>
            <a:ext cx="2377440" cy="1005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188720"/>
            <a:ext cx="7863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 코파일럿</a:t>
            </a:r>
            <a:endParaRPr lang="en-US" sz="4000" dirty="0"/>
          </a:p>
        </p:txBody>
      </p:sp>
      <p:sp>
        <p:nvSpPr>
          <p:cNvPr id="4" name="Text 1"/>
          <p:cNvSpPr/>
          <p:nvPr/>
        </p:nvSpPr>
        <p:spPr>
          <a:xfrm>
            <a:off x="658368" y="196596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7D0F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빠르게 · 정확하게 · 똑같이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640080" y="2697480"/>
            <a:ext cx="25146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0080" y="2697480"/>
            <a:ext cx="251460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22960" y="2816352"/>
            <a:ext cx="2148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6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속도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3090672"/>
            <a:ext cx="2148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시간을 줄인다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337560" y="2697480"/>
            <a:ext cx="25146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337560" y="2697480"/>
            <a:ext cx="2514600" cy="54864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520440" y="2816352"/>
            <a:ext cx="2148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정확도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3520440" y="3090672"/>
            <a:ext cx="2148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말을 안 한다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035040" y="2697480"/>
            <a:ext cx="25146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035040" y="2697480"/>
            <a:ext cx="2514600" cy="54864"/>
          </a:xfrm>
          <a:prstGeom prst="rect">
            <a:avLst/>
          </a:prstGeom>
          <a:solidFill>
            <a:srgbClr val="7C2D8F"/>
          </a:solidFill>
          <a:ln w="12700">
            <a:solidFill>
              <a:srgbClr val="7C2D8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217920" y="2816352"/>
            <a:ext cx="2148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C2D8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일관성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6217920" y="3090672"/>
            <a:ext cx="2148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해도 같은 답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58368" y="3794760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 매장 · 13일 시범운영 결과 보고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658368" y="411480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0F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경원영업팀 · 2026.08   |   외부 개발비 0원 · 운영비 0원 · 설치 불필요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F7F8FB"/>
          </a:solidFill>
          <a:ln w="12700">
            <a:solidFill>
              <a:srgbClr val="F7F8F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887468"/>
            <a:ext cx="2011680" cy="256032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" y="488746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 코파일럿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194560" y="4887468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배경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595360" y="4887468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310896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현장이 중요하다고 말하는 것은 셋뿐입니다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457200" y="768096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지점장·상담사에게 물으면 결국 이 세 가지로 모입니다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57200" y="1371600"/>
            <a:ext cx="8321040" cy="932688"/>
          </a:xfrm>
          <a:prstGeom prst="rect">
            <a:avLst/>
          </a:prstGeom>
          <a:solidFill>
            <a:srgbClr val="F7F8FB"/>
          </a:solidFill>
          <a:ln w="12700">
            <a:solidFill>
              <a:srgbClr val="DDE1E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371600"/>
            <a:ext cx="73152" cy="93268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1517904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76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속도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2057400" y="1499616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시간이 길어지면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057400" y="1810512"/>
            <a:ext cx="6492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고객은 기다리다 나가고, 다음 고객은 못 받습니다. 매장 인원은 정해져 있습니다.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2423160"/>
            <a:ext cx="8321040" cy="932688"/>
          </a:xfrm>
          <a:prstGeom prst="rect">
            <a:avLst/>
          </a:prstGeom>
          <a:solidFill>
            <a:srgbClr val="F7F8FB"/>
          </a:solidFill>
          <a:ln w="12700">
            <a:solidFill>
              <a:srgbClr val="DDE1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2423160"/>
            <a:ext cx="73152" cy="932688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13232" y="2569464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정확도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2057400" y="2551176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말을 한 번 하면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057400" y="2862072"/>
            <a:ext cx="6492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제품이 아니라 그 매장이 신뢰를 잃습니다. 설치·보증 오안내는 그대로 비용이 됩니다.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3474720"/>
            <a:ext cx="8321040" cy="932688"/>
          </a:xfrm>
          <a:prstGeom prst="rect">
            <a:avLst/>
          </a:prstGeom>
          <a:solidFill>
            <a:srgbClr val="F7F8FB"/>
          </a:solidFill>
          <a:ln w="12700">
            <a:solidFill>
              <a:srgbClr val="DDE1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" y="3474720"/>
            <a:ext cx="73152" cy="932688"/>
          </a:xfrm>
          <a:prstGeom prst="rect">
            <a:avLst/>
          </a:prstGeom>
          <a:solidFill>
            <a:srgbClr val="7C2D8F"/>
          </a:solidFill>
          <a:ln w="12700">
            <a:solidFill>
              <a:srgbClr val="7C2D8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3232" y="3621024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C2D8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일관성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2057400" y="3602736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사람마다 답이 다르면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2057400" y="3913632"/>
            <a:ext cx="6492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지점장이 일일이 잡을 수 없습니다. 경력 편차가 곧 응대 품질 편차가 됩니다.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4553712"/>
            <a:ext cx="8321040" cy="347472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553712"/>
            <a:ext cx="8046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셋 다 자료가 없어서가 아니라, 3분 안에 못 꺼내서 생깁니다 — 꺼내는 시간을 없앤 도구입니다.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F7F8FB"/>
          </a:solidFill>
          <a:ln w="12700">
            <a:solidFill>
              <a:srgbClr val="F7F8F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887468"/>
            <a:ext cx="2011680" cy="256032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" y="488746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 코파일럿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194560" y="4887468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595360" y="4887468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310896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상담사의 행동이 바뀌면 지점 숫자가 바뀝니다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457200" y="768096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보고서를 한 장으로 줄이면 이 표입니다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65760" y="1261872"/>
            <a:ext cx="868680" cy="292608"/>
          </a:xfrm>
          <a:prstGeom prst="rect">
            <a:avLst/>
          </a:prstGeom>
          <a:solidFill>
            <a:srgbClr val="F7F8FB"/>
          </a:solidFill>
          <a:ln w="12700">
            <a:solidFill>
              <a:srgbClr val="F7F8F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325880" y="1261872"/>
            <a:ext cx="3566160" cy="292608"/>
          </a:xfrm>
          <a:prstGeom prst="rect">
            <a:avLst/>
          </a:prstGeom>
          <a:solidFill>
            <a:srgbClr val="F7F8FB"/>
          </a:solidFill>
          <a:ln w="12700">
            <a:solidFill>
              <a:srgbClr val="F7F8F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983480" y="1261872"/>
            <a:ext cx="3794760" cy="292608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1261872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축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463040" y="1261872"/>
            <a:ext cx="3291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상담사가 하는 일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120640" y="1261872"/>
            <a:ext cx="3520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지점이 얻는 것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65760" y="1627632"/>
            <a:ext cx="8412480" cy="384048"/>
          </a:xfrm>
          <a:prstGeom prst="rect">
            <a:avLst/>
          </a:prstGeom>
          <a:solidFill>
            <a:srgbClr val="F7F8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65760" y="1627632"/>
            <a:ext cx="45720" cy="38404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" y="1627632"/>
            <a:ext cx="777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76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속도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463040" y="1627632"/>
            <a:ext cx="3291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조건을 한 줄로 검색해 바로 꺼낸다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754880" y="1627632"/>
            <a:ext cx="228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120640" y="1627632"/>
            <a:ext cx="3520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대기가 줄고, 한 사람이 더 많이 받는다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365760" y="2057400"/>
            <a:ext cx="84124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" y="2057400"/>
            <a:ext cx="45720" cy="38404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2920" y="2057400"/>
            <a:ext cx="777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76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속도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463040" y="2057400"/>
            <a:ext cx="3291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도면 위에 놓아 그 자리에서 보여준다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754880" y="2057400"/>
            <a:ext cx="228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120640" y="2057400"/>
            <a:ext cx="3520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"재보고 올게요"로 끊기던 상담이 그날 끝난다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365760" y="2487168"/>
            <a:ext cx="8412480" cy="384048"/>
          </a:xfrm>
          <a:prstGeom prst="rect">
            <a:avLst/>
          </a:prstGeom>
          <a:solidFill>
            <a:srgbClr val="F7F8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2487168"/>
            <a:ext cx="45720" cy="384048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02920" y="2487168"/>
            <a:ext cx="777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정확도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463040" y="2487168"/>
            <a:ext cx="3291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비교표 문구를 화면 그대로 읽는다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4754880" y="2487168"/>
            <a:ext cx="228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120640" y="2487168"/>
            <a:ext cx="3520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앞에서 반박당하는 상황이 사라진다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365760" y="2916936"/>
            <a:ext cx="84124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65760" y="2916936"/>
            <a:ext cx="45720" cy="384048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02920" y="2916936"/>
            <a:ext cx="777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정확도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463040" y="2916936"/>
            <a:ext cx="3291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 전에 설치 조건을 짚는다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4754880" y="2916936"/>
            <a:ext cx="228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120640" y="2916936"/>
            <a:ext cx="3520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설치 재방문 · 일정 재조정 · 취소가 줄어든다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365760" y="3346704"/>
            <a:ext cx="8412480" cy="384048"/>
          </a:xfrm>
          <a:prstGeom prst="rect">
            <a:avLst/>
          </a:prstGeom>
          <a:solidFill>
            <a:srgbClr val="F7F8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65760" y="3346704"/>
            <a:ext cx="45720" cy="384048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02920" y="3346704"/>
            <a:ext cx="777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정확도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1463040" y="3346704"/>
            <a:ext cx="3291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보증기간을 품목·부품별로 확인한다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4754880" y="3346704"/>
            <a:ext cx="228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5120640" y="3346704"/>
            <a:ext cx="3520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 오안내에서 시작되는 분쟁이 줄어든다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365760" y="3776472"/>
            <a:ext cx="84124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65760" y="3776472"/>
            <a:ext cx="45720" cy="384048"/>
          </a:xfrm>
          <a:prstGeom prst="rect">
            <a:avLst/>
          </a:prstGeom>
          <a:solidFill>
            <a:srgbClr val="7C2D8F"/>
          </a:solidFill>
          <a:ln w="12700">
            <a:solidFill>
              <a:srgbClr val="7C2D8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02920" y="3776472"/>
            <a:ext cx="777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C2D8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일관성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1463040" y="3776472"/>
            <a:ext cx="3291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매장이든 같은 화면을 연다</a:t>
            </a:r>
            <a:endParaRPr lang="en-US" sz="1150" dirty="0"/>
          </a:p>
        </p:txBody>
      </p:sp>
      <p:sp>
        <p:nvSpPr>
          <p:cNvPr id="49" name="Text 47"/>
          <p:cNvSpPr/>
          <p:nvPr/>
        </p:nvSpPr>
        <p:spPr>
          <a:xfrm>
            <a:off x="4754880" y="3776472"/>
            <a:ext cx="228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5120640" y="3776472"/>
            <a:ext cx="3520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사람·매장에 따른 응대 편차가 줄어든다</a:t>
            </a:r>
            <a:endParaRPr lang="en-US" sz="1150" dirty="0"/>
          </a:p>
        </p:txBody>
      </p:sp>
      <p:sp>
        <p:nvSpPr>
          <p:cNvPr id="51" name="Shape 49"/>
          <p:cNvSpPr/>
          <p:nvPr/>
        </p:nvSpPr>
        <p:spPr>
          <a:xfrm>
            <a:off x="365760" y="4206240"/>
            <a:ext cx="8412480" cy="384048"/>
          </a:xfrm>
          <a:prstGeom prst="rect">
            <a:avLst/>
          </a:prstGeom>
          <a:solidFill>
            <a:srgbClr val="F7F8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65760" y="4206240"/>
            <a:ext cx="45720" cy="384048"/>
          </a:xfrm>
          <a:prstGeom prst="rect">
            <a:avLst/>
          </a:prstGeom>
          <a:solidFill>
            <a:srgbClr val="7C2D8F"/>
          </a:solidFill>
          <a:ln w="12700">
            <a:solidFill>
              <a:srgbClr val="7C2D8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02920" y="4206240"/>
            <a:ext cx="777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C2D8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일관성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1463040" y="4206240"/>
            <a:ext cx="3291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외우지 않고 열어서 답한다</a:t>
            </a:r>
            <a:endParaRPr lang="en-US" sz="1150" dirty="0"/>
          </a:p>
        </p:txBody>
      </p:sp>
      <p:sp>
        <p:nvSpPr>
          <p:cNvPr id="55" name="Text 53"/>
          <p:cNvSpPr/>
          <p:nvPr/>
        </p:nvSpPr>
        <p:spPr>
          <a:xfrm>
            <a:off x="4754880" y="4206240"/>
            <a:ext cx="228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5120640" y="4206240"/>
            <a:ext cx="3520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신입이 첫날부터 같은 수준으로 답한다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F7F8FB"/>
          </a:solidFill>
          <a:ln w="12700">
            <a:solidFill>
              <a:srgbClr val="F7F8F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887468"/>
            <a:ext cx="2011680" cy="256032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" y="488746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 코파일럿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194560" y="4887468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속도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595360" y="4887468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27432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74320"/>
            <a:ext cx="868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속도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2179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카탈로그를 뒤지는 시간을 없앴습니다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07899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라인업 578종 · 통합검색 색인 699건 — 조건을 문장으로 쓰면 바로 좁혀집니다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29768" y="1453896"/>
            <a:ext cx="4078224" cy="256946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C"/>
            </a:solidFill>
            <a:prstDash val="solid"/>
          </a:ln>
        </p:spPr>
      </p:sp>
      <p:pic>
        <p:nvPicPr>
          <p:cNvPr id="12" name="Image 0" descr="C:\Users\노윤정\gyeongwon-ax-hub\발표자료\이미지\03-fin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481328"/>
            <a:ext cx="4023360" cy="251460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4636008" y="1453896"/>
            <a:ext cx="4078224" cy="256946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C"/>
            </a:solidFill>
            <a:prstDash val="solid"/>
          </a:ln>
        </p:spPr>
      </p:sp>
      <p:pic>
        <p:nvPicPr>
          <p:cNvPr id="14" name="Image 1" descr="C:\Users\노윤정\gyeongwon-ax-hub\발표자료\이미지\06-search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63440" y="1481328"/>
            <a:ext cx="4023360" cy="251460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57200" y="4041648"/>
            <a:ext cx="4023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모델파인더 — "무풍 에어컨 300만 이하" 처럼 한 줄로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4663440" y="4041648"/>
            <a:ext cx="4023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허브 통합검색 — 제품·설치·AS·구독을 한 칸에서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457200" y="3520440"/>
            <a:ext cx="8321040" cy="402336"/>
          </a:xfrm>
          <a:prstGeom prst="rect">
            <a:avLst/>
          </a:prstGeom>
          <a:solidFill>
            <a:srgbClr val="F7F8FB"/>
          </a:solidFill>
          <a:ln w="12700">
            <a:solidFill>
              <a:srgbClr val="DDE1EC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585216" y="3520440"/>
            <a:ext cx="5943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상담사</a:t>
            </a:r>
            <a:endParaRPr lang="en-US" sz="950" dirty="0"/>
          </a:p>
        </p:txBody>
      </p:sp>
      <p:sp>
        <p:nvSpPr>
          <p:cNvPr id="19" name="Text 15"/>
          <p:cNvSpPr/>
          <p:nvPr/>
        </p:nvSpPr>
        <p:spPr>
          <a:xfrm>
            <a:off x="1234440" y="3520440"/>
            <a:ext cx="7406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카탈로그 PDF 대신 조건을 한 줄로 검색한다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457200" y="3977640"/>
            <a:ext cx="8321040" cy="5120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585216" y="3977640"/>
            <a:ext cx="5943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지점</a:t>
            </a:r>
            <a:endParaRPr lang="en-US" sz="950" dirty="0"/>
          </a:p>
        </p:txBody>
      </p:sp>
      <p:sp>
        <p:nvSpPr>
          <p:cNvPr id="22" name="Text 18"/>
          <p:cNvSpPr/>
          <p:nvPr/>
        </p:nvSpPr>
        <p:spPr>
          <a:xfrm>
            <a:off x="1234440" y="3977640"/>
            <a:ext cx="7406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대기가 줄고, 한 사람이 받을 수 있는 상담 수가 늘어난다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457200" y="4590288"/>
            <a:ext cx="832104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C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457200" y="4590288"/>
            <a:ext cx="45720" cy="29260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40080" y="4590288"/>
            <a:ext cx="8046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 지표 — 1인당 일 상담 건수 · 대기 이탈 건수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F7F8FB"/>
          </a:solidFill>
          <a:ln w="12700">
            <a:solidFill>
              <a:srgbClr val="F7F8F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887468"/>
            <a:ext cx="2011680" cy="256032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" y="488746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 코파일럿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194560" y="4887468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속도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595360" y="4887468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27432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74320"/>
            <a:ext cx="868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속도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2179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"재보고 올게요"로 끊기던 상담을 그날 끝냅니다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07899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고객이 가장 많이 묻고, 우리가 가장 자신 없게 답하던 질문입니다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41848" y="1453896"/>
            <a:ext cx="3163824" cy="199796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C"/>
            </a:solidFill>
            <a:prstDash val="solid"/>
          </a:ln>
        </p:spPr>
      </p:sp>
      <p:pic>
        <p:nvPicPr>
          <p:cNvPr id="12" name="Image 0" descr="C:\Users\노윤정\gyeongwon-ax-hub\발표자료\이미지\07-place-star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0" y="1481328"/>
            <a:ext cx="3108960" cy="194310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457200" y="1481328"/>
            <a:ext cx="5029200" cy="731520"/>
          </a:xfrm>
          <a:prstGeom prst="rect">
            <a:avLst/>
          </a:prstGeom>
          <a:solidFill>
            <a:srgbClr val="F7F8FB"/>
          </a:solidFill>
          <a:ln w="12700">
            <a:solidFill>
              <a:srgbClr val="DDE1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21792" y="1481328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고객: "우리 집 주방에 이거 들어가요?"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상담사: "아마 될 겁니다"  →  고객: "재보고 올게요"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457200" y="233172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확신이 없으면 고객은 결정을 미룹니다.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미룬 결정은 대개 다른 매장에서 끝납니다.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457200" y="29260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단지 도면 138개 단지 · 615장 · 17개 시도 — 도면이 없으면 직접 그려도 판정됩니다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457200" y="3456432"/>
            <a:ext cx="5029200" cy="402336"/>
          </a:xfrm>
          <a:prstGeom prst="rect">
            <a:avLst/>
          </a:prstGeom>
          <a:solidFill>
            <a:srgbClr val="F7F8FB"/>
          </a:solidFill>
          <a:ln w="12700">
            <a:solidFill>
              <a:srgbClr val="DDE1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85216" y="3456432"/>
            <a:ext cx="5943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상담사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1234440" y="3456432"/>
            <a:ext cx="4114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도면 위에 실제 치수로 놓아 그 자리에서 보여준다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57200" y="3913632"/>
            <a:ext cx="5029200" cy="5120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85216" y="3913632"/>
            <a:ext cx="5943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지점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1234440" y="3913632"/>
            <a:ext cx="4114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결정을 미루는 상담이 줄고, 상담이 그날 끝난다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457200" y="4590288"/>
            <a:ext cx="832104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4590288"/>
            <a:ext cx="45720" cy="29260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40080" y="4590288"/>
            <a:ext cx="8046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 지표 — "생각해 보고 오겠다"로 끝난 상담 비율 · 당일 계약 전환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F7F8FB"/>
          </a:solidFill>
          <a:ln w="12700">
            <a:solidFill>
              <a:srgbClr val="F7F8F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887468"/>
            <a:ext cx="2011680" cy="256032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" y="488746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 코파일럿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194560" y="4887468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속도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595360" y="4887468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27432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74320"/>
            <a:ext cx="868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속도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2179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고객에게 물을 것은 숫자 하나뿐입니다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07899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"거실 가로가 몇 미터쯤 되나요?" — 그 하나로 도면 전체 축척이 잡힙니다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38328" y="1435608"/>
            <a:ext cx="2798064" cy="176936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C"/>
            </a:solidFill>
            <a:prstDash val="solid"/>
          </a:ln>
        </p:spPr>
      </p:sp>
      <p:pic>
        <p:nvPicPr>
          <p:cNvPr id="12" name="Image 0" descr="C:\Users\노윤정\gyeongwon-ax-hub\발표자료\이미지\10-plan-loa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463040"/>
            <a:ext cx="2743200" cy="171450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3218688" y="1435608"/>
            <a:ext cx="2798064" cy="176936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C"/>
            </a:solidFill>
            <a:prstDash val="solid"/>
          </a:ln>
        </p:spPr>
      </p:sp>
      <p:pic>
        <p:nvPicPr>
          <p:cNvPr id="14" name="Image 1" descr="C:\Users\노윤정\gyeongwon-ax-hub\발표자료\이미지\12-scale-ask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246120" y="1463040"/>
            <a:ext cx="2743200" cy="171450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099048" y="1435608"/>
            <a:ext cx="2798064" cy="176936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C"/>
            </a:solidFill>
            <a:prstDash val="solid"/>
          </a:ln>
        </p:spPr>
      </p:sp>
      <p:pic>
        <p:nvPicPr>
          <p:cNvPr id="16" name="Image 2" descr="C:\Users\노윤정\gyeongwon-ax-hub\발표자료\이미지\15-plac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126480" y="1463040"/>
            <a:ext cx="2743200" cy="171450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365760" y="320040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도면을 불러온다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365760" y="3438144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단지를 고르거나 사진을 올린다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3246120" y="320040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길이 하나를 묻는다</a:t>
            </a:r>
            <a:endParaRPr lang="en-US" sz="1250" dirty="0"/>
          </a:p>
        </p:txBody>
      </p:sp>
      <p:sp>
        <p:nvSpPr>
          <p:cNvPr id="20" name="Text 15"/>
          <p:cNvSpPr/>
          <p:nvPr/>
        </p:nvSpPr>
        <p:spPr>
          <a:xfrm>
            <a:off x="3246120" y="3438144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고객이 아는 숫자면 된다</a:t>
            </a:r>
            <a:endParaRPr lang="en-US" sz="1050" dirty="0"/>
          </a:p>
        </p:txBody>
      </p:sp>
      <p:sp>
        <p:nvSpPr>
          <p:cNvPr id="21" name="Text 16"/>
          <p:cNvSpPr/>
          <p:nvPr/>
        </p:nvSpPr>
        <p:spPr>
          <a:xfrm>
            <a:off x="6126480" y="320040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놓는다</a:t>
            </a:r>
            <a:endParaRPr lang="en-US" sz="1250" dirty="0"/>
          </a:p>
        </p:txBody>
      </p:sp>
      <p:sp>
        <p:nvSpPr>
          <p:cNvPr id="22" name="Text 17"/>
          <p:cNvSpPr/>
          <p:nvPr/>
        </p:nvSpPr>
        <p:spPr>
          <a:xfrm>
            <a:off x="6126480" y="3438144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들어가면 초록, 안 되면 대안을 준다</a:t>
            </a:r>
            <a:endParaRPr lang="en-US" sz="1050" dirty="0"/>
          </a:p>
        </p:txBody>
      </p:sp>
      <p:sp>
        <p:nvSpPr>
          <p:cNvPr id="23" name="Shape 18"/>
          <p:cNvSpPr/>
          <p:nvPr/>
        </p:nvSpPr>
        <p:spPr>
          <a:xfrm>
            <a:off x="365760" y="3858768"/>
            <a:ext cx="8503920" cy="8686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566928" y="3858768"/>
            <a:ext cx="8138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수집한 도면 1,185장 중 치수가 인쇄된 것은 8%뿐이라, 고객이 아는 숫자 하나만 묻는 방식으로 만들었습니다.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 들어가면 그냥 안 된다고 끝내지 않습니다 — "같은 4도어 중 912×716mm 규격이면 들어갑니다"로 대안이 함께 나옵니다.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F7F8FB"/>
          </a:solidFill>
          <a:ln w="12700">
            <a:solidFill>
              <a:srgbClr val="F7F8F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887468"/>
            <a:ext cx="2011680" cy="256032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" y="488746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 코파일럿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194560" y="4887468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속도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595360" y="4887468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27432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74320"/>
            <a:ext cx="868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속도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2179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2분 — 상담을 끊지 않고 그 자리에서 돌아갑니다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07899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결과는 고객 손에 남아, 집에서 가족과 상의할 때 다시 열립니다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38328" y="1435608"/>
            <a:ext cx="2706624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C"/>
            </a:solidFill>
            <a:prstDash val="solid"/>
          </a:ln>
        </p:spPr>
      </p:sp>
      <p:pic>
        <p:nvPicPr>
          <p:cNvPr id="12" name="Image 0" descr="C:\Users\노윤정\gyeongwon-ax-hub\발표자료\이미지\08-place-librar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463040"/>
            <a:ext cx="2651760" cy="137160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365760" y="2880360"/>
            <a:ext cx="2651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단지 불러오기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3218688" y="1435608"/>
            <a:ext cx="2706624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C"/>
            </a:solidFill>
            <a:prstDash val="solid"/>
          </a:ln>
        </p:spPr>
      </p:sp>
      <p:pic>
        <p:nvPicPr>
          <p:cNvPr id="15" name="Image 1" descr="C:\Users\노윤정\gyeongwon-ax-hub\발표자료\이미지\09-place-library2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246120" y="1463040"/>
            <a:ext cx="2651760" cy="137160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3246120" y="2880360"/>
            <a:ext cx="2651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지역·단지 고르기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6099048" y="1435608"/>
            <a:ext cx="2706624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C"/>
            </a:solidFill>
            <a:prstDash val="solid"/>
          </a:ln>
        </p:spPr>
      </p:sp>
      <p:pic>
        <p:nvPicPr>
          <p:cNvPr id="18" name="Image 2" descr="C:\Users\노윤정\gyeongwon-ax-hub\발표자료\이미지\13-rooms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126480" y="1463040"/>
            <a:ext cx="2651760" cy="137160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126480" y="2880360"/>
            <a:ext cx="2651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방을 자동으로 잡는다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338328" y="3099816"/>
            <a:ext cx="2706624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C"/>
            </a:solidFill>
            <a:prstDash val="solid"/>
          </a:ln>
        </p:spPr>
      </p:sp>
      <p:pic>
        <p:nvPicPr>
          <p:cNvPr id="21" name="Image 3" descr="C:\Users\노윤정\gyeongwon-ax-hub\발표자료\이미지\14-stag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365760" y="3127248"/>
            <a:ext cx="2651760" cy="137160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365760" y="4544568"/>
            <a:ext cx="2651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놓을 가전을 고른다</a:t>
            </a:r>
            <a:endParaRPr lang="en-US" sz="1050" dirty="0"/>
          </a:p>
        </p:txBody>
      </p:sp>
      <p:sp>
        <p:nvSpPr>
          <p:cNvPr id="23" name="Shape 17"/>
          <p:cNvSpPr/>
          <p:nvPr/>
        </p:nvSpPr>
        <p:spPr>
          <a:xfrm>
            <a:off x="3218688" y="3099816"/>
            <a:ext cx="2706624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C"/>
            </a:solidFill>
            <a:prstDash val="solid"/>
          </a:ln>
        </p:spPr>
      </p:sp>
      <p:pic>
        <p:nvPicPr>
          <p:cNvPr id="24" name="Image 4" descr="C:\Users\노윤정\gyeongwon-ax-hub\발표자료\이미지\16-share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3246120" y="3127248"/>
            <a:ext cx="2651760" cy="1371600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3246120" y="4544568"/>
            <a:ext cx="2651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결과 이미지를 고객에게</a:t>
            </a:r>
            <a:endParaRPr lang="en-US" sz="1050" dirty="0"/>
          </a:p>
        </p:txBody>
      </p:sp>
      <p:sp>
        <p:nvSpPr>
          <p:cNvPr id="26" name="Shape 19"/>
          <p:cNvSpPr/>
          <p:nvPr/>
        </p:nvSpPr>
        <p:spPr>
          <a:xfrm>
            <a:off x="6126480" y="3127248"/>
            <a:ext cx="2651760" cy="13716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7" name="Text 20"/>
          <p:cNvSpPr/>
          <p:nvPr/>
        </p:nvSpPr>
        <p:spPr>
          <a:xfrm>
            <a:off x="6291072" y="3127248"/>
            <a:ext cx="23317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는 카카오톡으로 보냅니다.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 매장을 돌아보는 중에도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매장에서 만든 그림이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근거로 다시 열립니다.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F7F8FB"/>
          </a:solidFill>
          <a:ln w="12700">
            <a:solidFill>
              <a:srgbClr val="F7F8F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887468"/>
            <a:ext cx="2011680" cy="256032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" y="488746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 코파일럿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194560" y="4887468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정확도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595360" y="4887468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27432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74320"/>
            <a:ext cx="868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정확도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2179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셀링포인트 세 개를 상담 현장에서 지웠습니다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07899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LG 공식 카탈로그와 대조하다 우리 문구가 틀린 것을 찾았습니다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916168" y="1453896"/>
            <a:ext cx="2889504" cy="182651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C"/>
            </a:solidFill>
            <a:prstDash val="solid"/>
          </a:ln>
        </p:spPr>
      </p:sp>
      <p:pic>
        <p:nvPicPr>
          <p:cNvPr id="12" name="Image 0" descr="C:\Users\노윤정\gyeongwon-ax-hub\발표자료\이미지\04-compa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943600" y="1481328"/>
            <a:ext cx="2834640" cy="177165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457200" y="1481328"/>
            <a:ext cx="5257800" cy="548640"/>
          </a:xfrm>
          <a:prstGeom prst="rect">
            <a:avLst/>
          </a:prstGeom>
          <a:solidFill>
            <a:srgbClr val="F7F8FB"/>
          </a:solidFill>
          <a:ln w="12700">
            <a:solidFill>
              <a:srgbClr val="DDE1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03504" y="1499616"/>
            <a:ext cx="4983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trike="sngStrike" dirty="0">
                <a:solidFill>
                  <a:srgbClr val="B91C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"국내 일체형 최대용량 건조 20kg"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03504" y="1737360"/>
            <a:ext cx="4983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65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LG 2026년형 워시콤보 = 세탁 25 / 건조 21kg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457200" y="2121408"/>
            <a:ext cx="5257800" cy="548640"/>
          </a:xfrm>
          <a:prstGeom prst="rect">
            <a:avLst/>
          </a:prstGeom>
          <a:solidFill>
            <a:srgbClr val="F7F8FB"/>
          </a:solidFill>
          <a:ln w="12700">
            <a:solidFill>
              <a:srgbClr val="DDE1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03504" y="2139696"/>
            <a:ext cx="4983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trike="sngStrike" dirty="0">
                <a:solidFill>
                  <a:srgbClr val="B91C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"Micro RGB는 삼성만의 기술"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603504" y="2377440"/>
            <a:ext cx="4983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65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LG도 2026년형에 Micro RGB를 냈다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457200" y="2761488"/>
            <a:ext cx="5257800" cy="548640"/>
          </a:xfrm>
          <a:prstGeom prst="rect">
            <a:avLst/>
          </a:prstGeom>
          <a:solidFill>
            <a:srgbClr val="F7F8FB"/>
          </a:solidFill>
          <a:ln w="12700">
            <a:solidFill>
              <a:srgbClr val="DDE1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03504" y="2779776"/>
            <a:ext cx="4983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trike="sngStrike" dirty="0">
                <a:solidFill>
                  <a:srgbClr val="B91C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"LG 그램은 IPS"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03504" y="3017520"/>
            <a:ext cx="4983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65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그램에도 OLED 트림이 있다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5943600" y="3310128"/>
            <a:ext cx="2834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세 건은 회귀 검사로 막아 뒀습니다 — 자료를 갱신해도 되살아나지 않습니다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457200" y="3474720"/>
            <a:ext cx="5257800" cy="402336"/>
          </a:xfrm>
          <a:prstGeom prst="rect">
            <a:avLst/>
          </a:prstGeom>
          <a:solidFill>
            <a:srgbClr val="F7F8FB"/>
          </a:solidFill>
          <a:ln w="12700">
            <a:solidFill>
              <a:srgbClr val="DDE1E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85216" y="3474720"/>
            <a:ext cx="5943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상담사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1234440" y="3474720"/>
            <a:ext cx="4343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비교표 문구를 화면 그대로 읽는다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57200" y="3931920"/>
            <a:ext cx="5257800" cy="512064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85216" y="3931920"/>
            <a:ext cx="5943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지점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1234440" y="3931920"/>
            <a:ext cx="43434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앞에서 반박당하는 상황이 사라진다 — 제품이 아니라 매장 신뢰의 문제다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457200" y="4590288"/>
            <a:ext cx="832104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C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57200" y="4590288"/>
            <a:ext cx="45720" cy="29260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40080" y="4590288"/>
            <a:ext cx="8046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 지표 — "설명과 다르다" 유형 클레임 · 경쟁사 스펙 관련 재문의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F7F8FB"/>
          </a:solidFill>
          <a:ln w="12700">
            <a:solidFill>
              <a:srgbClr val="F7F8F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887468"/>
            <a:ext cx="2011680" cy="256032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" y="488746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 코파일럿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194560" y="4887468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정확도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595360" y="4887468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27432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74320"/>
            <a:ext cx="868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정확도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2179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보증기간 오안내는 그대로 분쟁이 됩니다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07899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상담사가 가장 헷갈리던 부분 — 26개 품목을 부품 단위까지 정리했습니다 (신설)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41848" y="1453896"/>
            <a:ext cx="3163824" cy="199796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C"/>
            </a:solidFill>
            <a:prstDash val="solid"/>
          </a:ln>
        </p:spPr>
      </p:sp>
      <p:pic>
        <p:nvPicPr>
          <p:cNvPr id="12" name="Image 0" descr="C:\Users\노윤정\gyeongwon-ax-hub\발표자료\이미지\30-a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0" y="1481328"/>
            <a:ext cx="3108960" cy="194310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457200" y="1481328"/>
            <a:ext cx="5029200" cy="429768"/>
          </a:xfrm>
          <a:prstGeom prst="rect">
            <a:avLst/>
          </a:prstGeom>
          <a:solidFill>
            <a:srgbClr val="F7F8FB"/>
          </a:solidFill>
          <a:ln w="12700">
            <a:solidFill>
              <a:srgbClr val="DDE1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03504" y="1490472"/>
            <a:ext cx="4754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에어컨 2년은 "냉방 전용"일 때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03504" y="1700784"/>
            <a:ext cx="4754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냉난방 겸용은 일반 제품이라 1년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57200" y="1984248"/>
            <a:ext cx="5029200" cy="429768"/>
          </a:xfrm>
          <a:prstGeom prst="rect">
            <a:avLst/>
          </a:prstGeom>
          <a:solidFill>
            <a:srgbClr val="F7F8FB"/>
          </a:solidFill>
          <a:ln w="12700">
            <a:solidFill>
              <a:srgbClr val="DDE1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03504" y="1993392"/>
            <a:ext cx="4754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인버터 컴프레서 10년에는 조건이 있다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603504" y="2203704"/>
            <a:ext cx="4754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에어컨은 2015년 1월 이후 제조분 · 시스템에어컨 제외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57200" y="2487168"/>
            <a:ext cx="5029200" cy="429768"/>
          </a:xfrm>
          <a:prstGeom prst="rect">
            <a:avLst/>
          </a:prstGeom>
          <a:solidFill>
            <a:srgbClr val="F7F8FB"/>
          </a:solidFill>
          <a:ln w="12700">
            <a:solidFill>
              <a:srgbClr val="DDE1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03504" y="2496312"/>
            <a:ext cx="4754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건조기는 또 다르다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03504" y="2706624"/>
            <a:ext cx="4754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정속형 10년 / 인버터형 12년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457200" y="2990088"/>
            <a:ext cx="5029200" cy="429768"/>
          </a:xfrm>
          <a:prstGeom prst="rect">
            <a:avLst/>
          </a:prstGeom>
          <a:solidFill>
            <a:srgbClr val="F7F8FB"/>
          </a:solidFill>
          <a:ln w="12700">
            <a:solidFill>
              <a:srgbClr val="DDE1E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03504" y="2999232"/>
            <a:ext cx="4754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드럼세탁기 DD 모터 10년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603504" y="3209544"/>
            <a:ext cx="4754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2008년 1월 제조분부터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5669280" y="3520440"/>
            <a:ext cx="3108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확인하지 못한 값은 "확인 필요"로 비워 뒀습니다.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추측으로 채우지 않는 것이 지점을 지키는 방식입니다.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457200" y="3520440"/>
            <a:ext cx="5029200" cy="402336"/>
          </a:xfrm>
          <a:prstGeom prst="rect">
            <a:avLst/>
          </a:prstGeom>
          <a:solidFill>
            <a:srgbClr val="F7F8FB"/>
          </a:solidFill>
          <a:ln w="12700">
            <a:solidFill>
              <a:srgbClr val="DDE1EC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85216" y="3520440"/>
            <a:ext cx="5943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상담사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1234440" y="3520440"/>
            <a:ext cx="4114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기억에 의존하지 않고 품목·부품별로 확인한다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457200" y="3977640"/>
            <a:ext cx="5029200" cy="512064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85216" y="3977640"/>
            <a:ext cx="5943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지점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1234440" y="3977640"/>
            <a:ext cx="4114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"된다고 했잖아요"에서 시작되는 분쟁이 줄어든다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457200" y="4590288"/>
            <a:ext cx="832104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C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457200" y="4590288"/>
            <a:ext cx="45720" cy="29260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40080" y="4590288"/>
            <a:ext cx="8046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 지표 — 보증 적용 여부 재문의 · CS 이관 건수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F7F8FB"/>
          </a:solidFill>
          <a:ln w="12700">
            <a:solidFill>
              <a:srgbClr val="F7F8F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887468"/>
            <a:ext cx="2011680" cy="256032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" y="488746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 코파일럿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194560" y="4887468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정확도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595360" y="4887468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27432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74320"/>
            <a:ext cx="868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정확도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2179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설치 조건을 계약 전에 짚습니다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07899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시범 기간 가장 많이 열린 화면입니다 — 128건 · 1위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41848" y="1453896"/>
            <a:ext cx="3163824" cy="199796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C"/>
            </a:solidFill>
            <a:prstDash val="solid"/>
          </a:ln>
        </p:spPr>
      </p:sp>
      <p:pic>
        <p:nvPicPr>
          <p:cNvPr id="12" name="Image 0" descr="C:\Users\노윤정\gyeongwon-ax-hub\발표자료\이미지\02-instal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0" y="1481328"/>
            <a:ext cx="3108960" cy="194310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457200" y="1481328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21개 카테고리 · 전기 · 배수 · 이격 · 문 폭까지 설치 전 확인 항목을 한 화면에 모았습니다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57200" y="2057400"/>
            <a:ext cx="5029200" cy="1051560"/>
          </a:xfrm>
          <a:prstGeom prst="rect">
            <a:avLst/>
          </a:prstGeom>
          <a:solidFill>
            <a:srgbClr val="F7F8FB"/>
          </a:solidFill>
          <a:ln w="12700">
            <a:solidFill>
              <a:srgbClr val="DDE1E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21792" y="2057400"/>
            <a:ext cx="47548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설치가 안 되는 집을 계약하면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기사 재방문 · 일정 재조정 · 반품이 모두 따라옵니다.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계약서에 사인하기 전 30초로 막을 수 있는 비용입니다.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457200" y="3291840"/>
            <a:ext cx="5029200" cy="402336"/>
          </a:xfrm>
          <a:prstGeom prst="rect">
            <a:avLst/>
          </a:prstGeom>
          <a:solidFill>
            <a:srgbClr val="F7F8FB"/>
          </a:solidFill>
          <a:ln w="12700">
            <a:solidFill>
              <a:srgbClr val="DDE1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85216" y="3291840"/>
            <a:ext cx="5943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상담사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1234440" y="3291840"/>
            <a:ext cx="4114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 전에 설치 조건을 함께 확인한다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457200" y="3749040"/>
            <a:ext cx="5029200" cy="512064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85216" y="3749040"/>
            <a:ext cx="5943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지점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1234440" y="3749040"/>
            <a:ext cx="4114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설치 재방문 · 일정 재조정 · 설치 불가 취소가 줄어든다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57200" y="4590288"/>
            <a:ext cx="832104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57200" y="4590288"/>
            <a:ext cx="45720" cy="29260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40080" y="4590288"/>
            <a:ext cx="8046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 지표 — 설치 불가 · 재방문 건수 · 설치 사유 반품률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F7F8FB"/>
          </a:solidFill>
          <a:ln w="12700">
            <a:solidFill>
              <a:srgbClr val="F7F8F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887468"/>
            <a:ext cx="2011680" cy="256032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" y="488746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 코파일럿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194560" y="4887468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정확도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595360" y="4887468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27432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74320"/>
            <a:ext cx="868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정확도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2179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구독 혜택을 말이 아니라 화면으로 설명합니다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07899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삼성닷컴 12종 전수 대조 · 방문케어 현장 사진 89장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38328" y="1435608"/>
            <a:ext cx="2798064" cy="176936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C"/>
            </a:solidFill>
            <a:prstDash val="solid"/>
          </a:ln>
        </p:spPr>
      </p:sp>
      <p:pic>
        <p:nvPicPr>
          <p:cNvPr id="12" name="Image 0" descr="C:\Users\노윤정\gyeongwon-ax-hub\발표자료\이미지\31-care-benefit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463040"/>
            <a:ext cx="2743200" cy="171450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3218688" y="1435608"/>
            <a:ext cx="2798064" cy="176936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C"/>
            </a:solidFill>
            <a:prstDash val="solid"/>
          </a:ln>
        </p:spPr>
      </p:sp>
      <p:pic>
        <p:nvPicPr>
          <p:cNvPr id="14" name="Image 1" descr="C:\Users\노윤정\gyeongwon-ax-hub\발표자료\이미지\32-care-photo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246120" y="1463040"/>
            <a:ext cx="2743200" cy="171450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099048" y="1435608"/>
            <a:ext cx="2798064" cy="176936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C"/>
            </a:solidFill>
            <a:prstDash val="solid"/>
          </a:ln>
        </p:spPr>
      </p:sp>
      <p:pic>
        <p:nvPicPr>
          <p:cNvPr id="16" name="Image 2" descr="C:\Users\노윤정\gyeongwon-ax-hub\발표자료\이미지\05-car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126480" y="1463040"/>
            <a:ext cx="2743200" cy="171450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365760" y="3182112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혜택이 먼저 나온다</a:t>
            </a:r>
            <a:endParaRPr lang="en-US" sz="1050" dirty="0"/>
          </a:p>
        </p:txBody>
      </p:sp>
      <p:sp>
        <p:nvSpPr>
          <p:cNvPr id="18" name="Text 13"/>
          <p:cNvSpPr/>
          <p:nvPr/>
        </p:nvSpPr>
        <p:spPr>
          <a:xfrm>
            <a:off x="3246120" y="3182112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방문케어를 사진으로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6126480" y="3182112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12종 제품별 회차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365760" y="3520440"/>
            <a:ext cx="8503920" cy="402336"/>
          </a:xfrm>
          <a:prstGeom prst="rect">
            <a:avLst/>
          </a:prstGeom>
          <a:solidFill>
            <a:srgbClr val="F7F8FB"/>
          </a:solidFill>
          <a:ln w="12700">
            <a:solidFill>
              <a:srgbClr val="DDE1EC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493776" y="3520440"/>
            <a:ext cx="5943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상담사</a:t>
            </a:r>
            <a:endParaRPr lang="en-US" sz="950" dirty="0"/>
          </a:p>
        </p:txBody>
      </p:sp>
      <p:sp>
        <p:nvSpPr>
          <p:cNvPr id="22" name="Text 17"/>
          <p:cNvSpPr/>
          <p:nvPr/>
        </p:nvSpPr>
        <p:spPr>
          <a:xfrm>
            <a:off x="1143000" y="3520440"/>
            <a:ext cx="75895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"기사님이 와서 이렇게 해드립니다"를 사진으로 보여준다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365760" y="3977640"/>
            <a:ext cx="8503920" cy="512064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493776" y="3977640"/>
            <a:ext cx="5943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지점</a:t>
            </a:r>
            <a:endParaRPr lang="en-US" sz="950" dirty="0"/>
          </a:p>
        </p:txBody>
      </p:sp>
      <p:sp>
        <p:nvSpPr>
          <p:cNvPr id="25" name="Text 20"/>
          <p:cNvSpPr/>
          <p:nvPr/>
        </p:nvSpPr>
        <p:spPr>
          <a:xfrm>
            <a:off x="1143000" y="3977640"/>
            <a:ext cx="75895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구독의 가치가 전달되지 않아 놓치던 건이 줄어든다</a:t>
            </a:r>
            <a:endParaRPr lang="en-US" sz="1200" dirty="0"/>
          </a:p>
        </p:txBody>
      </p:sp>
      <p:sp>
        <p:nvSpPr>
          <p:cNvPr id="26" name="Shape 21"/>
          <p:cNvSpPr/>
          <p:nvPr/>
        </p:nvSpPr>
        <p:spPr>
          <a:xfrm>
            <a:off x="457200" y="4590288"/>
            <a:ext cx="832104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C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457200" y="4590288"/>
            <a:ext cx="45720" cy="29260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640080" y="4590288"/>
            <a:ext cx="8046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 지표 — 구독 제안 대비 성사율 · 구독 문의 재응대 건수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F7F8FB"/>
          </a:solidFill>
          <a:ln w="12700">
            <a:solidFill>
              <a:srgbClr val="F7F8F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887468"/>
            <a:ext cx="2011680" cy="256032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" y="488746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 코파일럿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194560" y="4887468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일관성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595360" y="4887468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27432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7C2D8F"/>
          </a:solidFill>
          <a:ln w="12700">
            <a:solidFill>
              <a:srgbClr val="7C2D8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74320"/>
            <a:ext cx="868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일관성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2179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응대해도 같은 답이 나옵니다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07899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지점장이 일일이 잡을 수 없던 편차를, 같은 화면 하나로 잡습니다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733288" y="1453896"/>
            <a:ext cx="3072384" cy="194081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C"/>
            </a:solidFill>
            <a:prstDash val="solid"/>
          </a:ln>
        </p:spPr>
      </p:sp>
      <p:pic>
        <p:nvPicPr>
          <p:cNvPr id="12" name="Image 0" descr="C:\Users\노윤정\gyeongwon-ax-hub\발표자료\이미지\01-hub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760720" y="1481328"/>
            <a:ext cx="3017520" cy="188595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457200" y="1481328"/>
            <a:ext cx="5029200" cy="301752"/>
          </a:xfrm>
          <a:prstGeom prst="rect">
            <a:avLst/>
          </a:prstGeom>
          <a:solidFill>
            <a:srgbClr val="F7F8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03504" y="1481328"/>
            <a:ext cx="22860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제품 데이터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2926080" y="1481328"/>
            <a:ext cx="24688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578종 / 57개 카테고리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457200" y="1828800"/>
            <a:ext cx="5029200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03504" y="1828800"/>
            <a:ext cx="22860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설치환경 가이드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2926080" y="1828800"/>
            <a:ext cx="24688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21개 카테고리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57200" y="2176272"/>
            <a:ext cx="5029200" cy="301752"/>
          </a:xfrm>
          <a:prstGeom prst="rect">
            <a:avLst/>
          </a:prstGeom>
          <a:solidFill>
            <a:srgbClr val="F7F8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03504" y="2176272"/>
            <a:ext cx="22860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타사비교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2926080" y="2176272"/>
            <a:ext cx="24688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15개 카테고리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457200" y="2523744"/>
            <a:ext cx="5029200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03504" y="2523744"/>
            <a:ext cx="22860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AS기간 확인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2926080" y="2523744"/>
            <a:ext cx="24688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26개 품목 (신설)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457200" y="2871216"/>
            <a:ext cx="5029200" cy="301752"/>
          </a:xfrm>
          <a:prstGeom prst="rect">
            <a:avLst/>
          </a:prstGeom>
          <a:solidFill>
            <a:srgbClr val="F7F8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03504" y="2871216"/>
            <a:ext cx="22860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AI구독 케어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2926080" y="2871216"/>
            <a:ext cx="24688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12종 · 현장 사진 89장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457200" y="3218688"/>
            <a:ext cx="5029200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03504" y="3218688"/>
            <a:ext cx="22860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아파트 도면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2926080" y="3218688"/>
            <a:ext cx="24688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138개 단지 · 615장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457200" y="3566160"/>
            <a:ext cx="5029200" cy="301752"/>
          </a:xfrm>
          <a:prstGeom prst="rect">
            <a:avLst/>
          </a:prstGeom>
          <a:solidFill>
            <a:srgbClr val="F7F8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03504" y="3566160"/>
            <a:ext cx="22860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통합검색 색인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2926080" y="3566160"/>
            <a:ext cx="24688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699건</a:t>
            </a:r>
            <a:endParaRPr lang="en-US" sz="1150" dirty="0"/>
          </a:p>
        </p:txBody>
      </p:sp>
      <p:sp>
        <p:nvSpPr>
          <p:cNvPr id="34" name="Text 31"/>
          <p:cNvSpPr/>
          <p:nvPr/>
        </p:nvSpPr>
        <p:spPr>
          <a:xfrm>
            <a:off x="5760720" y="338328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전부 삼성스토어 카탈로그 · 삼성닷컴 · 삼성멤버스에서 가져왔습니다. 팀의 해석을 넣지 않았습니다.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457200" y="3931920"/>
            <a:ext cx="5029200" cy="402336"/>
          </a:xfrm>
          <a:prstGeom prst="rect">
            <a:avLst/>
          </a:prstGeom>
          <a:solidFill>
            <a:srgbClr val="F7F8FB"/>
          </a:solidFill>
          <a:ln w="12700">
            <a:solidFill>
              <a:srgbClr val="DDE1EC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585216" y="3931920"/>
            <a:ext cx="5943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상담사</a:t>
            </a:r>
            <a:endParaRPr lang="en-US" sz="950" dirty="0"/>
          </a:p>
        </p:txBody>
      </p:sp>
      <p:sp>
        <p:nvSpPr>
          <p:cNvPr id="37" name="Text 34"/>
          <p:cNvSpPr/>
          <p:nvPr/>
        </p:nvSpPr>
        <p:spPr>
          <a:xfrm>
            <a:off x="1234440" y="3931920"/>
            <a:ext cx="4114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외워서 답하지 않고, 같은 화면을 열어 답한다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457200" y="4389120"/>
            <a:ext cx="5029200" cy="512064"/>
          </a:xfrm>
          <a:prstGeom prst="rect">
            <a:avLst/>
          </a:prstGeom>
          <a:solidFill>
            <a:srgbClr val="7C2D8F"/>
          </a:solidFill>
          <a:ln w="12700">
            <a:solidFill>
              <a:srgbClr val="7C2D8F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585216" y="4389120"/>
            <a:ext cx="5943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지점</a:t>
            </a:r>
            <a:endParaRPr lang="en-US" sz="950" dirty="0"/>
          </a:p>
        </p:txBody>
      </p:sp>
      <p:sp>
        <p:nvSpPr>
          <p:cNvPr id="40" name="Text 37"/>
          <p:cNvSpPr/>
          <p:nvPr/>
        </p:nvSpPr>
        <p:spPr>
          <a:xfrm>
            <a:off x="1234440" y="4389120"/>
            <a:ext cx="4114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경력 편차가 응대 품질 편차로 이어지지 않는다 · 신입이 첫날부터 같은 수준으로 답한다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F7F8FB"/>
          </a:solidFill>
          <a:ln w="12700">
            <a:solidFill>
              <a:srgbClr val="F7F8F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887468"/>
            <a:ext cx="2011680" cy="256032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" y="488746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 코파일럿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194560" y="4887468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일관성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595360" y="4887468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27432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7C2D8F"/>
          </a:solidFill>
          <a:ln w="12700">
            <a:solidFill>
              <a:srgbClr val="7C2D8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74320"/>
            <a:ext cx="868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일관성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2179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도구가 지키는 세 가지 원칙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07899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도구가 틀리면 지점이 책임집니다 — 그래서 처음부터 이렇게 만들었습니다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1536192"/>
            <a:ext cx="8321040" cy="749808"/>
          </a:xfrm>
          <a:prstGeom prst="rect">
            <a:avLst/>
          </a:prstGeom>
          <a:solidFill>
            <a:srgbClr val="F7F8FB"/>
          </a:solidFill>
          <a:ln w="12700">
            <a:solidFill>
              <a:srgbClr val="DDE1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1536192"/>
            <a:ext cx="54864" cy="749808"/>
          </a:xfrm>
          <a:prstGeom prst="rect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3232" y="1609344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 없는 숫자는 화면에 띄우지 않는다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713232" y="1920240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추정해서 채우면 상담사는 그것을 사실로 말합니다. 비워 두는 편이 안전합니다.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377440"/>
            <a:ext cx="8321040" cy="749808"/>
          </a:xfrm>
          <a:prstGeom prst="rect">
            <a:avLst/>
          </a:prstGeom>
          <a:solidFill>
            <a:srgbClr val="F7F8FB"/>
          </a:solidFill>
          <a:ln w="12700">
            <a:solidFill>
              <a:srgbClr val="DDE1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377440"/>
            <a:ext cx="54864" cy="749808"/>
          </a:xfrm>
          <a:prstGeom prst="rect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3232" y="2450592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확인하지 못한 값은 "확인 필요"로 남긴다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713232" y="2761488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AS기간 26개 품목 중 확인이 안 된 항목은 비워 두고, 회귀 검사가 그 상태를 지킵니다.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3218688"/>
            <a:ext cx="8321040" cy="749808"/>
          </a:xfrm>
          <a:prstGeom prst="rect">
            <a:avLst/>
          </a:prstGeom>
          <a:solidFill>
            <a:srgbClr val="F7F8FB"/>
          </a:solidFill>
          <a:ln w="12700">
            <a:solidFill>
              <a:srgbClr val="DDE1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" y="3218688"/>
            <a:ext cx="54864" cy="749808"/>
          </a:xfrm>
          <a:prstGeom prst="rect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3232" y="3291840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출처는 전부 공식 자료다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713232" y="3602736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삼성스토어 카탈로그 · 삼성닷컴 · 삼성멤버스 · LG 공식 카탈로그를 그대로 옮겼습니다.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4114800"/>
            <a:ext cx="8321040" cy="621792"/>
          </a:xfrm>
          <a:prstGeom prst="rect">
            <a:avLst/>
          </a:prstGeom>
          <a:solidFill>
            <a:srgbClr val="7C2D8F"/>
          </a:solidFill>
          <a:ln w="12700">
            <a:solidFill>
              <a:srgbClr val="7C2D8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114800"/>
            <a:ext cx="8046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상담사에게 "모르면 모른다고 말하라"고 요구하려면, 도구가 먼저 모르는 것을 모른다고 표시해야 합니다.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F7F8FB"/>
          </a:solidFill>
          <a:ln w="12700">
            <a:solidFill>
              <a:srgbClr val="F7F8F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887468"/>
            <a:ext cx="2011680" cy="256032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" y="488746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 코파일럿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194560" y="4887468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시범운영 결과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595360" y="4887468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310896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13일 동안 실제로 이렇게 쓰였습니다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457200" y="768096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2026-07-29 ~ 08-10 · 10개 매장 · 863건 — 한 기능만 쓰인 것이 아닙니다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23560" y="1280160"/>
            <a:ext cx="1508760" cy="777240"/>
          </a:xfrm>
          <a:prstGeom prst="rect">
            <a:avLst/>
          </a:prstGeom>
          <a:solidFill>
            <a:srgbClr val="F7F8FB"/>
          </a:solidFill>
          <a:ln w="12700">
            <a:solidFill>
              <a:srgbClr val="DDE1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23560" y="1335024"/>
            <a:ext cx="15087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5623560" y="1755648"/>
            <a:ext cx="1508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 매장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223760" y="1280160"/>
            <a:ext cx="1508760" cy="777240"/>
          </a:xfrm>
          <a:prstGeom prst="rect">
            <a:avLst/>
          </a:prstGeom>
          <a:solidFill>
            <a:srgbClr val="F7F8FB"/>
          </a:solidFill>
          <a:ln w="12700">
            <a:solidFill>
              <a:srgbClr val="DDE1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23760" y="1335024"/>
            <a:ext cx="15087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7223760" y="1755648"/>
            <a:ext cx="1508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23560" y="2148840"/>
            <a:ext cx="1508760" cy="777240"/>
          </a:xfrm>
          <a:prstGeom prst="rect">
            <a:avLst/>
          </a:prstGeom>
          <a:solidFill>
            <a:srgbClr val="F7F8FB"/>
          </a:solidFill>
          <a:ln w="12700">
            <a:solidFill>
              <a:srgbClr val="DDE1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23560" y="2203704"/>
            <a:ext cx="15087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863</a:t>
            </a:r>
            <a:endParaRPr lang="en-US" sz="2300" dirty="0"/>
          </a:p>
        </p:txBody>
      </p:sp>
      <p:sp>
        <p:nvSpPr>
          <p:cNvPr id="17" name="Text 15"/>
          <p:cNvSpPr/>
          <p:nvPr/>
        </p:nvSpPr>
        <p:spPr>
          <a:xfrm>
            <a:off x="5623560" y="2624328"/>
            <a:ext cx="1508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 실사용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223760" y="2148840"/>
            <a:ext cx="1508760" cy="777240"/>
          </a:xfrm>
          <a:prstGeom prst="rect">
            <a:avLst/>
          </a:prstGeom>
          <a:solidFill>
            <a:srgbClr val="F7F8FB"/>
          </a:solidFill>
          <a:ln w="12700">
            <a:solidFill>
              <a:srgbClr val="DDE1E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223760" y="2203704"/>
            <a:ext cx="15087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66</a:t>
            </a:r>
            <a:endParaRPr lang="en-US" sz="2300" dirty="0"/>
          </a:p>
        </p:txBody>
      </p:sp>
      <p:sp>
        <p:nvSpPr>
          <p:cNvPr id="20" name="Text 18"/>
          <p:cNvSpPr/>
          <p:nvPr/>
        </p:nvSpPr>
        <p:spPr>
          <a:xfrm>
            <a:off x="7223760" y="2624328"/>
            <a:ext cx="1508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건/일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57200" y="1280160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설치환경 가이드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514600" y="1362456"/>
            <a:ext cx="2286000" cy="164592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46320" y="1280160"/>
            <a:ext cx="640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128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57200" y="1645920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모델파인더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514600" y="1728216"/>
            <a:ext cx="2143125" cy="164592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03445" y="1645920"/>
            <a:ext cx="640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120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57200" y="2011680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타사비교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2514600" y="2093976"/>
            <a:ext cx="1821656" cy="164592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81976" y="2011680"/>
            <a:ext cx="640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102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57200" y="2377440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컨시어지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2514600" y="2459736"/>
            <a:ext cx="1714500" cy="164592"/>
          </a:xfrm>
          <a:prstGeom prst="rect">
            <a:avLst/>
          </a:prstGeom>
          <a:solidFill>
            <a:srgbClr val="2B44D0"/>
          </a:solidFill>
          <a:ln w="12700">
            <a:solidFill>
              <a:srgbClr val="2B44D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274820" y="2377440"/>
            <a:ext cx="640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96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57200" y="2743200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허브 검색·건의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2514600" y="2825496"/>
            <a:ext cx="1696641" cy="164592"/>
          </a:xfrm>
          <a:prstGeom prst="rect">
            <a:avLst/>
          </a:prstGeom>
          <a:solidFill>
            <a:srgbClr val="2B44D0"/>
          </a:solidFill>
          <a:ln w="12700">
            <a:solidFill>
              <a:srgbClr val="2B44D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256961" y="2743200"/>
            <a:ext cx="640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95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57200" y="3108960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레벨업 챌린지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2514600" y="3191256"/>
            <a:ext cx="1607344" cy="164592"/>
          </a:xfrm>
          <a:prstGeom prst="rect">
            <a:avLst/>
          </a:prstGeom>
          <a:solidFill>
            <a:srgbClr val="2B44D0"/>
          </a:solidFill>
          <a:ln w="12700">
            <a:solidFill>
              <a:srgbClr val="2B44D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167664" y="3108960"/>
            <a:ext cx="640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57200" y="3474720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AI구독 케어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2514600" y="3557016"/>
            <a:ext cx="1553766" cy="164592"/>
          </a:xfrm>
          <a:prstGeom prst="rect">
            <a:avLst/>
          </a:prstGeom>
          <a:solidFill>
            <a:srgbClr val="2B44D0"/>
          </a:solidFill>
          <a:ln w="12700">
            <a:solidFill>
              <a:srgbClr val="2B44D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114086" y="3474720"/>
            <a:ext cx="640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87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57200" y="3840480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쿠폰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2514600" y="3922776"/>
            <a:ext cx="1089422" cy="164592"/>
          </a:xfrm>
          <a:prstGeom prst="rect">
            <a:avLst/>
          </a:prstGeom>
          <a:solidFill>
            <a:srgbClr val="2B44D0"/>
          </a:solidFill>
          <a:ln w="12700">
            <a:solidFill>
              <a:srgbClr val="2B44D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49742" y="3840480"/>
            <a:ext cx="640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61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57200" y="4206240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배치 시뮬레이터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2514600" y="4288536"/>
            <a:ext cx="875109" cy="164592"/>
          </a:xfrm>
          <a:prstGeom prst="rect">
            <a:avLst/>
          </a:prstGeom>
          <a:solidFill>
            <a:srgbClr val="2B44D0"/>
          </a:solidFill>
          <a:ln w="12700">
            <a:solidFill>
              <a:srgbClr val="2B44D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35429" y="4206240"/>
            <a:ext cx="640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49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5623560" y="3127248"/>
            <a:ext cx="3154680" cy="1417320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788152" y="3127248"/>
            <a:ext cx="28346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상위 세 개가 전부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"고객 앞에서 지금 답해야 하는 것"입니다.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교육용이 아니라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중에 쓰였다는 뜻입니다.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457200" y="4617720"/>
            <a:ext cx="8321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사용 로그 자체가 현장 니즈 데이터입니다 — 무엇을 교육할지, 무엇을 보강할지의 근거가 됩니다.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F7F8FB"/>
          </a:solidFill>
          <a:ln w="12700">
            <a:solidFill>
              <a:srgbClr val="F7F8F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887468"/>
            <a:ext cx="2011680" cy="256032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" y="488746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 코파일럿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194560" y="4887468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반응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595360" y="4887468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45720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0" b="1" dirty="0">
                <a:solidFill>
                  <a:srgbClr val="C7D0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</a:t>
            </a:r>
            <a:endParaRPr lang="en-US" sz="8400" dirty="0"/>
          </a:p>
        </p:txBody>
      </p:sp>
      <p:sp>
        <p:nvSpPr>
          <p:cNvPr id="8" name="Text 6"/>
          <p:cNvSpPr/>
          <p:nvPr/>
        </p:nvSpPr>
        <p:spPr>
          <a:xfrm>
            <a:off x="1188720" y="1024128"/>
            <a:ext cx="73152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300" b="1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이거 있으니까 찾는 시간이 단축되고,</a:t>
            </a:r>
            <a:endParaRPr lang="en-US" sz="2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2300" b="1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삼성닷컴 자료를 그대로 가지고 온 거라</a:t>
            </a:r>
            <a:endParaRPr lang="en-US" sz="2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2300" b="1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신뢰도도 높아서 좋다.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1207008" y="257860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시범운영 상담사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188720" y="3035808"/>
            <a:ext cx="67665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88720" y="3035808"/>
            <a:ext cx="54864" cy="47548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353312" y="3035808"/>
            <a:ext cx="685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76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속도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103120" y="3035808"/>
            <a:ext cx="24688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"찾는 시간이 단축된다"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617720" y="3035808"/>
            <a:ext cx="228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937760" y="3035808"/>
            <a:ext cx="2834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응대 회전율 — 한 사람이 더 많이 받는다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188720" y="3584448"/>
            <a:ext cx="67665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88720" y="3584448"/>
            <a:ext cx="54864" cy="475488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53312" y="3584448"/>
            <a:ext cx="685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정확도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103120" y="3584448"/>
            <a:ext cx="24688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"자료를 그대로 가지고 왔다"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617720" y="3584448"/>
            <a:ext cx="228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937760" y="3584448"/>
            <a:ext cx="2834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오안내 리스크 — 지점이 책임질 말이 줄어든다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188720" y="4133088"/>
            <a:ext cx="67665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88720" y="4133088"/>
            <a:ext cx="54864" cy="475488"/>
          </a:xfrm>
          <a:prstGeom prst="rect">
            <a:avLst/>
          </a:prstGeom>
          <a:solidFill>
            <a:srgbClr val="7C2D8F"/>
          </a:solidFill>
          <a:ln w="12700">
            <a:solidFill>
              <a:srgbClr val="7C2D8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353312" y="4133088"/>
            <a:ext cx="685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C2D8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일관성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103120" y="4133088"/>
            <a:ext cx="24688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"누가 봐도 같은 화면이다"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617720" y="4133088"/>
            <a:ext cx="228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937760" y="4133088"/>
            <a:ext cx="2834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경력 편차가 응대 편차로 이어지지 않는다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188720" y="4700016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상담사가 말한 것을 지점 언어로 옮기면 회전율과 리스크입니다.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F7F8FB"/>
          </a:solidFill>
          <a:ln w="12700">
            <a:solidFill>
              <a:srgbClr val="F7F8F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887468"/>
            <a:ext cx="2011680" cy="256032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" y="488746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 코파일럿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194560" y="4887468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도입 조건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595360" y="4887468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310896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도입에 드는 것이 없습니다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457200" y="768096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주소만 알면 그날부터 씁니다 — 설치도, 계정 발급도, 교육 일정도 필요 없습니다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824728" y="1252728"/>
            <a:ext cx="1517904" cy="298094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C"/>
            </a:solidFill>
            <a:prstDash val="solid"/>
          </a:ln>
        </p:spPr>
      </p:sp>
      <p:pic>
        <p:nvPicPr>
          <p:cNvPr id="10" name="Image 0" descr="C:\Users\노윤정\gyeongwon-ax-hub\발표자료\이미지\20-mobile-hub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852160" y="1280160"/>
            <a:ext cx="1463040" cy="292608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7287768" y="1252728"/>
            <a:ext cx="1517904" cy="298094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C"/>
            </a:solidFill>
            <a:prstDash val="solid"/>
          </a:ln>
        </p:spPr>
      </p:sp>
      <p:pic>
        <p:nvPicPr>
          <p:cNvPr id="12" name="Image 1" descr="C:\Users\노윤정\gyeongwon-ax-hub\발표자료\이미지\21-mobile-plac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315200" y="1280160"/>
            <a:ext cx="1463040" cy="292608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457200" y="1298448"/>
            <a:ext cx="5120640" cy="420624"/>
          </a:xfrm>
          <a:prstGeom prst="rect">
            <a:avLst/>
          </a:prstGeom>
          <a:solidFill>
            <a:srgbClr val="F7F8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603504" y="1298448"/>
            <a:ext cx="14630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외부 개발비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2103120" y="1298448"/>
            <a:ext cx="33832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0원 — 팀 내부에서 만들었습니다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457200" y="1783080"/>
            <a:ext cx="512064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03504" y="1783080"/>
            <a:ext cx="14630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운영비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2103120" y="1783080"/>
            <a:ext cx="33832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0원 — 현재 별도 비용이 발생하지 않습니다</a:t>
            </a:r>
            <a:endParaRPr lang="en-US" sz="1150" dirty="0"/>
          </a:p>
        </p:txBody>
      </p:sp>
      <p:sp>
        <p:nvSpPr>
          <p:cNvPr id="19" name="Shape 15"/>
          <p:cNvSpPr/>
          <p:nvPr/>
        </p:nvSpPr>
        <p:spPr>
          <a:xfrm>
            <a:off x="457200" y="2267712"/>
            <a:ext cx="5120640" cy="420624"/>
          </a:xfrm>
          <a:prstGeom prst="rect">
            <a:avLst/>
          </a:prstGeom>
          <a:solidFill>
            <a:srgbClr val="F7F8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603504" y="2267712"/>
            <a:ext cx="14630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설치·배포</a:t>
            </a:r>
            <a:endParaRPr lang="en-US" sz="1150" dirty="0"/>
          </a:p>
        </p:txBody>
      </p:sp>
      <p:sp>
        <p:nvSpPr>
          <p:cNvPr id="21" name="Text 17"/>
          <p:cNvSpPr/>
          <p:nvPr/>
        </p:nvSpPr>
        <p:spPr>
          <a:xfrm>
            <a:off x="2103120" y="2267712"/>
            <a:ext cx="33832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불필요 — 웹 주소 하나입니다</a:t>
            </a:r>
            <a:endParaRPr lang="en-US" sz="1150" dirty="0"/>
          </a:p>
        </p:txBody>
      </p:sp>
      <p:sp>
        <p:nvSpPr>
          <p:cNvPr id="22" name="Shape 18"/>
          <p:cNvSpPr/>
          <p:nvPr/>
        </p:nvSpPr>
        <p:spPr>
          <a:xfrm>
            <a:off x="457200" y="2752344"/>
            <a:ext cx="512064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603504" y="2752344"/>
            <a:ext cx="14630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계정 발급</a:t>
            </a:r>
            <a:endParaRPr lang="en-US" sz="1150" dirty="0"/>
          </a:p>
        </p:txBody>
      </p:sp>
      <p:sp>
        <p:nvSpPr>
          <p:cNvPr id="24" name="Text 20"/>
          <p:cNvSpPr/>
          <p:nvPr/>
        </p:nvSpPr>
        <p:spPr>
          <a:xfrm>
            <a:off x="2103120" y="2752344"/>
            <a:ext cx="33832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불필요 — 로그인이 없습니다</a:t>
            </a:r>
            <a:endParaRPr lang="en-US" sz="1150" dirty="0"/>
          </a:p>
        </p:txBody>
      </p:sp>
      <p:sp>
        <p:nvSpPr>
          <p:cNvPr id="25" name="Shape 21"/>
          <p:cNvSpPr/>
          <p:nvPr/>
        </p:nvSpPr>
        <p:spPr>
          <a:xfrm>
            <a:off x="457200" y="3236976"/>
            <a:ext cx="5120640" cy="420624"/>
          </a:xfrm>
          <a:prstGeom prst="rect">
            <a:avLst/>
          </a:prstGeom>
          <a:solidFill>
            <a:srgbClr val="F7F8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03504" y="3236976"/>
            <a:ext cx="14630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단말</a:t>
            </a:r>
            <a:endParaRPr lang="en-US" sz="1150" dirty="0"/>
          </a:p>
        </p:txBody>
      </p:sp>
      <p:sp>
        <p:nvSpPr>
          <p:cNvPr id="27" name="Text 23"/>
          <p:cNvSpPr/>
          <p:nvPr/>
        </p:nvSpPr>
        <p:spPr>
          <a:xfrm>
            <a:off x="2103120" y="3236976"/>
            <a:ext cx="33832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매장 폰 · 태블릿 · PC 모두 같은 화면입니다</a:t>
            </a:r>
            <a:endParaRPr lang="en-US" sz="1150" dirty="0"/>
          </a:p>
        </p:txBody>
      </p:sp>
      <p:sp>
        <p:nvSpPr>
          <p:cNvPr id="28" name="Shape 24"/>
          <p:cNvSpPr/>
          <p:nvPr/>
        </p:nvSpPr>
        <p:spPr>
          <a:xfrm>
            <a:off x="457200" y="3721608"/>
            <a:ext cx="512064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603504" y="3721608"/>
            <a:ext cx="14630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업데이트</a:t>
            </a:r>
            <a:endParaRPr lang="en-US" sz="1150" dirty="0"/>
          </a:p>
        </p:txBody>
      </p:sp>
      <p:sp>
        <p:nvSpPr>
          <p:cNvPr id="30" name="Text 26"/>
          <p:cNvSpPr/>
          <p:nvPr/>
        </p:nvSpPr>
        <p:spPr>
          <a:xfrm>
            <a:off x="2103120" y="3721608"/>
            <a:ext cx="33832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고치면 새로고침만 하면 반영됩니다</a:t>
            </a:r>
            <a:endParaRPr lang="en-US" sz="1150" dirty="0"/>
          </a:p>
        </p:txBody>
      </p:sp>
      <p:sp>
        <p:nvSpPr>
          <p:cNvPr id="31" name="Shape 27"/>
          <p:cNvSpPr/>
          <p:nvPr/>
        </p:nvSpPr>
        <p:spPr>
          <a:xfrm>
            <a:off x="457200" y="4297680"/>
            <a:ext cx="5120640" cy="502920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457200" y="4297680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salescopilot-store.vercel.app</a:t>
            </a:r>
            <a:endParaRPr lang="en-US" sz="1500" dirty="0"/>
          </a:p>
        </p:txBody>
      </p:sp>
      <p:sp>
        <p:nvSpPr>
          <p:cNvPr id="33" name="Text 29"/>
          <p:cNvSpPr/>
          <p:nvPr/>
        </p:nvSpPr>
        <p:spPr>
          <a:xfrm>
            <a:off x="5852160" y="429768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휴대폰에서도 같습니다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F7F8FB"/>
          </a:solidFill>
          <a:ln w="12700">
            <a:solidFill>
              <a:srgbClr val="F7F8F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887468"/>
            <a:ext cx="2011680" cy="256032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" y="488746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 코파일럿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194560" y="4887468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595360" y="4887468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310896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65개 매장 도입 시 기대효과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457200" y="768096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실측값과 가정값을 구분했습니다 — 가정값은 회사 기준으로 바꿔 넣으시면 그대로 답이 나옵니다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65760" y="1188720"/>
            <a:ext cx="4114800" cy="2011680"/>
          </a:xfrm>
          <a:prstGeom prst="rect">
            <a:avLst/>
          </a:prstGeom>
          <a:solidFill>
            <a:srgbClr val="F7F8FB"/>
          </a:solidFill>
          <a:ln w="12700">
            <a:solidFill>
              <a:srgbClr val="DDE1E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1188720"/>
            <a:ext cx="411480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30352" y="1298448"/>
            <a:ext cx="3794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76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 — 현장이 돌려받는 시간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30352" y="1627632"/>
            <a:ext cx="457200" cy="192024"/>
          </a:xfrm>
          <a:prstGeom prst="roundRect">
            <a:avLst>
              <a:gd name="adj" fmla="val 50000"/>
            </a:avLst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0352" y="1627632"/>
            <a:ext cx="4572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실측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8992" y="1609344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매장당 하루 6.6건 사용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078992" y="1810512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863건 ÷ 10매장 ÷ 13일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30352" y="2011680"/>
            <a:ext cx="457200" cy="192024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30352" y="2011680"/>
            <a:ext cx="4572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가정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8992" y="1993392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1건당 찾는 시간 3분 절감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078992" y="2194560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상담사 진술 "찾는 시간이 단축된다"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530352" y="2395728"/>
            <a:ext cx="457200" cy="192024"/>
          </a:xfrm>
          <a:prstGeom prst="roundRect">
            <a:avLst>
              <a:gd name="adj" fmla="val 50000"/>
            </a:avLst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30352" y="2395728"/>
            <a:ext cx="4572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8992" y="2377440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65개 매장 월 약 560시간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1078992" y="257860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6.6건 × 3분 × 26영업일 × 65매장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530352" y="2779776"/>
            <a:ext cx="457200" cy="192024"/>
          </a:xfrm>
          <a:prstGeom prst="roundRect">
            <a:avLst>
              <a:gd name="adj" fmla="val 50000"/>
            </a:avLst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30352" y="2779776"/>
            <a:ext cx="4572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078992" y="2761488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약 6,700시간 = 상담사 3.2인분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1078992" y="2962656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 근무 174시간 기준 환산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4663440" y="1188720"/>
            <a:ext cx="4114800" cy="2011680"/>
          </a:xfrm>
          <a:prstGeom prst="rect">
            <a:avLst/>
          </a:prstGeom>
          <a:solidFill>
            <a:srgbClr val="F7F8FB"/>
          </a:solidFill>
          <a:ln w="12700">
            <a:solidFill>
              <a:srgbClr val="DDE1E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663440" y="1188720"/>
            <a:ext cx="4114800" cy="54864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28032" y="1298448"/>
            <a:ext cx="3794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비용 — 지점이 안 쓰게 되는 돈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4828032" y="1627632"/>
            <a:ext cx="457200" cy="192024"/>
          </a:xfrm>
          <a:prstGeom prst="roundRect">
            <a:avLst>
              <a:gd name="adj" fmla="val 50000"/>
            </a:avLst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28032" y="1627632"/>
            <a:ext cx="4572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실측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5376672" y="1609344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설치환경 가이드 128건 · 1위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5376672" y="1810512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 전에 설치 조건을 확인한 횟수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4828032" y="2011680"/>
            <a:ext cx="457200" cy="192024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28032" y="2011680"/>
            <a:ext cx="4572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가정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5376672" y="1993392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설치 재방문 1건당 비용 ○원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5376672" y="2194560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기사 출동 + 일정 재조정 + 응대 (사내 기준)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4828032" y="2395728"/>
            <a:ext cx="457200" cy="192024"/>
          </a:xfrm>
          <a:prstGeom prst="roundRect">
            <a:avLst>
              <a:gd name="adj" fmla="val 50000"/>
            </a:avLst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28032" y="2395728"/>
            <a:ext cx="4572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5376672" y="2377440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매장당 월 1건이면 연 780건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5376672" y="257860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65매장 × 12개월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4828032" y="2779776"/>
            <a:ext cx="457200" cy="192024"/>
          </a:xfrm>
          <a:prstGeom prst="roundRect">
            <a:avLst>
              <a:gd name="adj" fmla="val 50000"/>
            </a:avLst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28032" y="2779776"/>
            <a:ext cx="4572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5376672" y="2761488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취소 1건은 매출 전액 소실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5376672" y="2962656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막은 취소 1건 = 그 계약 금액 그대로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365760" y="329184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가정을 바꿔도 결론은 남습니다 — 절감 시간을 어떻게 잡든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365760" y="3566160"/>
            <a:ext cx="26517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C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02920" y="3611880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보수적 2분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02920" y="3813048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 374시간</a:t>
            </a:r>
            <a:endParaRPr lang="en-US" sz="1500" dirty="0"/>
          </a:p>
        </p:txBody>
      </p:sp>
      <p:sp>
        <p:nvSpPr>
          <p:cNvPr id="51" name="Text 49"/>
          <p:cNvSpPr/>
          <p:nvPr/>
        </p:nvSpPr>
        <p:spPr>
          <a:xfrm>
            <a:off x="1737360" y="3840480"/>
            <a:ext cx="1143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4,500시간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3200400" y="3566160"/>
            <a:ext cx="2651760" cy="71323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337560" y="3611880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7E7E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 3분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3337560" y="3813048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 560시간</a:t>
            </a:r>
            <a:endParaRPr lang="en-US" sz="1500" dirty="0"/>
          </a:p>
        </p:txBody>
      </p:sp>
      <p:sp>
        <p:nvSpPr>
          <p:cNvPr id="55" name="Text 53"/>
          <p:cNvSpPr/>
          <p:nvPr/>
        </p:nvSpPr>
        <p:spPr>
          <a:xfrm>
            <a:off x="4572000" y="3840480"/>
            <a:ext cx="1143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E7E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6,700시간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6035040" y="3566160"/>
            <a:ext cx="26517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C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172200" y="3611880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적극적 5분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6172200" y="3813048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 935시간</a:t>
            </a:r>
            <a:endParaRPr lang="en-US" sz="1500" dirty="0"/>
          </a:p>
        </p:txBody>
      </p:sp>
      <p:sp>
        <p:nvSpPr>
          <p:cNvPr id="59" name="Text 57"/>
          <p:cNvSpPr/>
          <p:nvPr/>
        </p:nvSpPr>
        <p:spPr>
          <a:xfrm>
            <a:off x="7406640" y="3840480"/>
            <a:ext cx="1143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11,200시간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365760" y="4370832"/>
            <a:ext cx="8412480" cy="457200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48640" y="4370832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보수적으로 잡아도 65개 매장에서 연 4,500시간. 도입 비용이 0원이므로 절감분이 그대로 순증입니다.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F7F8FB"/>
          </a:solidFill>
          <a:ln w="12700">
            <a:solidFill>
              <a:srgbClr val="F7F8F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887468"/>
            <a:ext cx="2011680" cy="256032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" y="488746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 코파일럿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194560" y="4887468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앞으로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595360" y="4887468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310896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단계와 요청사항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457200" y="768096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추가 비용 없이 확대 가능합니다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57200" y="1371600"/>
            <a:ext cx="365760" cy="365760"/>
          </a:xfrm>
          <a:prstGeom prst="ellipse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3716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05840" y="1298448"/>
            <a:ext cx="7680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시범 10개 매장 → 전 65개 매장 확대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05840" y="1609344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주소 공유만으로 됩니다. 매장별 설정도, 계정 발급도 없습니다.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103120"/>
            <a:ext cx="365760" cy="365760"/>
          </a:xfrm>
          <a:prstGeom prst="ellipse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21031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05840" y="2029968"/>
            <a:ext cx="7680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데이코 전용 카탈로그 반영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05840" y="2340864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88쪽 · 미반영 5개 라인 — 자료 공유가 필요합니다.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2834640"/>
            <a:ext cx="365760" cy="365760"/>
          </a:xfrm>
          <a:prstGeom prst="ellipse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28346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05840" y="2761488"/>
            <a:ext cx="7680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아파트 도면 확대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005840" y="3072384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현재 138개 단지. 경기 지역부터 넓히면 배치 적중률이 올라갑니다.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3566160"/>
            <a:ext cx="365760" cy="365760"/>
          </a:xfrm>
          <a:prstGeom prst="ellipse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35661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05840" y="3493008"/>
            <a:ext cx="7680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 로그를 교육 우선순위에 활용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005840" y="3803904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많이 찾는지가 곧 무엇이 부족한지입니다.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4279392"/>
            <a:ext cx="8321040" cy="548640"/>
          </a:xfrm>
          <a:prstGeom prst="rect">
            <a:avLst/>
          </a:prstGeom>
          <a:solidFill>
            <a:srgbClr val="F7F8FB"/>
          </a:solidFill>
          <a:ln w="12700">
            <a:solidFill>
              <a:srgbClr val="DDE1E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4279392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— ① 전 매장 확대 승인   ② 데이코 카탈로그 자료 공유   ③ 도면 확보 협조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28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858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7D0F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정리하면 세 줄입니다</a:t>
            </a:r>
            <a:endParaRPr lang="en-US" sz="1900" dirty="0"/>
          </a:p>
        </p:txBody>
      </p:sp>
      <p:sp>
        <p:nvSpPr>
          <p:cNvPr id="3" name="Shape 1"/>
          <p:cNvSpPr/>
          <p:nvPr/>
        </p:nvSpPr>
        <p:spPr>
          <a:xfrm>
            <a:off x="640080" y="1188720"/>
            <a:ext cx="56692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188720"/>
            <a:ext cx="64008" cy="7315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261872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들어가는 돈은 0원입니다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868680" y="1554480"/>
            <a:ext cx="5303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외부 개발비 · 운영비 · 라이선스 · 단말 추가 구매 모두 없습니다. 주소 하나면 그날부터 씁니다.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40080" y="2029968"/>
            <a:ext cx="56692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2029968"/>
            <a:ext cx="64008" cy="731520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2103120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나오는 것은 시간입니다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868680" y="2395728"/>
            <a:ext cx="5303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65개 매장 기준 월 약 560시간 · 연 약 6,700시간 — 상담사 3.2인분의 응대 시간입니다.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" y="2871216"/>
            <a:ext cx="56692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871216"/>
            <a:ext cx="64008" cy="731520"/>
          </a:xfrm>
          <a:prstGeom prst="rect">
            <a:avLst/>
          </a:prstGeom>
          <a:solidFill>
            <a:srgbClr val="7C2D8F"/>
          </a:solidFill>
          <a:ln w="12700">
            <a:solidFill>
              <a:srgbClr val="7C2D8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2944368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줄어드는 것은 사고입니다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868680" y="3236976"/>
            <a:ext cx="5303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셀링포인트 3건은 이미 지웠고, 설치·보증 오안내는 계약 전에 걸러집니다.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537960" y="1188720"/>
            <a:ext cx="1965960" cy="248716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37960" y="1298448"/>
            <a:ext cx="1965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설문조사</a:t>
            </a:r>
            <a:endParaRPr lang="en-US" sz="1250" dirty="0"/>
          </a:p>
        </p:txBody>
      </p:sp>
      <p:pic>
        <p:nvPicPr>
          <p:cNvPr id="17" name="Image 0" descr="C:\Users\노윤정\gyeongwon-ax-hub\발표자료\이미지\40-survey-q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903720" y="1609344"/>
            <a:ext cx="1234440" cy="123444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6537960" y="2926080"/>
            <a:ext cx="1965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휴대폰으로 찍어 주세요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6537960" y="3163824"/>
            <a:ext cx="1965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428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naver.me/GdTrsPi4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640080" y="3858768"/>
            <a:ext cx="5669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— 전 65개 매장 확대 승인 하나면 됩니다. 추가 예산은 발생하지 않습니다.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640080" y="4315968"/>
            <a:ext cx="56692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40080" y="4315968"/>
            <a:ext cx="5669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8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salescopilot-store.vercel.app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6537960" y="4315968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7D0F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 코파일럿 · 경원영업팀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경원영업팀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세일즈 코파일럿 — 빠르게 · 정확하게 · 똑같이</dc:title>
  <dc:subject>PptxGenJS Presentation</dc:subject>
  <dc:creator>경원영업팀</dc:creator>
  <cp:lastModifiedBy>경원영업팀</cp:lastModifiedBy>
  <cp:revision>1</cp:revision>
  <dcterms:created xsi:type="dcterms:W3CDTF">2026-08-10T00:11:11Z</dcterms:created>
  <dcterms:modified xsi:type="dcterms:W3CDTF">2026-08-10T00:11:11Z</dcterms:modified>
</cp:coreProperties>
</file>