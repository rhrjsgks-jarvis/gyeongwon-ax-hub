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3.png"/><Relationship Id="rId6" Type="http://schemas.openxmlformats.org/officeDocument/2006/relationships/image" Target="../media/image-2-4.svg"/><Relationship Id="rId7" Type="http://schemas.openxmlformats.org/officeDocument/2006/relationships/image" Target="../media/image-2-3.png"/><Relationship Id="rId8" Type="http://schemas.openxmlformats.org/officeDocument/2006/relationships/image" Target="../media/image-2-4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1475" y="239772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세일즈 코파일럿</a:t>
            </a:r>
            <a:endParaRPr lang="ko-KR" sz="3700" dirty="0"/>
          </a:p>
        </p:txBody>
      </p:sp>
      <p:sp>
        <p:nvSpPr>
          <p:cNvPr id="6" name="Text 2"/>
          <p:cNvSpPr/>
          <p:nvPr/>
        </p:nvSpPr>
        <p:spPr>
          <a:xfrm>
            <a:off x="661475" y="3063974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Sales Copilot — 매장 상담의 모든 답을 한 곳에</a:t>
            </a:r>
            <a:endParaRPr lang="ko-KR" sz="1850" dirty="0"/>
          </a:p>
        </p:txBody>
      </p:sp>
      <p:sp>
        <p:nvSpPr>
          <p:cNvPr id="7" name="Text 3"/>
          <p:cNvSpPr/>
          <p:nvPr/>
        </p:nvSpPr>
        <p:spPr>
          <a:xfrm>
            <a:off x="661475" y="3642717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경원영업팀 · 2026.08.10</a:t>
            </a:r>
            <a:endParaRPr lang="ko-KR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10개 매장 · 13일 시범운영 결과 보고</a:t>
            </a:r>
            <a:endParaRPr lang="ko-KR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33360" y="579239"/>
            <a:ext cx="6296860" cy="552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450" b="1" spc="-10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매장에서 실제로 벌어지는 일</a:t>
            </a:r>
            <a:endParaRPr lang="ko-KR" sz="3450" dirty="0"/>
          </a:p>
        </p:txBody>
      </p:sp>
      <p:sp>
        <p:nvSpPr>
          <p:cNvPr id="6" name="Text 2"/>
          <p:cNvSpPr/>
          <p:nvPr/>
        </p:nvSpPr>
        <p:spPr>
          <a:xfrm>
            <a:off x="5233360" y="1197670"/>
            <a:ext cx="6296860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700" b="1" spc="-5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상담이 막히는 세 지점</a:t>
            </a:r>
            <a:endParaRPr lang="ko-KR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721743"/>
            <a:ext cx="6296860" cy="10404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505312" y="1917502"/>
            <a:ext cx="5829154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700" b="1" spc="-5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"우리 집에 이거 들어가요?"</a:t>
            </a:r>
            <a:endParaRPr lang="ko-KR" sz="1700" dirty="0"/>
          </a:p>
        </p:txBody>
      </p:sp>
      <p:sp>
        <p:nvSpPr>
          <p:cNvPr id="9" name="Text 4"/>
          <p:cNvSpPr/>
          <p:nvPr/>
        </p:nvSpPr>
        <p:spPr>
          <a:xfrm>
            <a:off x="5505312" y="2292747"/>
            <a:ext cx="5829154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ko-KR" altLang="en-US" sz="135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도면도 줄자도 없다. "아마 될 겁니다"로 넘어간다.</a:t>
            </a:r>
            <a:endParaRPr lang="ko-KR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2927449"/>
            <a:ext cx="6296860" cy="10404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505312" y="3123208"/>
            <a:ext cx="5829154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700" b="1" spc="-5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"LG랑 뭐가 달라요?"</a:t>
            </a:r>
            <a:endParaRPr lang="ko-KR" sz="1700" dirty="0"/>
          </a:p>
        </p:txBody>
      </p:sp>
      <p:sp>
        <p:nvSpPr>
          <p:cNvPr id="12" name="Text 6"/>
          <p:cNvSpPr/>
          <p:nvPr/>
        </p:nvSpPr>
        <p:spPr>
          <a:xfrm>
            <a:off x="5505312" y="3498453"/>
            <a:ext cx="5829154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ko-KR" altLang="en-US" sz="135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기억으로 말한다. 틀리면 그 자리에서 신뢰를 잃는다.</a:t>
            </a:r>
            <a:endParaRPr lang="ko-KR" sz="13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3360" y="4133155"/>
            <a:ext cx="6296860" cy="10404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505312" y="4328914"/>
            <a:ext cx="5829154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700" b="1" spc="-5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"설치할 때 뭐 필요해요?"</a:t>
            </a:r>
            <a:endParaRPr lang="ko-KR" sz="1700" dirty="0"/>
          </a:p>
        </p:txBody>
      </p:sp>
      <p:sp>
        <p:nvSpPr>
          <p:cNvPr id="15" name="Text 8"/>
          <p:cNvSpPr/>
          <p:nvPr/>
        </p:nvSpPr>
        <p:spPr>
          <a:xfrm>
            <a:off x="5505312" y="4704159"/>
            <a:ext cx="5829154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ko-KR" altLang="en-US" sz="135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카탈로그 PDF를 뒤진다. 고객은 그동안 기다린다.</a:t>
            </a:r>
            <a:endParaRPr lang="ko-KR" sz="1350" dirty="0"/>
          </a:p>
        </p:txBody>
      </p:sp>
      <p:sp>
        <p:nvSpPr>
          <p:cNvPr id="16" name="Text 9"/>
          <p:cNvSpPr/>
          <p:nvPr/>
        </p:nvSpPr>
        <p:spPr>
          <a:xfrm>
            <a:off x="5498466" y="5545435"/>
            <a:ext cx="6031754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ko-KR" altLang="en-US" sz="135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셋 다 정보가 없어서가 아니라 </a:t>
            </a:r>
            <a:pPr algn="l" indent="0" marL="0">
              <a:lnSpc>
                <a:spcPct val="129000"/>
              </a:lnSpc>
              <a:buNone/>
            </a:pPr>
            <a:r>
              <a:rPr lang="ko-KR" altLang="en-US" sz="135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꺼낼 수가 없어서</a:t>
            </a:r>
            <a:pPr algn="l" indent="0" marL="0">
              <a:lnSpc>
                <a:spcPct val="129000"/>
              </a:lnSpc>
              <a:buNone/>
            </a:pPr>
            <a:r>
              <a:rPr lang="ko-KR" altLang="en-US" sz="135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생긴다.</a:t>
            </a:r>
            <a:endParaRPr lang="ko-KR" sz="1350" dirty="0"/>
          </a:p>
          <a:p>
            <a:pPr algn="l" indent="0" marL="0">
              <a:lnSpc>
                <a:spcPct val="129000"/>
              </a:lnSpc>
              <a:buNone/>
            </a:pPr>
            <a:r>
              <a:rPr lang="ko-KR" altLang="en-US" sz="135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자료가 없는 게 아니라, 3분 안에 못 찾는 게 문제였다.</a:t>
            </a:r>
            <a:endParaRPr lang="ko-KR" sz="1350" dirty="0"/>
          </a:p>
        </p:txBody>
      </p:sp>
      <p:sp>
        <p:nvSpPr>
          <p:cNvPr id="17" name="Shape 10"/>
          <p:cNvSpPr/>
          <p:nvPr/>
        </p:nvSpPr>
        <p:spPr>
          <a:xfrm>
            <a:off x="5233360" y="5359499"/>
            <a:ext cx="19050" cy="919163"/>
          </a:xfrm>
          <a:prstGeom prst="roundRect">
            <a:avLst>
              <a:gd name="adj" fmla="val 49999"/>
            </a:avLst>
          </a:prstGeom>
          <a:solidFill>
            <a:srgbClr val="4950BC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1475" y="826889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왜 '세일즈 코파일럿'인가</a:t>
            </a:r>
            <a:endParaRPr lang="ko-KR" sz="3700" dirty="0"/>
          </a:p>
        </p:txBody>
      </p:sp>
      <p:sp>
        <p:nvSpPr>
          <p:cNvPr id="6" name="Text 2"/>
          <p:cNvSpPr/>
          <p:nvPr/>
        </p:nvSpPr>
        <p:spPr>
          <a:xfrm>
            <a:off x="661475" y="1701006"/>
            <a:ext cx="6296860" cy="172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ko-KR" alt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코파일럿은 부조종사다.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기장을 대신 조종하지 않는다. 옆자리에서 계기를 읽어 주고, 놓친 것을 짚어 주고, 결정은 기장이 한다.</a:t>
            </a:r>
            <a:endParaRPr lang="ko-KR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 도구가 그렇게 동작한다.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답을 대신 말하지 않고 근거를 꺼내 준다.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"이 제품이 좋습니다"가 아니라 "이 자리는 912mm인데 이 냉장고는 이격 포함 962mm입니다"라고 말한다.</a:t>
            </a:r>
            <a:endParaRPr lang="ko-KR" sz="1450" dirty="0"/>
          </a:p>
        </p:txBody>
      </p:sp>
      <p:sp>
        <p:nvSpPr>
          <p:cNvPr id="7" name="Shape 3"/>
          <p:cNvSpPr/>
          <p:nvPr/>
        </p:nvSpPr>
        <p:spPr>
          <a:xfrm>
            <a:off x="661475" y="3638352"/>
            <a:ext cx="3053877" cy="1101824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56832" y="3833713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상담사를 대체하지 않는다</a:t>
            </a:r>
            <a:endParaRPr lang="ko-KR" sz="1850" dirty="0"/>
          </a:p>
        </p:txBody>
      </p:sp>
      <p:sp>
        <p:nvSpPr>
          <p:cNvPr id="9" name="Text 5"/>
          <p:cNvSpPr/>
          <p:nvPr/>
        </p:nvSpPr>
        <p:spPr>
          <a:xfrm>
            <a:off x="856832" y="4242395"/>
            <a:ext cx="26631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상담사를 무장시키는 도구다.</a:t>
            </a:r>
            <a:endParaRPr lang="ko-KR" sz="1450" dirty="0"/>
          </a:p>
        </p:txBody>
      </p:sp>
      <p:sp>
        <p:nvSpPr>
          <p:cNvPr id="10" name="Shape 6"/>
          <p:cNvSpPr/>
          <p:nvPr/>
        </p:nvSpPr>
        <p:spPr>
          <a:xfrm>
            <a:off x="3904359" y="3638352"/>
            <a:ext cx="3053976" cy="1101824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099715" y="3833713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외부 개발 없음</a:t>
            </a:r>
            <a:endParaRPr lang="ko-KR" sz="1850" dirty="0"/>
          </a:p>
        </p:txBody>
      </p:sp>
      <p:sp>
        <p:nvSpPr>
          <p:cNvPr id="12" name="Text 8"/>
          <p:cNvSpPr/>
          <p:nvPr/>
        </p:nvSpPr>
        <p:spPr>
          <a:xfrm>
            <a:off x="4099715" y="4242395"/>
            <a:ext cx="26632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팀 내부에서 직접 만들었다.</a:t>
            </a:r>
            <a:endParaRPr lang="ko-KR" sz="1450" dirty="0"/>
          </a:p>
        </p:txBody>
      </p:sp>
      <p:sp>
        <p:nvSpPr>
          <p:cNvPr id="13" name="Shape 9"/>
          <p:cNvSpPr/>
          <p:nvPr/>
        </p:nvSpPr>
        <p:spPr>
          <a:xfrm>
            <a:off x="661475" y="4929188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56832" y="5124549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근거를 꺼내 준다</a:t>
            </a:r>
            <a:endParaRPr lang="ko-KR" sz="1850" dirty="0"/>
          </a:p>
        </p:txBody>
      </p:sp>
      <p:sp>
        <p:nvSpPr>
          <p:cNvPr id="15" name="Text 11"/>
          <p:cNvSpPr/>
          <p:nvPr/>
        </p:nvSpPr>
        <p:spPr>
          <a:xfrm>
            <a:off x="856832" y="5533231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결정은 언제나 상담사가 한다.</a:t>
            </a:r>
            <a:endParaRPr lang="ko-KR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1124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150" b="1" spc="-9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무엇이 들어 있나</a:t>
            </a:r>
            <a:endParaRPr lang="ko-KR" sz="3150" dirty="0"/>
          </a:p>
        </p:txBody>
      </p:sp>
      <p:sp>
        <p:nvSpPr>
          <p:cNvPr id="3" name="Shape 1"/>
          <p:cNvSpPr/>
          <p:nvPr/>
        </p:nvSpPr>
        <p:spPr>
          <a:xfrm>
            <a:off x="661475" y="1441549"/>
            <a:ext cx="3549264" cy="3845719"/>
          </a:xfrm>
          <a:prstGeom prst="roundRect">
            <a:avLst>
              <a:gd name="adj" fmla="val 1901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1475" y="1865213"/>
            <a:ext cx="3549264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2285702"/>
            <a:ext cx="3549264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2943920"/>
            <a:ext cx="3549264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3364409"/>
            <a:ext cx="3549264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3784898"/>
            <a:ext cx="3549264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4443115"/>
            <a:ext cx="3549264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4863604"/>
            <a:ext cx="3549264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7924" y="1447899"/>
            <a:ext cx="1768232" cy="417314"/>
          </a:xfrm>
          <a:custGeom>
            <a:avLst/>
            <a:gdLst/>
            <a:ahLst/>
            <a:cxnLst/>
            <a:rect l="l" t="t" r="r" b="b"/>
            <a:pathLst>
              <a:path w="1768232" h="417314">
                <a:moveTo>
                  <a:pt x="56233" y="0"/>
                </a:moveTo>
                <a:lnTo>
                  <a:pt x="1768232" y="0"/>
                </a:lnTo>
                <a:lnTo>
                  <a:pt x="1768232" y="417314"/>
                </a:lnTo>
                <a:lnTo>
                  <a:pt x="0" y="417314"/>
                </a:lnTo>
                <a:lnTo>
                  <a:pt x="0" y="56234"/>
                </a:lnTo>
                <a:arcTo hR="56234" wR="56233" stAng="10800000" swAng="5400000"/>
                <a:close/>
              </a:path>
            </a:pathLst>
          </a:custGeom>
          <a:solidFill>
            <a:srgbClr val="1428A0"/>
          </a:solidFill>
          <a:ln/>
        </p:spPr>
      </p:sp>
      <p:sp>
        <p:nvSpPr>
          <p:cNvPr id="12" name="Text 10"/>
          <p:cNvSpPr/>
          <p:nvPr/>
        </p:nvSpPr>
        <p:spPr>
          <a:xfrm>
            <a:off x="828555" y="1536105"/>
            <a:ext cx="205655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ko-KR" altLang="en-US" sz="1250" b="1" spc="-25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항목</a:t>
            </a:r>
            <a:endParaRPr lang="ko-KR" sz="1250" dirty="0"/>
          </a:p>
        </p:txBody>
      </p:sp>
      <p:sp>
        <p:nvSpPr>
          <p:cNvPr id="13" name="Shape 11"/>
          <p:cNvSpPr/>
          <p:nvPr/>
        </p:nvSpPr>
        <p:spPr>
          <a:xfrm>
            <a:off x="2436156" y="1447899"/>
            <a:ext cx="1768232" cy="417314"/>
          </a:xfrm>
          <a:custGeom>
            <a:avLst/>
            <a:gdLst/>
            <a:ahLst/>
            <a:cxnLst/>
            <a:rect l="l" t="t" r="r" b="b"/>
            <a:pathLst>
              <a:path w="1768232" h="417314">
                <a:moveTo>
                  <a:pt x="0" y="0"/>
                </a:moveTo>
                <a:lnTo>
                  <a:pt x="1711999" y="0"/>
                </a:lnTo>
                <a:arcTo hR="56234" wR="56233" stAng="16200000" swAng="5400000"/>
                <a:lnTo>
                  <a:pt x="1768232" y="417314"/>
                </a:lnTo>
                <a:lnTo>
                  <a:pt x="0" y="417314"/>
                </a:lnTo>
                <a:lnTo>
                  <a:pt x="0" y="0"/>
                </a:lnTo>
                <a:close/>
              </a:path>
            </a:pathLst>
          </a:custGeom>
          <a:solidFill>
            <a:srgbClr val="1428A0"/>
          </a:solidFill>
          <a:ln/>
        </p:spPr>
      </p:sp>
      <p:sp>
        <p:nvSpPr>
          <p:cNvPr id="14" name="Text 12"/>
          <p:cNvSpPr/>
          <p:nvPr/>
        </p:nvSpPr>
        <p:spPr>
          <a:xfrm>
            <a:off x="2596787" y="1536105"/>
            <a:ext cx="205655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ko-KR" altLang="en-US" sz="1250" b="1" spc="-25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수치</a:t>
            </a:r>
            <a:endParaRPr lang="ko-KR" sz="1250" dirty="0"/>
          </a:p>
        </p:txBody>
      </p:sp>
      <p:sp>
        <p:nvSpPr>
          <p:cNvPr id="15" name="Text 13"/>
          <p:cNvSpPr/>
          <p:nvPr/>
        </p:nvSpPr>
        <p:spPr>
          <a:xfrm>
            <a:off x="828555" y="1956594"/>
            <a:ext cx="205655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ko-KR" alt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상담 도구</a:t>
            </a:r>
            <a:endParaRPr lang="ko-KR" sz="1250" dirty="0"/>
          </a:p>
        </p:txBody>
      </p:sp>
      <p:sp>
        <p:nvSpPr>
          <p:cNvPr id="16" name="Text 14"/>
          <p:cNvSpPr/>
          <p:nvPr/>
        </p:nvSpPr>
        <p:spPr>
          <a:xfrm>
            <a:off x="2596787" y="1956594"/>
            <a:ext cx="205655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ko-KR" altLang="en-US" sz="125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9개</a:t>
            </a:r>
            <a:endParaRPr lang="ko-KR" sz="1250" dirty="0"/>
          </a:p>
        </p:txBody>
      </p:sp>
      <p:sp>
        <p:nvSpPr>
          <p:cNvPr id="17" name="Text 15"/>
          <p:cNvSpPr/>
          <p:nvPr/>
        </p:nvSpPr>
        <p:spPr>
          <a:xfrm>
            <a:off x="828555" y="2377083"/>
            <a:ext cx="205655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ko-KR" alt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제품 데이터</a:t>
            </a:r>
            <a:endParaRPr lang="ko-KR" sz="1250" dirty="0"/>
          </a:p>
        </p:txBody>
      </p:sp>
      <p:sp>
        <p:nvSpPr>
          <p:cNvPr id="18" name="Text 16"/>
          <p:cNvSpPr/>
          <p:nvPr/>
        </p:nvSpPr>
        <p:spPr>
          <a:xfrm>
            <a:off x="2596787" y="2377083"/>
            <a:ext cx="144697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ko-KR" altLang="en-US" sz="125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578종 / 57개 카테고리</a:t>
            </a:r>
            <a:endParaRPr lang="ko-KR" sz="1250" dirty="0"/>
          </a:p>
        </p:txBody>
      </p:sp>
      <p:sp>
        <p:nvSpPr>
          <p:cNvPr id="19" name="Text 17"/>
          <p:cNvSpPr/>
          <p:nvPr/>
        </p:nvSpPr>
        <p:spPr>
          <a:xfrm>
            <a:off x="828555" y="3035300"/>
            <a:ext cx="205655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ko-KR" alt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설치환경 가이드</a:t>
            </a:r>
            <a:endParaRPr lang="ko-KR" sz="1250" dirty="0"/>
          </a:p>
        </p:txBody>
      </p:sp>
      <p:sp>
        <p:nvSpPr>
          <p:cNvPr id="20" name="Text 18"/>
          <p:cNvSpPr/>
          <p:nvPr/>
        </p:nvSpPr>
        <p:spPr>
          <a:xfrm>
            <a:off x="2596787" y="3035300"/>
            <a:ext cx="205655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ko-KR" altLang="en-US" sz="125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21개 카테고리</a:t>
            </a:r>
            <a:endParaRPr lang="ko-KR" sz="1250" dirty="0"/>
          </a:p>
        </p:txBody>
      </p:sp>
      <p:sp>
        <p:nvSpPr>
          <p:cNvPr id="21" name="Text 19"/>
          <p:cNvSpPr/>
          <p:nvPr/>
        </p:nvSpPr>
        <p:spPr>
          <a:xfrm>
            <a:off x="828555" y="3455789"/>
            <a:ext cx="205655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ko-KR" alt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타사비교</a:t>
            </a:r>
            <a:endParaRPr lang="ko-KR" sz="1250" dirty="0"/>
          </a:p>
        </p:txBody>
      </p:sp>
      <p:sp>
        <p:nvSpPr>
          <p:cNvPr id="22" name="Text 20"/>
          <p:cNvSpPr/>
          <p:nvPr/>
        </p:nvSpPr>
        <p:spPr>
          <a:xfrm>
            <a:off x="2596787" y="3455789"/>
            <a:ext cx="205655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ko-KR" altLang="en-US" sz="125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15개 카테고리</a:t>
            </a:r>
            <a:endParaRPr lang="ko-KR" sz="1250" dirty="0"/>
          </a:p>
        </p:txBody>
      </p:sp>
      <p:sp>
        <p:nvSpPr>
          <p:cNvPr id="23" name="Text 21"/>
          <p:cNvSpPr/>
          <p:nvPr/>
        </p:nvSpPr>
        <p:spPr>
          <a:xfrm>
            <a:off x="828555" y="3876278"/>
            <a:ext cx="205655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ko-KR" alt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아파트 도면</a:t>
            </a:r>
            <a:endParaRPr lang="ko-KR" sz="1250" dirty="0"/>
          </a:p>
        </p:txBody>
      </p:sp>
      <p:sp>
        <p:nvSpPr>
          <p:cNvPr id="24" name="Text 22"/>
          <p:cNvSpPr/>
          <p:nvPr/>
        </p:nvSpPr>
        <p:spPr>
          <a:xfrm>
            <a:off x="2596787" y="3876278"/>
            <a:ext cx="144697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ko-KR" altLang="en-US" sz="125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138개 단지 · 615장 · 17개 시도</a:t>
            </a:r>
            <a:endParaRPr lang="ko-KR" sz="1250" dirty="0"/>
          </a:p>
        </p:txBody>
      </p:sp>
      <p:sp>
        <p:nvSpPr>
          <p:cNvPr id="25" name="Text 23"/>
          <p:cNvSpPr/>
          <p:nvPr/>
        </p:nvSpPr>
        <p:spPr>
          <a:xfrm>
            <a:off x="828555" y="4534495"/>
            <a:ext cx="205655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ko-KR" alt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배치용 대표 치수</a:t>
            </a:r>
            <a:endParaRPr lang="ko-KR" sz="1250" dirty="0"/>
          </a:p>
        </p:txBody>
      </p:sp>
      <p:sp>
        <p:nvSpPr>
          <p:cNvPr id="26" name="Text 24"/>
          <p:cNvSpPr/>
          <p:nvPr/>
        </p:nvSpPr>
        <p:spPr>
          <a:xfrm>
            <a:off x="2596787" y="4534495"/>
            <a:ext cx="205655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ko-KR" altLang="en-US" sz="125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70개 사이즈</a:t>
            </a:r>
            <a:endParaRPr lang="ko-KR" sz="1250" dirty="0"/>
          </a:p>
        </p:txBody>
      </p:sp>
      <p:sp>
        <p:nvSpPr>
          <p:cNvPr id="27" name="Text 25"/>
          <p:cNvSpPr/>
          <p:nvPr/>
        </p:nvSpPr>
        <p:spPr>
          <a:xfrm>
            <a:off x="828555" y="4954984"/>
            <a:ext cx="205655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ko-KR" alt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통합검색 색인</a:t>
            </a:r>
            <a:endParaRPr lang="ko-KR" sz="1250" dirty="0"/>
          </a:p>
        </p:txBody>
      </p:sp>
      <p:sp>
        <p:nvSpPr>
          <p:cNvPr id="28" name="Text 26"/>
          <p:cNvSpPr/>
          <p:nvPr/>
        </p:nvSpPr>
        <p:spPr>
          <a:xfrm>
            <a:off x="2596787" y="4954984"/>
            <a:ext cx="205655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ko-KR" altLang="en-US" sz="125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698건</a:t>
            </a:r>
            <a:endParaRPr lang="ko-KR" sz="1250" dirty="0"/>
          </a:p>
        </p:txBody>
      </p:sp>
      <p:sp>
        <p:nvSpPr>
          <p:cNvPr id="29" name="Text 27"/>
          <p:cNvSpPr/>
          <p:nvPr/>
        </p:nvSpPr>
        <p:spPr>
          <a:xfrm>
            <a:off x="661475" y="5440859"/>
            <a:ext cx="3549264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ko-KR" alt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제품 데이터는 삼성스토어 카탈로그, 타사비교는 LG 베스트샵 카탈로그를 직접 대조했다. </a:t>
            </a:r>
            <a:pPr algn="l" indent="0" marL="0">
              <a:lnSpc>
                <a:spcPct val="123000"/>
              </a:lnSpc>
              <a:buNone/>
            </a:pPr>
            <a:r>
              <a:rPr lang="ko-KR" altLang="en-US" sz="125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전부 공식 자료에서 왔다.</a:t>
            </a:r>
            <a:endParaRPr lang="ko-KR" sz="125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8993" y="2979043"/>
            <a:ext cx="2891956" cy="16066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478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우리 셀링포인트가 틀린 것을 잡아냈다</a:t>
            </a:r>
            <a:endParaRPr lang="ko-KR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8345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LG 카탈로그를 대조하다가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현장에서 반박당할 문구 세 개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를 찾아 지웠다.</a:t>
            </a:r>
            <a:endParaRPr lang="ko-KR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298502"/>
            <a:ext cx="10868745" cy="2199481"/>
          </a:xfrm>
          <a:prstGeom prst="roundRect">
            <a:avLst>
              <a:gd name="adj" fmla="val 3609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2849959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398242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3946525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095848" y="2298502"/>
            <a:ext cx="11814" cy="219948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7825" y="2304852"/>
            <a:ext cx="5428023" cy="545108"/>
          </a:xfrm>
          <a:custGeom>
            <a:avLst/>
            <a:gdLst/>
            <a:ahLst/>
            <a:cxnLst/>
            <a:rect l="l" t="t" r="r" b="b"/>
            <a:pathLst>
              <a:path w="5428023" h="545108">
                <a:moveTo>
                  <a:pt x="66156" y="0"/>
                </a:moveTo>
                <a:lnTo>
                  <a:pt x="5428023" y="0"/>
                </a:lnTo>
                <a:lnTo>
                  <a:pt x="5428023" y="545108"/>
                </a:lnTo>
                <a:lnTo>
                  <a:pt x="0" y="545108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1428A0"/>
          </a:solidFill>
          <a:ln/>
        </p:spPr>
      </p:sp>
      <p:sp>
        <p:nvSpPr>
          <p:cNvPr id="10" name="Text 8"/>
          <p:cNvSpPr/>
          <p:nvPr/>
        </p:nvSpPr>
        <p:spPr>
          <a:xfrm>
            <a:off x="856832" y="2424609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b="1" spc="-30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쓰고 있던 말</a:t>
            </a:r>
            <a:endParaRPr lang="ko-KR" sz="1450" dirty="0"/>
          </a:p>
        </p:txBody>
      </p:sp>
      <p:sp>
        <p:nvSpPr>
          <p:cNvPr id="11" name="Shape 9"/>
          <p:cNvSpPr/>
          <p:nvPr/>
        </p:nvSpPr>
        <p:spPr>
          <a:xfrm>
            <a:off x="6095848" y="2304852"/>
            <a:ext cx="5428023" cy="545108"/>
          </a:xfrm>
          <a:custGeom>
            <a:avLst/>
            <a:gdLst/>
            <a:ahLst/>
            <a:cxnLst/>
            <a:rect l="l" t="t" r="r" b="b"/>
            <a:pathLst>
              <a:path w="5428023" h="545108">
                <a:moveTo>
                  <a:pt x="0" y="0"/>
                </a:moveTo>
                <a:lnTo>
                  <a:pt x="5361866" y="0"/>
                </a:lnTo>
                <a:arcTo hR="66158" wR="66156" stAng="16200000" swAng="5400000"/>
                <a:lnTo>
                  <a:pt x="5428023" y="545108"/>
                </a:lnTo>
                <a:lnTo>
                  <a:pt x="0" y="545108"/>
                </a:lnTo>
                <a:lnTo>
                  <a:pt x="0" y="0"/>
                </a:lnTo>
                <a:close/>
              </a:path>
            </a:pathLst>
          </a:custGeom>
          <a:solidFill>
            <a:srgbClr val="1428A0"/>
          </a:solidFill>
          <a:ln/>
        </p:spPr>
      </p:sp>
      <p:sp>
        <p:nvSpPr>
          <p:cNvPr id="12" name="Text 10"/>
          <p:cNvSpPr/>
          <p:nvPr/>
        </p:nvSpPr>
        <p:spPr>
          <a:xfrm>
            <a:off x="6288029" y="2424609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b="1" spc="-30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사실</a:t>
            </a:r>
            <a:endParaRPr lang="ko-KR" sz="1450" dirty="0"/>
          </a:p>
        </p:txBody>
      </p:sp>
      <p:sp>
        <p:nvSpPr>
          <p:cNvPr id="13" name="Text 11"/>
          <p:cNvSpPr/>
          <p:nvPr/>
        </p:nvSpPr>
        <p:spPr>
          <a:xfrm>
            <a:off x="856832" y="2972891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"국내 일체형 최대용량 건조 20kg"</a:t>
            </a:r>
            <a:endParaRPr lang="ko-KR" sz="1450" dirty="0"/>
          </a:p>
        </p:txBody>
      </p:sp>
      <p:sp>
        <p:nvSpPr>
          <p:cNvPr id="14" name="Text 12"/>
          <p:cNvSpPr/>
          <p:nvPr/>
        </p:nvSpPr>
        <p:spPr>
          <a:xfrm>
            <a:off x="6288029" y="2972891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LG 2026년형 워시콤보 = 세탁 25 / 건조 21kg</a:t>
            </a:r>
            <a:endParaRPr lang="ko-KR" sz="1450" dirty="0"/>
          </a:p>
        </p:txBody>
      </p:sp>
      <p:sp>
        <p:nvSpPr>
          <p:cNvPr id="15" name="Text 13"/>
          <p:cNvSpPr/>
          <p:nvPr/>
        </p:nvSpPr>
        <p:spPr>
          <a:xfrm>
            <a:off x="856832" y="3521174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"Micro RGB는 삼성만의 기술"</a:t>
            </a:r>
            <a:endParaRPr lang="ko-KR" sz="1450" dirty="0"/>
          </a:p>
        </p:txBody>
      </p:sp>
      <p:sp>
        <p:nvSpPr>
          <p:cNvPr id="16" name="Text 14"/>
          <p:cNvSpPr/>
          <p:nvPr/>
        </p:nvSpPr>
        <p:spPr>
          <a:xfrm>
            <a:off x="6288029" y="3521174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LG도 2026년형에 Micro RGB를 냈다</a:t>
            </a:r>
            <a:endParaRPr lang="ko-KR" sz="1450" dirty="0"/>
          </a:p>
        </p:txBody>
      </p:sp>
      <p:sp>
        <p:nvSpPr>
          <p:cNvPr id="17" name="Text 15"/>
          <p:cNvSpPr/>
          <p:nvPr/>
        </p:nvSpPr>
        <p:spPr>
          <a:xfrm>
            <a:off x="856832" y="4069457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"LG 그램은 IPS"</a:t>
            </a:r>
            <a:endParaRPr lang="ko-KR" sz="1450" dirty="0"/>
          </a:p>
        </p:txBody>
      </p:sp>
      <p:sp>
        <p:nvSpPr>
          <p:cNvPr id="18" name="Text 16"/>
          <p:cNvSpPr/>
          <p:nvPr/>
        </p:nvSpPr>
        <p:spPr>
          <a:xfrm>
            <a:off x="6288029" y="4069457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그램에도 OLED 트림이 있다</a:t>
            </a:r>
            <a:endParaRPr lang="ko-KR" sz="1450" dirty="0"/>
          </a:p>
        </p:txBody>
      </p:sp>
      <p:sp>
        <p:nvSpPr>
          <p:cNvPr id="19" name="Text 17"/>
          <p:cNvSpPr/>
          <p:nvPr/>
        </p:nvSpPr>
        <p:spPr>
          <a:xfrm>
            <a:off x="944936" y="4923234"/>
            <a:ext cx="1058528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타사비교는 이기려고 만든 게 아니라 틀린 말을 안 하려고 만들었다.</a:t>
            </a:r>
            <a:endParaRPr lang="ko-KR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고객 앞에서 반박당하는 것이 가장 큰 손실이다.</a:t>
            </a:r>
            <a:endParaRPr lang="ko-KR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 세 가지는 회귀 검사에 넣어 다시 살아나지 못하게 막아 뒀다.</a:t>
            </a:r>
            <a:endParaRPr lang="ko-KR" sz="1450" dirty="0"/>
          </a:p>
        </p:txBody>
      </p:sp>
      <p:sp>
        <p:nvSpPr>
          <p:cNvPr id="20" name="Shape 18"/>
          <p:cNvSpPr/>
          <p:nvPr/>
        </p:nvSpPr>
        <p:spPr>
          <a:xfrm>
            <a:off x="661475" y="4710609"/>
            <a:ext cx="25399" cy="1332508"/>
          </a:xfrm>
          <a:prstGeom prst="roundRect">
            <a:avLst>
              <a:gd name="adj" fmla="val 50001"/>
            </a:avLst>
          </a:prstGeom>
          <a:solidFill>
            <a:srgbClr val="4950BC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5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"우리 집에 들어가요?" — 그 자리에서 보여준다</a:t>
            </a:r>
            <a:endParaRPr lang="ko-KR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90638"/>
            <a:ext cx="350421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고객이 사는 아파트를 이름으로 찾는다</a:t>
            </a:r>
            <a:endParaRPr lang="ko-KR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870200"/>
            <a:ext cx="350421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138개 단지 615장을 미리 넣어 뒀다. 지역 → 단지 → 도면. 고객이 "이천자이 85타입이요" 하면 그 도면이 바로 뜬다.</a:t>
            </a:r>
            <a:endParaRPr lang="ko-KR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966468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도면을 올리면 벽을 스스로 찾는다</a:t>
            </a:r>
            <a:endParaRPr lang="ko-KR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4450755"/>
            <a:ext cx="350421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사진 한 장에서 방 경계를 잡는다. 사람이 선을 그리지 않는다. 도면 인식 연구의 정의를 그대로 가져왔다 — "벽은 두께보다 긴, 직교하는 곧은 띠".</a:t>
            </a:r>
            <a:endParaRPr lang="ko-KR" sz="14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3201" y="2920901"/>
            <a:ext cx="3402324" cy="18902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2216"/>
            <a:ext cx="10868745" cy="494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100" b="1" spc="-9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축척 — 딱 한 가지만 묻는다</a:t>
            </a:r>
            <a:endParaRPr lang="ko-KR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274862"/>
            <a:ext cx="10868745" cy="681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4250" b="1" spc="-12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"안방 가로가 몇 mm입니까?"</a:t>
            </a:r>
            <a:endParaRPr lang="ko-KR" sz="4250" dirty="0"/>
          </a:p>
        </p:txBody>
      </p:sp>
      <p:sp>
        <p:nvSpPr>
          <p:cNvPr id="4" name="Text 2"/>
          <p:cNvSpPr/>
          <p:nvPr/>
        </p:nvSpPr>
        <p:spPr>
          <a:xfrm>
            <a:off x="356682" y="2155230"/>
            <a:ext cx="11478330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ko-KR" altLang="en-US" sz="12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이것 하나면 도면 전체가 실제 치수로 환산된다.</a:t>
            </a:r>
            <a:endParaRPr lang="ko-KR" sz="1200" dirty="0"/>
          </a:p>
        </p:txBody>
      </p:sp>
      <p:sp>
        <p:nvSpPr>
          <p:cNvPr id="5" name="Text 3"/>
          <p:cNvSpPr/>
          <p:nvPr/>
        </p:nvSpPr>
        <p:spPr>
          <a:xfrm>
            <a:off x="661475" y="2586038"/>
            <a:ext cx="10868745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550" b="1" spc="-4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왜 이렇게 만들었나</a:t>
            </a:r>
            <a:endParaRPr lang="ko-KR" sz="1550" dirty="0"/>
          </a:p>
        </p:txBody>
      </p:sp>
      <p:sp>
        <p:nvSpPr>
          <p:cNvPr id="6" name="Text 4"/>
          <p:cNvSpPr/>
          <p:nvPr/>
        </p:nvSpPr>
        <p:spPr>
          <a:xfrm>
            <a:off x="661475" y="3031629"/>
            <a:ext cx="10868745" cy="1078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spcAft>
                <a:spcPts val="1150"/>
              </a:spcAft>
              <a:buNone/>
            </a:pPr>
            <a:r>
              <a:rPr lang="ko-KR" altLang="en-US" sz="12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처음에는 도면의 치수선을 읽으려 했다. 그런데 수집한 도면 </a:t>
            </a:r>
            <a:pPr algn="l" indent="0" marL="0">
              <a:lnSpc>
                <a:spcPct val="122000"/>
              </a:lnSpc>
              <a:spcAft>
                <a:spcPts val="1150"/>
              </a:spcAft>
              <a:buNone/>
            </a:pPr>
            <a:r>
              <a:rPr lang="ko-KR" altLang="en-US" sz="120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1,185장을 세어 보니 치수가 인쇄된 것이 8%뿐</a:t>
            </a:r>
            <a:pPr algn="l" indent="0" marL="0">
              <a:lnSpc>
                <a:spcPct val="122000"/>
              </a:lnSpc>
              <a:spcAft>
                <a:spcPts val="1150"/>
              </a:spcAft>
              <a:buNone/>
            </a:pPr>
            <a:r>
              <a:rPr lang="ko-KR" altLang="en-US" sz="12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이었다. 분양 마케팅 자료는 예쁘게 보이려고 치수를 지운다. 92%에서 상담이 막힌다는 뜻이다.</a:t>
            </a:r>
            <a:endParaRPr lang="ko-KR" sz="12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ko-KR" altLang="en-US" sz="12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그래서 </a:t>
            </a:r>
            <a:pPr algn="l" indent="0" marL="0">
              <a:lnSpc>
                <a:spcPct val="122000"/>
              </a:lnSpc>
              <a:buNone/>
            </a:pPr>
            <a:r>
              <a:rPr lang="ko-KR" altLang="en-US" sz="120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고객이 아는 숫자 하나</a:t>
            </a:r>
            <a:pPr algn="l" indent="0" marL="0">
              <a:lnSpc>
                <a:spcPct val="122000"/>
              </a:lnSpc>
              <a:buNone/>
            </a:pPr>
            <a:r>
              <a:rPr lang="ko-KR" altLang="en-US" sz="12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만 묻기로 했다. 거실이 아니라 안방인 이유 — 고객은 거실 치수는 몰라도 안방 치수는 안다. '안방'이 아니라 '침실1'이라 쓰는 이유 — 실제 도면 120장을 세어 보니 침실1 48% vs 안방 29%.</a:t>
            </a:r>
            <a:endParaRPr lang="ko-KR" sz="1200" dirty="0"/>
          </a:p>
        </p:txBody>
      </p:sp>
      <p:sp>
        <p:nvSpPr>
          <p:cNvPr id="7" name="Text 5"/>
          <p:cNvSpPr/>
          <p:nvPr/>
        </p:nvSpPr>
        <p:spPr>
          <a:xfrm>
            <a:off x="898701" y="4407595"/>
            <a:ext cx="11241104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ko-KR" altLang="en-US" sz="12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 화면 한 장이 도면 1,185장을 세어 보고 나온 결과다.</a:t>
            </a:r>
            <a:endParaRPr lang="ko-KR" sz="1200" dirty="0"/>
          </a:p>
        </p:txBody>
      </p:sp>
      <p:sp>
        <p:nvSpPr>
          <p:cNvPr id="8" name="Shape 6"/>
          <p:cNvSpPr/>
          <p:nvPr/>
        </p:nvSpPr>
        <p:spPr>
          <a:xfrm>
            <a:off x="661475" y="4258766"/>
            <a:ext cx="19050" cy="530027"/>
          </a:xfrm>
          <a:prstGeom prst="roundRect">
            <a:avLst>
              <a:gd name="adj" fmla="val 49999"/>
            </a:avLst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924894" y="5016698"/>
            <a:ext cx="2985715" cy="521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100" b="1" spc="-12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8%</a:t>
            </a:r>
            <a:endParaRPr lang="en-US" sz="4100" dirty="0"/>
          </a:p>
        </p:txBody>
      </p:sp>
      <p:sp>
        <p:nvSpPr>
          <p:cNvPr id="10" name="Text 8"/>
          <p:cNvSpPr/>
          <p:nvPr/>
        </p:nvSpPr>
        <p:spPr>
          <a:xfrm>
            <a:off x="661475" y="5716885"/>
            <a:ext cx="3512653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치수 인쇄 도면</a:t>
            </a:r>
            <a:endParaRPr lang="ko-KR" sz="1550" dirty="0"/>
          </a:p>
        </p:txBody>
      </p:sp>
      <p:sp>
        <p:nvSpPr>
          <p:cNvPr id="11" name="Text 9"/>
          <p:cNvSpPr/>
          <p:nvPr/>
        </p:nvSpPr>
        <p:spPr>
          <a:xfrm>
            <a:off x="661475" y="6043414"/>
            <a:ext cx="351265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ko-KR" altLang="en-US" sz="12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1,185장 중 치수가 있는 도면</a:t>
            </a:r>
            <a:endParaRPr lang="ko-KR" sz="1200" dirty="0"/>
          </a:p>
        </p:txBody>
      </p:sp>
      <p:sp>
        <p:nvSpPr>
          <p:cNvPr id="12" name="Text 10"/>
          <p:cNvSpPr/>
          <p:nvPr/>
        </p:nvSpPr>
        <p:spPr>
          <a:xfrm>
            <a:off x="4602940" y="5016698"/>
            <a:ext cx="2985715" cy="521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100" b="1" spc="-12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92%</a:t>
            </a:r>
            <a:endParaRPr lang="en-US" sz="4100" dirty="0"/>
          </a:p>
        </p:txBody>
      </p:sp>
      <p:sp>
        <p:nvSpPr>
          <p:cNvPr id="13" name="Text 11"/>
          <p:cNvSpPr/>
          <p:nvPr/>
        </p:nvSpPr>
        <p:spPr>
          <a:xfrm>
            <a:off x="4339521" y="5716885"/>
            <a:ext cx="3512653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치수 없는 도면</a:t>
            </a:r>
            <a:endParaRPr lang="ko-KR" sz="1550" dirty="0"/>
          </a:p>
        </p:txBody>
      </p:sp>
      <p:sp>
        <p:nvSpPr>
          <p:cNvPr id="14" name="Text 12"/>
          <p:cNvSpPr/>
          <p:nvPr/>
        </p:nvSpPr>
        <p:spPr>
          <a:xfrm>
            <a:off x="4339521" y="6043414"/>
            <a:ext cx="351265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ko-KR" altLang="en-US" sz="12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상담이 막히는 구간</a:t>
            </a:r>
            <a:endParaRPr lang="ko-KR" sz="1200" dirty="0"/>
          </a:p>
        </p:txBody>
      </p:sp>
      <p:sp>
        <p:nvSpPr>
          <p:cNvPr id="15" name="Text 13"/>
          <p:cNvSpPr/>
          <p:nvPr/>
        </p:nvSpPr>
        <p:spPr>
          <a:xfrm>
            <a:off x="8280987" y="5016698"/>
            <a:ext cx="2985715" cy="521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100" b="1" spc="-12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48%</a:t>
            </a:r>
            <a:endParaRPr lang="en-US" sz="4100" dirty="0"/>
          </a:p>
        </p:txBody>
      </p:sp>
      <p:sp>
        <p:nvSpPr>
          <p:cNvPr id="16" name="Text 14"/>
          <p:cNvSpPr/>
          <p:nvPr/>
        </p:nvSpPr>
        <p:spPr>
          <a:xfrm>
            <a:off x="8017567" y="5716885"/>
            <a:ext cx="3512653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침실1 표기</a:t>
            </a:r>
            <a:endParaRPr lang="ko-KR" sz="1550" dirty="0"/>
          </a:p>
        </p:txBody>
      </p:sp>
      <p:sp>
        <p:nvSpPr>
          <p:cNvPr id="17" name="Text 15"/>
          <p:cNvSpPr/>
          <p:nvPr/>
        </p:nvSpPr>
        <p:spPr>
          <a:xfrm>
            <a:off x="8017567" y="6043414"/>
            <a:ext cx="351265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ko-KR" altLang="en-US" sz="12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도면 120장 기준</a:t>
            </a:r>
            <a:endParaRPr lang="ko-KR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1475" y="152013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놓아 보고, 안 되면 대안을 말한다</a:t>
            </a:r>
            <a:endParaRPr lang="ko-KR" sz="3700" dirty="0"/>
          </a:p>
        </p:txBody>
      </p:sp>
      <p:sp>
        <p:nvSpPr>
          <p:cNvPr id="6" name="Text 2"/>
          <p:cNvSpPr/>
          <p:nvPr/>
        </p:nvSpPr>
        <p:spPr>
          <a:xfrm>
            <a:off x="661475" y="2583259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가전을 끌어다 놓는다</a:t>
            </a:r>
            <a:endParaRPr lang="ko-KR" sz="1850" dirty="0"/>
          </a:p>
        </p:txBody>
      </p:sp>
      <p:sp>
        <p:nvSpPr>
          <p:cNvPr id="7" name="Text 3"/>
          <p:cNvSpPr/>
          <p:nvPr/>
        </p:nvSpPr>
        <p:spPr>
          <a:xfrm>
            <a:off x="661475" y="3067546"/>
            <a:ext cx="291785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고른 가전이 도면 밖에 대기하고, 상담사가 끌어다 넣는다. 벽을 넘으면 안쪽으로 밀어 주고, 이격이 모자라면 경고한다. TV+사운드바, 세탁기+건조기는 겹쳐 놓을 수 있다. 실제로 위아래로 설치하기 때문이다.</a:t>
            </a:r>
            <a:endParaRPr lang="ko-KR" sz="1450" dirty="0"/>
          </a:p>
        </p:txBody>
      </p:sp>
      <p:sp>
        <p:nvSpPr>
          <p:cNvPr id="8" name="Text 4"/>
          <p:cNvSpPr/>
          <p:nvPr/>
        </p:nvSpPr>
        <p:spPr>
          <a:xfrm>
            <a:off x="4046833" y="2583259"/>
            <a:ext cx="291785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"안 들어갑니다"로 끝나면 상담이 거기서 멈춘다</a:t>
            </a:r>
            <a:endParaRPr lang="ko-KR" sz="1850" dirty="0"/>
          </a:p>
        </p:txBody>
      </p:sp>
      <p:sp>
        <p:nvSpPr>
          <p:cNvPr id="9" name="Text 5"/>
          <p:cNvSpPr/>
          <p:nvPr/>
        </p:nvSpPr>
        <p:spPr>
          <a:xfrm>
            <a:off x="4046833" y="3362821"/>
            <a:ext cx="291785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그래서 실제로 놓아 보고 되는 것 중 가장 큰 것을 알려 준다.</a:t>
            </a:r>
            <a:endParaRPr lang="ko-KR" sz="1450" dirty="0"/>
          </a:p>
        </p:txBody>
      </p:sp>
      <p:sp>
        <p:nvSpPr>
          <p:cNvPr id="10" name="Text 6"/>
          <p:cNvSpPr/>
          <p:nvPr/>
        </p:nvSpPr>
        <p:spPr>
          <a:xfrm>
            <a:off x="4330294" y="4350345"/>
            <a:ext cx="26343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"같은 4도어 중 912×716mm 규격이면 들어갑니다."</a:t>
            </a:r>
            <a:endParaRPr lang="ko-KR" sz="1450" dirty="0"/>
          </a:p>
        </p:txBody>
      </p:sp>
      <p:sp>
        <p:nvSpPr>
          <p:cNvPr id="11" name="Shape 7"/>
          <p:cNvSpPr/>
          <p:nvPr/>
        </p:nvSpPr>
        <p:spPr>
          <a:xfrm>
            <a:off x="4046833" y="4180284"/>
            <a:ext cx="25399" cy="944959"/>
          </a:xfrm>
          <a:prstGeom prst="roundRect">
            <a:avLst>
              <a:gd name="adj" fmla="val 50001"/>
            </a:avLst>
          </a:prstGeom>
          <a:solidFill>
            <a:srgbClr val="4950BC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086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상담이 끝나면 고객 손에 남는다</a:t>
            </a:r>
            <a:endParaRPr lang="ko-KR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35038"/>
            <a:ext cx="3504219" cy="3364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도면 + 놓인 가전 + 제품별 치수·이격이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ko-KR" alt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이미지 한 장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으로 나간다. 카톡으로 보낸다.</a:t>
            </a:r>
            <a:endParaRPr lang="ko-KR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맨 아래에 이렇게 적혀 있다:</a:t>
            </a:r>
            <a:endParaRPr lang="ko-KR" sz="14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ko-KR" alt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"치수는 삼성스토어 카탈로그 기준 · 설치 규격은 실측 확인 필요"</a:t>
            </a:r>
            <a:endParaRPr lang="ko-KR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우리가 아는 것과 모르는 것을 구분해서 적는다. 이격 수치가 가이드에 없는 11개 카테고리는 화면에 "수치 미확인"이라고 쓴다. 다른 카테고리 값을 준용한 3건은 "준용(추정)"이라고 표시한다.</a:t>
            </a:r>
            <a:endParaRPr lang="ko-KR" sz="1450" dirty="0"/>
          </a:p>
        </p:txBody>
      </p:sp>
      <p:sp>
        <p:nvSpPr>
          <p:cNvPr id="4" name="Text 2"/>
          <p:cNvSpPr/>
          <p:nvPr/>
        </p:nvSpPr>
        <p:spPr>
          <a:xfrm>
            <a:off x="944936" y="5482034"/>
            <a:ext cx="383034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모른다고 적을 수 있어야 아는 것을 믿는다.</a:t>
            </a:r>
            <a:endParaRPr lang="ko-KR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5311973"/>
            <a:ext cx="25399" cy="642541"/>
          </a:xfrm>
          <a:prstGeom prst="roundRect">
            <a:avLst>
              <a:gd name="adj" fmla="val 50001"/>
            </a:avLst>
          </a:prstGeom>
          <a:solidFill>
            <a:srgbClr val="4950B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3201" y="2920901"/>
            <a:ext cx="3402324" cy="18902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33360" y="729754"/>
            <a:ext cx="6296860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400" b="1" spc="-7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시범운영 결과와 다음 단계</a:t>
            </a:r>
            <a:endParaRPr lang="ko-KR" sz="2400" dirty="0"/>
          </a:p>
        </p:txBody>
      </p:sp>
      <p:sp>
        <p:nvSpPr>
          <p:cNvPr id="6" name="Text 2"/>
          <p:cNvSpPr/>
          <p:nvPr/>
        </p:nvSpPr>
        <p:spPr>
          <a:xfrm>
            <a:off x="5775577" y="1294904"/>
            <a:ext cx="2013991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b="1" spc="-9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863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5233360" y="1821557"/>
            <a:ext cx="3098524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200" b="1" spc="-3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실사용 건수</a:t>
            </a:r>
            <a:endParaRPr lang="ko-KR" sz="1200" dirty="0"/>
          </a:p>
        </p:txBody>
      </p:sp>
      <p:sp>
        <p:nvSpPr>
          <p:cNvPr id="8" name="Text 4"/>
          <p:cNvSpPr/>
          <p:nvPr/>
        </p:nvSpPr>
        <p:spPr>
          <a:xfrm>
            <a:off x="5233360" y="2061369"/>
            <a:ext cx="3098524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ko-KR" alt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10개 매장 · 13일(7/29~8/10)</a:t>
            </a:r>
            <a:endParaRPr lang="ko-KR" sz="950" dirty="0"/>
          </a:p>
        </p:txBody>
      </p:sp>
      <p:sp>
        <p:nvSpPr>
          <p:cNvPr id="9" name="Text 5"/>
          <p:cNvSpPr/>
          <p:nvPr/>
        </p:nvSpPr>
        <p:spPr>
          <a:xfrm>
            <a:off x="8973913" y="1294904"/>
            <a:ext cx="2013991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b="1" spc="-9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66</a:t>
            </a:r>
            <a:endParaRPr lang="en-US" sz="3150" dirty="0"/>
          </a:p>
        </p:txBody>
      </p:sp>
      <p:sp>
        <p:nvSpPr>
          <p:cNvPr id="10" name="Text 6"/>
          <p:cNvSpPr/>
          <p:nvPr/>
        </p:nvSpPr>
        <p:spPr>
          <a:xfrm>
            <a:off x="8431696" y="1821557"/>
            <a:ext cx="3098524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200" b="1" spc="-3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하루 평균 사용</a:t>
            </a:r>
            <a:endParaRPr lang="ko-KR" sz="1200" dirty="0"/>
          </a:p>
        </p:txBody>
      </p:sp>
      <p:sp>
        <p:nvSpPr>
          <p:cNvPr id="11" name="Text 7"/>
          <p:cNvSpPr/>
          <p:nvPr/>
        </p:nvSpPr>
        <p:spPr>
          <a:xfrm>
            <a:off x="8431696" y="2061369"/>
            <a:ext cx="3098524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ko-KR" alt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방문 309세션</a:t>
            </a:r>
            <a:endParaRPr lang="ko-KR" sz="950" dirty="0"/>
          </a:p>
        </p:txBody>
      </p:sp>
      <p:sp>
        <p:nvSpPr>
          <p:cNvPr id="12" name="Text 8"/>
          <p:cNvSpPr/>
          <p:nvPr/>
        </p:nvSpPr>
        <p:spPr>
          <a:xfrm>
            <a:off x="7374745" y="2444552"/>
            <a:ext cx="2013991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ko-KR" altLang="en-US" sz="3150" b="1" spc="-9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0원</a:t>
            </a:r>
            <a:endParaRPr lang="ko-KR" sz="3150" dirty="0"/>
          </a:p>
        </p:txBody>
      </p:sp>
      <p:sp>
        <p:nvSpPr>
          <p:cNvPr id="13" name="Text 9"/>
          <p:cNvSpPr/>
          <p:nvPr/>
        </p:nvSpPr>
        <p:spPr>
          <a:xfrm>
            <a:off x="6832528" y="2971205"/>
            <a:ext cx="3098524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200" b="1" spc="-3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외부 개발 비용</a:t>
            </a:r>
            <a:endParaRPr lang="ko-KR" sz="1200" dirty="0"/>
          </a:p>
        </p:txBody>
      </p:sp>
      <p:sp>
        <p:nvSpPr>
          <p:cNvPr id="14" name="Text 10"/>
          <p:cNvSpPr/>
          <p:nvPr/>
        </p:nvSpPr>
        <p:spPr>
          <a:xfrm>
            <a:off x="6832528" y="3211016"/>
            <a:ext cx="3098524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ko-KR" alt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운영비 현재 0원</a:t>
            </a:r>
            <a:endParaRPr lang="ko-KR" sz="950" dirty="0"/>
          </a:p>
        </p:txBody>
      </p:sp>
      <p:sp>
        <p:nvSpPr>
          <p:cNvPr id="15" name="Text 11"/>
          <p:cNvSpPr/>
          <p:nvPr/>
        </p:nvSpPr>
        <p:spPr>
          <a:xfrm>
            <a:off x="5233360" y="3542705"/>
            <a:ext cx="299861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b="1" spc="-3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많이 쓴 순서</a:t>
            </a:r>
            <a:endParaRPr lang="ko-KR" sz="1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360" y="3824486"/>
            <a:ext cx="1949004" cy="17749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33360" y="5689203"/>
            <a:ext cx="2998613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상위 3개가 전부 "상담 중에 바로 답해야 하는 것"이다. 가정이 맞았다.</a:t>
            </a:r>
            <a:endParaRPr lang="ko-KR" sz="950" dirty="0"/>
          </a:p>
        </p:txBody>
      </p:sp>
      <p:sp>
        <p:nvSpPr>
          <p:cNvPr id="18" name="Text 13"/>
          <p:cNvSpPr/>
          <p:nvPr/>
        </p:nvSpPr>
        <p:spPr>
          <a:xfrm>
            <a:off x="8537957" y="3542705"/>
            <a:ext cx="299861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b="1" spc="-3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다음 단계</a:t>
            </a:r>
            <a:endParaRPr lang="ko-KR" sz="1200" dirty="0"/>
          </a:p>
        </p:txBody>
      </p:sp>
      <p:sp>
        <p:nvSpPr>
          <p:cNvPr id="19" name="Text 14"/>
          <p:cNvSpPr/>
          <p:nvPr/>
        </p:nvSpPr>
        <p:spPr>
          <a:xfrm>
            <a:off x="8537957" y="3814465"/>
            <a:ext cx="2998613" cy="732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Font typeface="+mj-lt"/>
              <a:buAutoNum type="arabicPeriod" startAt="1"/>
            </a:pPr>
            <a:r>
              <a:rPr lang="ko-KR" alt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시범 10개 매장 → 전 매장 확대</a:t>
            </a:r>
            <a:endParaRPr lang="ko-KR" sz="950" dirty="0"/>
          </a:p>
          <a:p>
            <a:pPr algn="l" marL="193040" indent="-193040">
              <a:lnSpc>
                <a:spcPct val="110000"/>
              </a:lnSpc>
              <a:buSzPct val="100000"/>
              <a:buFont typeface="+mj-lt"/>
              <a:buAutoNum type="arabicPeriod" startAt="2"/>
            </a:pPr>
            <a:r>
              <a:rPr lang="ko-KR" alt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데이코 전용 카탈로그 반영 (미반영 5개 라인)</a:t>
            </a:r>
            <a:endParaRPr lang="ko-KR" sz="950" dirty="0"/>
          </a:p>
          <a:p>
            <a:pPr algn="l" marL="193040" indent="-193040">
              <a:lnSpc>
                <a:spcPct val="110000"/>
              </a:lnSpc>
              <a:buSzPct val="100000"/>
              <a:buFont typeface="+mj-lt"/>
              <a:buAutoNum type="arabicPeriod" startAt="3"/>
            </a:pPr>
            <a:r>
              <a:rPr lang="ko-KR" alt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도면 확대 — 청약홈 자동 수집 경로 확보</a:t>
            </a:r>
            <a:endParaRPr lang="ko-KR" sz="950" dirty="0"/>
          </a:p>
          <a:p>
            <a:pPr algn="l" marL="193040" indent="-193040">
              <a:lnSpc>
                <a:spcPct val="110000"/>
              </a:lnSpc>
              <a:buSzPct val="100000"/>
              <a:buFont typeface="+mj-lt"/>
              <a:buAutoNum type="arabicPeriod" startAt="4"/>
            </a:pPr>
            <a:r>
              <a:rPr lang="ko-KR" alt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사용 로그를 교육 자료 우선순위에 활용</a:t>
            </a:r>
            <a:endParaRPr lang="ko-KR" sz="950" dirty="0"/>
          </a:p>
        </p:txBody>
      </p:sp>
      <p:sp>
        <p:nvSpPr>
          <p:cNvPr id="20" name="Text 15"/>
          <p:cNvSpPr/>
          <p:nvPr/>
        </p:nvSpPr>
        <p:spPr>
          <a:xfrm>
            <a:off x="8722201" y="4708227"/>
            <a:ext cx="2814369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120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"찾는 시간이 단축되고, 삼성닷컴 자료를 그대로 가지고 온 거라 신뢰도도 높아서 좋다."</a:t>
            </a:r>
            <a:endParaRPr lang="ko-KR" sz="1200" dirty="0"/>
          </a:p>
        </p:txBody>
      </p:sp>
      <p:sp>
        <p:nvSpPr>
          <p:cNvPr id="21" name="Text 16"/>
          <p:cNvSpPr/>
          <p:nvPr/>
        </p:nvSpPr>
        <p:spPr>
          <a:xfrm>
            <a:off x="8722201" y="5185470"/>
            <a:ext cx="342395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시범운영 상담사</a:t>
            </a:r>
            <a:endParaRPr lang="ko-KR" sz="950" dirty="0"/>
          </a:p>
        </p:txBody>
      </p:sp>
      <p:sp>
        <p:nvSpPr>
          <p:cNvPr id="22" name="Shape 17"/>
          <p:cNvSpPr/>
          <p:nvPr/>
        </p:nvSpPr>
        <p:spPr>
          <a:xfrm>
            <a:off x="8537957" y="4636393"/>
            <a:ext cx="12700" cy="783034"/>
          </a:xfrm>
          <a:prstGeom prst="roundRect">
            <a:avLst>
              <a:gd name="adj" fmla="val 49999"/>
            </a:avLst>
          </a:prstGeom>
          <a:solidFill>
            <a:srgbClr val="4950BC"/>
          </a:solidFill>
          <a:ln/>
        </p:spPr>
      </p:sp>
      <p:sp>
        <p:nvSpPr>
          <p:cNvPr id="23" name="Shape 18"/>
          <p:cNvSpPr/>
          <p:nvPr/>
        </p:nvSpPr>
        <p:spPr>
          <a:xfrm>
            <a:off x="8537957" y="5509220"/>
            <a:ext cx="2998613" cy="529233"/>
          </a:xfrm>
          <a:prstGeom prst="roundRect">
            <a:avLst>
              <a:gd name="adj" fmla="val 9750"/>
            </a:avLst>
          </a:prstGeom>
          <a:solidFill>
            <a:srgbClr val="DADBF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0786" y="5632748"/>
            <a:ext cx="153488" cy="12283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937104" y="5611713"/>
            <a:ext cx="2476636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950" spc="-19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고객이 "우리 집에 들어갈까요" 하고 물을 때, 이제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950" b="1" spc="-1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"보여드리겠습니다"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950" spc="-19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라고 답합니다.</a:t>
            </a:r>
            <a:endParaRPr lang="ko-KR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2026-08-09T15:50:43Z</dcterms:created>
  <dcterms:modified xsi:type="dcterms:W3CDTF">2026-08-09T15:50:43Z</dcterms:modified>
</cp:coreProperties>
</file>