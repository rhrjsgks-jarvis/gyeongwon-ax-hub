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8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41732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 코파일럿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658368" y="224028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7D0F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Sales Copilot — 매장 상담의 모든 답을 한 곳에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58368" y="2788920"/>
            <a:ext cx="1005840" cy="320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3017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경원영업팀 · 2026.08.10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" y="33101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D0F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 매장 · 13일 시범운영 결과 보고</a:t>
            </a:r>
            <a:endParaRPr lang="en-US" sz="1300" dirty="0"/>
          </a:p>
        </p:txBody>
      </p:sp>
      <p:pic>
        <p:nvPicPr>
          <p:cNvPr id="7" name="Image 0" descr="C:\Users\노윤정\gyeongwon-ax-hub\발표자료\이미지\01b-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548640"/>
            <a:ext cx="2377440" cy="1005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7F8FB"/>
          </a:solidFill>
          <a:ln w="12700">
            <a:solidFill>
              <a:srgbClr val="F7F8F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887468"/>
            <a:ext cx="2011680" cy="256032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" y="488746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 코파일럿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194560" y="4887468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595360" y="488746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310896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매장에서 실제로 벌어지는 일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457200" y="786384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상담이 막히는 세 지점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1417320"/>
            <a:ext cx="45720" cy="658368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1417320"/>
            <a:ext cx="7863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"우리 집에 이거 들어가요?"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58368" y="1728216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도면도 줄자도 없다. "아마 될 겁니다"로 넘어간다.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258568"/>
            <a:ext cx="45720" cy="658368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2258568"/>
            <a:ext cx="7863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"LG랑 뭐가 달라요?"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58368" y="2569464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기억으로 말한다. 틀리면 그 자리에서 신뢰를 잃는다.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099816"/>
            <a:ext cx="45720" cy="658368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" y="3099816"/>
            <a:ext cx="7863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"설치할 때 뭐 필요해요?"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58368" y="3410712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카탈로그 PDF를 뒤진다. 고객은 그동안 기다린다.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4041648"/>
            <a:ext cx="8229600" cy="566928"/>
          </a:xfrm>
          <a:prstGeom prst="rect">
            <a:avLst/>
          </a:prstGeom>
          <a:solidFill>
            <a:srgbClr val="F7F8FB"/>
          </a:solidFill>
          <a:ln w="12700">
            <a:solidFill>
              <a:srgbClr val="DDE1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4041648"/>
            <a:ext cx="7863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 다 정보가 없어서가 아니라 꺼낼 수가 없어서 생긴다 — 자료가 없는 게 아니라, 3분 안에 못 찾는 게 문제였다.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7F8FB"/>
          </a:solidFill>
          <a:ln w="12700">
            <a:solidFill>
              <a:srgbClr val="F7F8F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887468"/>
            <a:ext cx="2011680" cy="256032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" y="488746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 코파일럿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194560" y="4887468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595360" y="488746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310896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'세일즈 코파일럿'인가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457200" y="786384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이름이 곧 이 도구의 성격이다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1371600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50" b="1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코파일럿은 부조종사다.</a:t>
            </a:r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기장을 대신 조종하지 않는다. 옆자리에서 계기를 읽어 주고, 놓친 것을 짚어 주고, 결정은 기장이 한다.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57200" y="2240280"/>
            <a:ext cx="5029200" cy="1051560"/>
          </a:xfrm>
          <a:prstGeom prst="rect">
            <a:avLst/>
          </a:prstGeom>
          <a:solidFill>
            <a:srgbClr val="F7F8FB"/>
          </a:solidFill>
          <a:ln w="12700">
            <a:solidFill>
              <a:srgbClr val="DDE1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240280"/>
            <a:ext cx="46634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제품이 좋습니다"가 아니라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자리는 912mm인데 이 냉장고는 이격 포함 962mm입니다"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342900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답을 대신 말하지 않고 근거를 꺼내 준다.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상담사를 대체하는 도구가 아니라 무장시키는 도구다.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57200" y="41605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개발 0원 · 팀 내부 제작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41848" y="1344168"/>
            <a:ext cx="3072384" cy="194081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C"/>
            </a:solidFill>
            <a:prstDash val="solid"/>
          </a:ln>
        </p:spPr>
      </p:sp>
      <p:pic>
        <p:nvPicPr>
          <p:cNvPr id="15" name="Image 0" descr="C:\Users\노윤정\gyeongwon-ax-hub\발표자료\이미지\01-hub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0" y="1371600"/>
            <a:ext cx="3017520" cy="18859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7F8FB"/>
          </a:solidFill>
          <a:ln w="12700">
            <a:solidFill>
              <a:srgbClr val="F7F8F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887468"/>
            <a:ext cx="2011680" cy="256032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" y="488746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 코파일럿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194560" y="4887468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하는가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595360" y="488746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310896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들어 있나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457200" y="786384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전부 공식 자료에서 왔다 — 삼성스토어 카탈로그 · LG 베스트샵 카탈로그 대조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1417320"/>
            <a:ext cx="4846320" cy="365760"/>
          </a:xfrm>
          <a:prstGeom prst="rect">
            <a:avLst/>
          </a:prstGeom>
          <a:solidFill>
            <a:srgbClr val="F7F8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141732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도구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2651760" y="141732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9개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1837944"/>
            <a:ext cx="48463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1837944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제품 데이터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651760" y="1837944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578종 / 57개 카테고리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57200" y="2258568"/>
            <a:ext cx="4846320" cy="365760"/>
          </a:xfrm>
          <a:prstGeom prst="rect">
            <a:avLst/>
          </a:prstGeom>
          <a:solidFill>
            <a:srgbClr val="F7F8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258568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설치환경 가이드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2651760" y="2258568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21개 카테고리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57200" y="2679192"/>
            <a:ext cx="48463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2679192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타사비교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2651760" y="2679192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15개 카테고리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457200" y="3099816"/>
            <a:ext cx="4846320" cy="365760"/>
          </a:xfrm>
          <a:prstGeom prst="rect">
            <a:avLst/>
          </a:prstGeom>
          <a:solidFill>
            <a:srgbClr val="F7F8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3099816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아파트 도면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2651760" y="3099816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138개 단지 · 615장 · 17개 시도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457200" y="3520440"/>
            <a:ext cx="48463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35204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배치용 대표 치수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2651760" y="35204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70개 사이즈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457200" y="3941064"/>
            <a:ext cx="4846320" cy="365760"/>
          </a:xfrm>
          <a:prstGeom prst="rect">
            <a:avLst/>
          </a:prstGeom>
          <a:solidFill>
            <a:srgbClr val="F7F8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3941064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통합검색 색인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2651760" y="3941064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698건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5550408" y="1389888"/>
            <a:ext cx="3163824" cy="199796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C"/>
            </a:solidFill>
            <a:prstDash val="solid"/>
          </a:ln>
        </p:spPr>
      </p:sp>
      <p:pic>
        <p:nvPicPr>
          <p:cNvPr id="31" name="Image 0" descr="C:\Users\노윤정\gyeongwon-ax-hub\발표자료\이미지\03-fin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77840" y="1417320"/>
            <a:ext cx="3108960" cy="19431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7F8FB"/>
          </a:solidFill>
          <a:ln w="12700">
            <a:solidFill>
              <a:srgbClr val="F7F8F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887468"/>
            <a:ext cx="2011680" cy="256032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" y="488746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 코파일럿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194560" y="4887468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하는가 · WOW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595360" y="488746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310896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셀링포인트가 틀린 것을 잡아냈다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457200" y="786384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LG 카탈로그 대조 중 현장에서 반박당할 문구 세 개를 찾아 지웠다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8229600" cy="603504"/>
          </a:xfrm>
          <a:prstGeom prst="rect">
            <a:avLst/>
          </a:prstGeom>
          <a:solidFill>
            <a:srgbClr val="F7F8FB"/>
          </a:solidFill>
          <a:ln w="12700">
            <a:solidFill>
              <a:srgbClr val="DDE1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1463040"/>
            <a:ext cx="35661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trike="sngStrike" dirty="0">
                <a:solidFill>
                  <a:srgbClr val="B91C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"국내 일체형 최대용량 건조 20kg"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206240" y="1463040"/>
            <a:ext cx="2743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26280" y="1463040"/>
            <a:ext cx="40233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65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LG 2026년형 워시콤보 = 세탁 25 / 건조 21kg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176272"/>
            <a:ext cx="8229600" cy="603504"/>
          </a:xfrm>
          <a:prstGeom prst="rect">
            <a:avLst/>
          </a:prstGeom>
          <a:solidFill>
            <a:srgbClr val="F7F8FB"/>
          </a:solidFill>
          <a:ln w="12700">
            <a:solidFill>
              <a:srgbClr val="DDE1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92" y="2176272"/>
            <a:ext cx="35661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trike="sngStrike" dirty="0">
                <a:solidFill>
                  <a:srgbClr val="B91C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"Micro RGB는 삼성만의 기술"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206240" y="2176272"/>
            <a:ext cx="2743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26280" y="2176272"/>
            <a:ext cx="40233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65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LG도 2026년형에 Micro RGB를 냈다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2889504"/>
            <a:ext cx="8229600" cy="603504"/>
          </a:xfrm>
          <a:prstGeom prst="rect">
            <a:avLst/>
          </a:prstGeom>
          <a:solidFill>
            <a:srgbClr val="F7F8FB"/>
          </a:solidFill>
          <a:ln w="12700">
            <a:solidFill>
              <a:srgbClr val="DDE1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1792" y="2889504"/>
            <a:ext cx="35661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trike="sngStrike" dirty="0">
                <a:solidFill>
                  <a:srgbClr val="B91C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"LG 그램은 IPS"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206240" y="2889504"/>
            <a:ext cx="2743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26280" y="2889504"/>
            <a:ext cx="40233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65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그램에도 OLED 트림이 있다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3794760"/>
            <a:ext cx="8229600" cy="822960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" y="379476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타사비교는 이기려고 만든 게 아니라 틀린 말을 안 하려고 만들었다.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앞에서 반박당하는 것이 가장 큰 손실이다 — 이 셋은 회귀 검사로 다시 살아나지 못하게 막아 뒀다.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7F8FB"/>
          </a:solidFill>
          <a:ln w="12700">
            <a:solidFill>
              <a:srgbClr val="F7F8F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887468"/>
            <a:ext cx="2011680" cy="256032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" y="488746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 코파일럿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194560" y="4887468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WOW · 배치 시뮬레이터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595360" y="488746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310896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"우리 집에 들어가요?" — 그 자리에서 보여준다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457200" y="786384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사는 아파트를 이름으로 찾는다 · 138개 단지 615장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9768" y="1435608"/>
            <a:ext cx="4078224" cy="256946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C"/>
            </a:solidFill>
            <a:prstDash val="solid"/>
          </a:ln>
        </p:spPr>
      </p:sp>
      <p:pic>
        <p:nvPicPr>
          <p:cNvPr id="10" name="Image 0" descr="C:\Users\노윤정\gyeongwon-ax-hub\발표자료\이미지\08-place-librar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463040"/>
            <a:ext cx="4023360" cy="251460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4636008" y="1435608"/>
            <a:ext cx="4078224" cy="256946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C"/>
            </a:solidFill>
            <a:prstDash val="solid"/>
          </a:ln>
        </p:spPr>
      </p:sp>
      <p:pic>
        <p:nvPicPr>
          <p:cNvPr id="12" name="Image 1" descr="C:\Users\노윤정\gyeongwon-ax-hub\발표자료\이미지\09-place-library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63440" y="1463040"/>
            <a:ext cx="4023360" cy="25146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지역 → 단지 → 도면.  "이천자이 85타입이요" 하면 그 도면이 바로 뜬다.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7F8FB"/>
          </a:solidFill>
          <a:ln w="12700">
            <a:solidFill>
              <a:srgbClr val="F7F8F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887468"/>
            <a:ext cx="2011680" cy="256032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" y="488746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 코파일럿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194560" y="4887468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WOW · 배치 시뮬레이터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595360" y="488746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310896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도면을 올리면 벽을 스스로 찾는다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457200" y="786384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사진 한 장에서 방 경계와 문·창을 잡는다 — 사람이 선을 그리지 않는다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715768" y="1344168"/>
            <a:ext cx="5998464" cy="376961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C"/>
            </a:solidFill>
            <a:prstDash val="solid"/>
          </a:ln>
        </p:spPr>
      </p:sp>
      <p:pic>
        <p:nvPicPr>
          <p:cNvPr id="10" name="Image 0" descr="C:\Users\노윤정\gyeongwon-ax-hub\발표자료\이미지\13-room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0" y="1371600"/>
            <a:ext cx="5943600" cy="371475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457200" y="1554480"/>
            <a:ext cx="2148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하나
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도면 인식 연구에서 쓰는 정의를 그대로 가져왔다 —
</a:t>
            </a:r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"벽은 두께보다 긴, 직교하는 곧은 띠"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57200" y="3017520"/>
            <a:ext cx="2148840" cy="1280160"/>
          </a:xfrm>
          <a:prstGeom prst="rect">
            <a:avLst/>
          </a:prstGeom>
          <a:solidFill>
            <a:srgbClr val="F7F8FB"/>
          </a:solidFill>
          <a:ln w="12700">
            <a:solidFill>
              <a:srgbClr val="DDE1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3017520"/>
            <a:ext cx="1920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문·창(개구부)은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주황 점선으로 표시.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앞을 막는 가전에는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주의가 붙는다.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7F8FB"/>
          </a:solidFill>
          <a:ln w="12700">
            <a:solidFill>
              <a:srgbClr val="F7F8F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887468"/>
            <a:ext cx="2011680" cy="256032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" y="488746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 코파일럿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194560" y="4887468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WOW · 배치 시뮬레이터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595360" y="488746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310896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축척 — 딱 한 가지만 묻는다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457200" y="786384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이것 하나면 도면 전체가 실제 치수로 환산된다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715768" y="1344168"/>
            <a:ext cx="5998464" cy="376961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C"/>
            </a:solidFill>
            <a:prstDash val="solid"/>
          </a:ln>
        </p:spPr>
      </p:sp>
      <p:pic>
        <p:nvPicPr>
          <p:cNvPr id="10" name="Image 0" descr="C:\Users\노윤정\gyeongwon-ax-hub\발표자료\이미지\12-scale-as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0" y="1371600"/>
            <a:ext cx="5943600" cy="371475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457200" y="1463040"/>
            <a:ext cx="2148840" cy="685800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48640" y="1463040"/>
            <a:ext cx="1965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"거실 가로가</a:t>
            </a:r>
            <a:endParaRPr lang="en-US" sz="13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mm입니까?"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7200" y="2286000"/>
            <a:ext cx="2148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이렇게 만들었나
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처음엔 도면의 치수선을 읽으려 했다. 그런데 수집한 도면 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1,185장 중 치수가 인쇄된 것이 8%뿐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이었다.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분양 자료는 예쁘게 보이려고 치수를 지운다.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아는 숫자 하나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 묻기로 했다.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2743200" y="452628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화면 한 장이 도면 1,185장을 세어 보고 나온 결과다.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7F8FB"/>
          </a:solidFill>
          <a:ln w="12700">
            <a:solidFill>
              <a:srgbClr val="F7F8F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887468"/>
            <a:ext cx="2011680" cy="256032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" y="488746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 코파일럿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194560" y="4887468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WOW · 배치 시뮬레이터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595360" y="488746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310896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가전을 끌어다 놓는다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457200" y="786384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벽을 넘으면 안쪽으로 밀어 주고, 이격이 모자라면 경고한다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9768" y="1389888"/>
            <a:ext cx="4078224" cy="256946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C"/>
            </a:solidFill>
            <a:prstDash val="solid"/>
          </a:ln>
        </p:spPr>
      </p:sp>
      <p:pic>
        <p:nvPicPr>
          <p:cNvPr id="10" name="Image 0" descr="C:\Users\노윤정\gyeongwon-ax-hub\발표자료\이미지\14-stag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417320"/>
            <a:ext cx="4023360" cy="251460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4636008" y="1389888"/>
            <a:ext cx="4078224" cy="256946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C"/>
            </a:solidFill>
            <a:prstDash val="solid"/>
          </a:ln>
        </p:spPr>
      </p:sp>
      <p:pic>
        <p:nvPicPr>
          <p:cNvPr id="12" name="Image 1" descr="C:\Users\노윤정\gyeongwon-ax-hub\발표자료\이미지\15-plac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63440" y="1417320"/>
            <a:ext cx="4023360" cy="25146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57200" y="4041648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고른 가전이 도면 밖에 대기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4663440" y="4041648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상담사가 끌어다 넣는다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457200" y="4370832"/>
            <a:ext cx="8229600" cy="457200"/>
          </a:xfrm>
          <a:prstGeom prst="rect">
            <a:avLst/>
          </a:prstGeom>
          <a:solidFill>
            <a:srgbClr val="F7F8FB"/>
          </a:solidFill>
          <a:ln w="12700">
            <a:solidFill>
              <a:srgbClr val="DDE1EC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40080" y="4370832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들어가면 "무엇이면 들어가는지"를 말한다 — "같은 4도어 중 912×716mm 규격이면 들어갑니다"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7F8FB"/>
          </a:solidFill>
          <a:ln w="12700">
            <a:solidFill>
              <a:srgbClr val="F7F8F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887468"/>
            <a:ext cx="2011680" cy="256032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" y="488746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 코파일럿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194560" y="4887468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WOW · 배치 시뮬레이터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595360" y="488746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310896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상담이 끝나면 고객 손에 남는다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457200" y="786384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도면 + 놓인 가전 + 제품별 치수·이격이 이미지 한 장으로 나간다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035808" y="1298448"/>
            <a:ext cx="3072384" cy="3163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C"/>
            </a:solidFill>
            <a:prstDash val="solid"/>
          </a:ln>
        </p:spPr>
      </p:sp>
      <p:pic>
        <p:nvPicPr>
          <p:cNvPr id="10" name="Image 0" descr="C:\Users\노윤정\gyeongwon-ax-hub\발표자료\이미지\16-sha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063240" y="1325880"/>
            <a:ext cx="3017520" cy="31089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457200" y="1554480"/>
            <a:ext cx="2377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맨 아래 한 줄
</a:t>
            </a:r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"치수는 삼성스토어 카탈로그 기준 ·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 규격은 실측 확인 필요"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274320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우리가 아는 것과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모르는 것을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구분해서 적는다.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309360" y="1554480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신뢰는 설계의 결과다
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치수를 못 찾으면 비워 둔다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이격이 가이드에 없는 11개 카테고리는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"수치 미확인"이라고 화면에 적는다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준용한 3건은 "준용(추정)" 표시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309360" y="3200400"/>
            <a:ext cx="2377440" cy="777240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355080" y="3200400"/>
            <a:ext cx="228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모른다고 적을 수 있어야</a:t>
            </a:r>
            <a:endParaRPr lang="en-US" sz="1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아는 것을 믿는다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7F8FB"/>
          </a:solidFill>
          <a:ln w="12700">
            <a:solidFill>
              <a:srgbClr val="F7F8F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887468"/>
            <a:ext cx="2011680" cy="256032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" y="488746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 코파일럿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194560" y="4887468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하는가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595360" y="488746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310896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휴대폰에서도 된다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457200" y="786384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매장 기기가 폰인 경우가 많다 — 도면 확대·이동, 한 손가락 조작, 뒤로가기 전부 대응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350008" y="1344168"/>
            <a:ext cx="1655064" cy="334670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C"/>
            </a:solidFill>
            <a:prstDash val="solid"/>
          </a:ln>
        </p:spPr>
      </p:sp>
      <p:pic>
        <p:nvPicPr>
          <p:cNvPr id="10" name="Image 0" descr="C:\Users\노윤정\gyeongwon-ax-hub\발표자료\이미지\20-mobile-hub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377440" y="1371600"/>
            <a:ext cx="1600200" cy="329184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5093208" y="1344168"/>
            <a:ext cx="1655064" cy="334670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C"/>
            </a:solidFill>
            <a:prstDash val="solid"/>
          </a:ln>
        </p:spPr>
      </p:sp>
      <p:pic>
        <p:nvPicPr>
          <p:cNvPr id="12" name="Image 1" descr="C:\Users\노윤정\gyeongwon-ax-hub\발표자료\이미지\21-mobile-plac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120640" y="1371600"/>
            <a:ext cx="160020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7F8FB"/>
          </a:solidFill>
          <a:ln w="12700">
            <a:solidFill>
              <a:srgbClr val="F7F8F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887468"/>
            <a:ext cx="2011680" cy="256032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" y="488746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 코파일럿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194560" y="4887468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반응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595360" y="488746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310896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시범운영 결과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457200" y="786384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사용 로그 · 2026-07-29 ~ 08-10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1554480" cy="960120"/>
          </a:xfrm>
          <a:prstGeom prst="rect">
            <a:avLst/>
          </a:prstGeom>
          <a:solidFill>
            <a:srgbClr val="F7F8FB"/>
          </a:solidFill>
          <a:ln w="12700">
            <a:solidFill>
              <a:srgbClr val="DDE1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444752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457200" y="196596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매장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139696" y="1371600"/>
            <a:ext cx="1554480" cy="960120"/>
          </a:xfrm>
          <a:prstGeom prst="rect">
            <a:avLst/>
          </a:prstGeom>
          <a:solidFill>
            <a:srgbClr val="F7F8FB"/>
          </a:solidFill>
          <a:ln w="12700">
            <a:solidFill>
              <a:srgbClr val="DDE1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139696" y="1444752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2139696" y="196596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822192" y="1371600"/>
            <a:ext cx="1554480" cy="960120"/>
          </a:xfrm>
          <a:prstGeom prst="rect">
            <a:avLst/>
          </a:prstGeom>
          <a:solidFill>
            <a:srgbClr val="F7F8FB"/>
          </a:solidFill>
          <a:ln w="12700">
            <a:solidFill>
              <a:srgbClr val="DDE1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22192" y="1444752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863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3822192" y="196596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 실사용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504688" y="1371600"/>
            <a:ext cx="1554480" cy="960120"/>
          </a:xfrm>
          <a:prstGeom prst="rect">
            <a:avLst/>
          </a:prstGeom>
          <a:solidFill>
            <a:srgbClr val="F7F8FB"/>
          </a:solidFill>
          <a:ln w="12700">
            <a:solidFill>
              <a:srgbClr val="DDE1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504688" y="1444752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66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5504688" y="196596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건/일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187184" y="1371600"/>
            <a:ext cx="1554480" cy="960120"/>
          </a:xfrm>
          <a:prstGeom prst="rect">
            <a:avLst/>
          </a:prstGeom>
          <a:solidFill>
            <a:srgbClr val="F7F8FB"/>
          </a:solidFill>
          <a:ln w="12700">
            <a:solidFill>
              <a:srgbClr val="DDE1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187184" y="1444752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309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7187184" y="196596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방문 세션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2542032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설치환경 가이드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743200" y="2583180"/>
            <a:ext cx="4754880" cy="155448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543800" y="2542032"/>
            <a:ext cx="731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128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57200" y="2807208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모델파인더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743200" y="2848356"/>
            <a:ext cx="4457700" cy="155448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246620" y="2807208"/>
            <a:ext cx="731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57200" y="3072384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타사비교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2743200" y="3113532"/>
            <a:ext cx="3789045" cy="155448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577965" y="3072384"/>
            <a:ext cx="731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102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57200" y="3337560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컨시어지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743200" y="3378708"/>
            <a:ext cx="3566160" cy="155448"/>
          </a:xfrm>
          <a:prstGeom prst="rect">
            <a:avLst/>
          </a:prstGeom>
          <a:solidFill>
            <a:srgbClr val="2B44D0"/>
          </a:solidFill>
          <a:ln w="12700">
            <a:solidFill>
              <a:srgbClr val="2B44D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5080" y="3337560"/>
            <a:ext cx="731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96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57200" y="3602736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허브 검색·건의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2743200" y="3643884"/>
            <a:ext cx="3529013" cy="155448"/>
          </a:xfrm>
          <a:prstGeom prst="rect">
            <a:avLst/>
          </a:prstGeom>
          <a:solidFill>
            <a:srgbClr val="2B44D0"/>
          </a:solidFill>
          <a:ln w="12700">
            <a:solidFill>
              <a:srgbClr val="2B44D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17933" y="3602736"/>
            <a:ext cx="731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457200" y="3867912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레벨업 챌린지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2743200" y="3909060"/>
            <a:ext cx="3343275" cy="155448"/>
          </a:xfrm>
          <a:prstGeom prst="rect">
            <a:avLst/>
          </a:prstGeom>
          <a:solidFill>
            <a:srgbClr val="2B44D0"/>
          </a:solidFill>
          <a:ln w="12700">
            <a:solidFill>
              <a:srgbClr val="2B44D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132195" y="3867912"/>
            <a:ext cx="731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457200" y="4133088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AI구독 케어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2743200" y="4174236"/>
            <a:ext cx="3231833" cy="155448"/>
          </a:xfrm>
          <a:prstGeom prst="rect">
            <a:avLst/>
          </a:prstGeom>
          <a:solidFill>
            <a:srgbClr val="2B44D0"/>
          </a:solidFill>
          <a:ln w="12700">
            <a:solidFill>
              <a:srgbClr val="2B44D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20753" y="4133088"/>
            <a:ext cx="731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87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457200" y="4398264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쿠폰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2743200" y="4439412"/>
            <a:ext cx="2265998" cy="155448"/>
          </a:xfrm>
          <a:prstGeom prst="rect">
            <a:avLst/>
          </a:prstGeom>
          <a:solidFill>
            <a:srgbClr val="2B44D0"/>
          </a:solidFill>
          <a:ln w="12700">
            <a:solidFill>
              <a:srgbClr val="2B44D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054917" y="4398264"/>
            <a:ext cx="731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457200" y="4663440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배치 시뮬레이터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2743200" y="4704588"/>
            <a:ext cx="1820228" cy="155448"/>
          </a:xfrm>
          <a:prstGeom prst="rect">
            <a:avLst/>
          </a:prstGeom>
          <a:solidFill>
            <a:srgbClr val="2B44D0"/>
          </a:solidFill>
          <a:ln w="12700">
            <a:solidFill>
              <a:srgbClr val="2B44D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609148" y="4663440"/>
            <a:ext cx="731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457200" y="4700016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상위 3개가 전부 "상담 중에 바로 답해야 하는 것" — 가정이 맞았다.   ※ 309는 방문 세션 수(사람 수 아님)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7F8FB"/>
          </a:solidFill>
          <a:ln w="12700">
            <a:solidFill>
              <a:srgbClr val="F7F8F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887468"/>
            <a:ext cx="2011680" cy="256032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" y="488746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 코파일럿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194560" y="4887468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반응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595360" y="488746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64008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C7D0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endParaRPr lang="en-US" sz="9000" dirty="0"/>
          </a:p>
        </p:txBody>
      </p:sp>
      <p:sp>
        <p:nvSpPr>
          <p:cNvPr id="8" name="Text 6"/>
          <p:cNvSpPr/>
          <p:nvPr/>
        </p:nvSpPr>
        <p:spPr>
          <a:xfrm>
            <a:off x="1188720" y="123444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2500" b="1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이거 있으니까 찾는 시간이 단축되고,</a:t>
            </a:r>
            <a:endParaRPr lang="en-US" sz="25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2500" b="1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삼성닷컴 자료를 그대로 가지고 온 거라</a:t>
            </a:r>
            <a:endParaRPr lang="en-US" sz="25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2500" b="1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신뢰도도 높아서 좋다.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1207008" y="28803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시범운영 상담사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188720" y="3429000"/>
            <a:ext cx="34747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0" y="35204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속도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71600" y="37947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찾는 시간이 준다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937760" y="3429000"/>
            <a:ext cx="34747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20640" y="35204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120640" y="37947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출처가 공식 자료다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188720" y="43434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번째가 더 중요하다 — 영업사원이 고객 앞에서 자신 있게 말할 수 있느냐의 문제다.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F7F8FB"/>
          </a:solidFill>
          <a:ln w="12700">
            <a:solidFill>
              <a:srgbClr val="F7F8F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887468"/>
            <a:ext cx="2011680" cy="256032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" y="488746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 코파일럿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194560" y="4887468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595360" y="488746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310896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단계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457200" y="786384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비용 — 외부 개발 0원 · 운영비 현재 0원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384048" cy="384048"/>
          </a:xfrm>
          <a:prstGeom prst="ellipse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4630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05840" y="1463040"/>
            <a:ext cx="7589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시범 10개 매장 → 전 매장 확대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103120"/>
            <a:ext cx="384048" cy="384048"/>
          </a:xfrm>
          <a:prstGeom prst="ellipse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1031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05840" y="2103120"/>
            <a:ext cx="7589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데이코 전용 카탈로그 반영 (88쪽, 미반영 5개 라인)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743200"/>
            <a:ext cx="384048" cy="384048"/>
          </a:xfrm>
          <a:prstGeom prst="ellipse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7432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2743200"/>
            <a:ext cx="7589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도면 확대 — 청약홈 자동 수집 경로 확보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57200" y="3383280"/>
            <a:ext cx="384048" cy="384048"/>
          </a:xfrm>
          <a:prstGeom prst="ellipse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33832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05840" y="3383280"/>
            <a:ext cx="7589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10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 로그를 교육 자료 우선순위에 활용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457200" y="4114800"/>
            <a:ext cx="8229600" cy="502920"/>
          </a:xfrm>
          <a:prstGeom prst="rect">
            <a:avLst/>
          </a:prstGeom>
          <a:solidFill>
            <a:srgbClr val="F7F8FB"/>
          </a:solidFill>
          <a:ln w="12700">
            <a:solidFill>
              <a:srgbClr val="DDE1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41148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요청사항 — (전 매장 확대 승인 / 도면 확보 협조 / 데이코 자료)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8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74520"/>
            <a:ext cx="7680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7D0F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"우리 집에 들어갈까요" 하고 물을 때,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237744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이제 "보여드리겠습니다"라고 답합니다.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731520" y="342900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7D0F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 코파일럿 · 경원영업팀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경원영업팀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세일즈 코파일럿 — 매장 상담 지원 도구 보고</dc:title>
  <dc:subject>PptxGenJS Presentation</dc:subject>
  <dc:creator>경원영업팀</dc:creator>
  <cp:lastModifiedBy>경원영업팀</cp:lastModifiedBy>
  <cp:revision>1</cp:revision>
  <dcterms:created xsi:type="dcterms:W3CDTF">2026-08-09T16:38:43Z</dcterms:created>
  <dcterms:modified xsi:type="dcterms:W3CDTF">2026-08-09T16:38:43Z</dcterms:modified>
</cp:coreProperties>
</file>