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644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827"/>
                </a:solidFill>
                <a:latin typeface="Malgun Gothic"/>
              </a:rPr>
              <a:t>세일즈 코파일럿 · 발표 대본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917998"/>
            <a:ext cx="6444000" cy="357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경원영업팀 · 2026.08 · 슬라이드 10장 + 동시 시연 3회 · 총 10분 (발표 4분 40초 + 시연 3분 50초 · 여유 1분 30초)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318703"/>
            <a:ext cx="644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발표자 ______________     발표일 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534703"/>
            <a:ext cx="6444000" cy="34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CA3AF"/>
                </a:solidFill>
                <a:latin typeface="Malgun Gothic"/>
              </a:rPr>
              <a:t>▸ 그대로 읽는 문장   ※ 화면에서 짚을 곳   ★ 팀장님·팀원 언급(빼지 말 것)   (밀리면 뺌) 먼저 버릴 문장   파란 칸 = 다 같이 따라 누르는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2019063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2119863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1쪽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20초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2119863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2343063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안녕하십니까, 경원영업팀 ○○○입니다.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71980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세일즈 코파일럿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상담사를 대신하는 도구가 아니라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옆자리에서 같이 나는 부조종사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답을 대신 말하지 않고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근거를 꺼내 줍니다.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998064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기준은 세 가지,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정확도·속도·일관성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10개 매장 13일 시범운영 결과까지 말씀드리겠습니다.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3424148"/>
            <a:ext cx="5580000" cy="1946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※ 하단 「외부 개발비 0원 · 운영비 0원 · 앱 설치 불필요」를 짚고 넘어갑니다.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683575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3784375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2쪽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45초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3784375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기획 배경 및 타겟   [팀장님 언급]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4007575"/>
            <a:ext cx="5580000" cy="6232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왜 만들었느냐.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정보가 없어서가 아니었습니다.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삼성닷컴에도 카탈로그에도 답은 이미 있었습니다. 문제는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고객 앞에 선 그 순간에 꺼내 쓸 수 있는 형태가 아니었다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는 것입니다.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4630827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★ 이건 저 혼자 발견한 게 아닙니다.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경원영업팀장님께서 현장의 이 지점을 계속 짚어 주셨고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, 팀원들이 매장에서 겪은 사례를 꺼내 주셨습니다.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5056911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★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팀장님의 관심과 팀원들의 현장 경험에서 영감을 얻어 만든 것이 이 도구입니다.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저는 그것을 화면으로 옮겼을 뿐입니다.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5482995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그래서 외부 개발 없이 팀 내부에서 만들었습니다.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개발비 0원, 운영비 0원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5909079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쓰는 사람은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매장에서 고객을 직접 응대하는 상담 매니저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65개 매장에서 로그인도 설치도 없이 바로 열립니다.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6399963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6500763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3쪽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30초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6500763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As-Is vs To-Be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6723963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상담사의 행동이 바뀌면 지점 실적이 바뀝니다.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6952880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속도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카탈로그로 못 찾던 조건을, 검색창에 넣으면 바로 확인합니다.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7181797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정확도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설치 제약을 몰라 계약 당일 취소되던 것을, 판매 전 30초에 확인합니다.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7607881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일관성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사람마다 다르던 답을, 신입도 첫날부터 같은 수준으로 말합니다.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8033965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이 세 줄을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다음 세 장에서 실제 화면으로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보여드리겠습니다.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503999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676799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시연 0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30초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2000" y="604799"/>
            <a:ext cx="5688000" cy="1999385"/>
          </a:xfrm>
          <a:prstGeom prst="rect">
            <a:avLst/>
          </a:prstGeom>
          <a:solidFill>
            <a:srgbClr val="F5F7FF"/>
          </a:solidFill>
          <a:ln w="9525">
            <a:solidFill>
              <a:srgbClr val="C3C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2000" y="604799"/>
            <a:ext cx="32400" cy="1999385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705599"/>
            <a:ext cx="547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다 같이 접속 — 여기서 모두 손에 앱을 켭니다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921599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여기서 잠깐 멈추겠습니다. </a:t>
            </a:r>
            <a:r>
              <a:rPr sz="1100" b="1">
                <a:solidFill>
                  <a:srgbClr val="111827"/>
                </a:solidFill>
                <a:latin typeface="Malgun Gothic"/>
              </a:rPr>
              <a:t>지금 화면의 QR을 각자 휴대폰으로 찍어 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141944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00" b="1">
                <a:solidFill>
                  <a:srgbClr val="111827"/>
                </a:solidFill>
                <a:latin typeface="Malgun Gothic"/>
              </a:rPr>
              <a:t>로그인도 설치도 없습니다.</a:t>
            </a:r>
            <a:r>
              <a:rPr sz="1100" b="0">
                <a:solidFill>
                  <a:srgbClr val="111827"/>
                </a:solidFill>
                <a:latin typeface="Malgun Gothic"/>
              </a:rPr>
              <a:t> 열리신 분은 손 들어 주시면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362289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1) 휴대폰 카메라를 켜고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화면의 QR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비춥니다 (직접 입력은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salescopilot-store.vercel.app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1754084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2) 「세일즈 코파일럿」 첫 화면이 뜨면 성공입니다 —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맨 위 파란 검색창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과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맨 아래 바로가기 줄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이 보이면 제대로 열린 것입니다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145879"/>
            <a:ext cx="5472000" cy="357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※ 전파가 약한 분은 따라오지 마시고 </a:t>
            </a:r>
            <a:r>
              <a:rPr sz="950" b="1">
                <a:solidFill>
                  <a:srgbClr val="6B7280"/>
                </a:solidFill>
                <a:latin typeface="Malgun Gothic"/>
              </a:rPr>
              <a:t>제 화면만</a:t>
            </a:r>
            <a:r>
              <a:rPr sz="950" b="0">
                <a:solidFill>
                  <a:srgbClr val="6B7280"/>
                </a:solidFill>
                <a:latin typeface="Malgun Gothic"/>
              </a:rPr>
              <a:t> 보셔도 됩니다. 뒤에서 다시 열어 보시면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2712184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812984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4쪽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45초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2812984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정확도 — 설치 조건을 계약 전에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3036184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먼저 정확도입니다.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시범 기간에 가장 많이 열린 화면, 128건으로 1위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였습니다.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3462268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21개 카테고리의 전기·배수·이격·문 폭을 한눈에 봅니다. 이 규격도는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삼성닷컴 공식 자료 그대로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3888352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1위였다는 사실이 중요합니다.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현장이 가장 무서워하는 게 설치 불가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라는 뜻이기 때문입니다.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4314436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설치가 안 되면 기사 재방문 비용, 일정 재조정, 반품 손해가 함께 옵니다.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판매 전 30초면 그 비용을 만회합니다.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4740520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(밀리면 뺌) 매니저에게는 취소 확률이 낮아지는 일이고, 지점에는 재방문·재조정·취소가 줄어드는 일입니다.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5231404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5404204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시연 A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1분 20초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" y="5332204"/>
            <a:ext cx="5688000" cy="2471823"/>
          </a:xfrm>
          <a:prstGeom prst="rect">
            <a:avLst/>
          </a:prstGeom>
          <a:solidFill>
            <a:srgbClr val="F5F7FF"/>
          </a:solidFill>
          <a:ln w="9525">
            <a:solidFill>
              <a:srgbClr val="C3C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2000" y="5332204"/>
            <a:ext cx="32400" cy="2471823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0000" y="5433004"/>
            <a:ext cx="547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정확도 — 설치 조건을 30초에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5649004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제가 하나씩 부르겠습니다. </a:t>
            </a:r>
            <a:r>
              <a:rPr sz="1100" b="1">
                <a:solidFill>
                  <a:srgbClr val="111827"/>
                </a:solidFill>
                <a:latin typeface="Malgun Gothic"/>
              </a:rPr>
              <a:t>같이 눌러 보시죠.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5869349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이 화면이 시범 기간 </a:t>
            </a:r>
            <a:r>
              <a:rPr sz="1100" b="1">
                <a:solidFill>
                  <a:srgbClr val="111827"/>
                </a:solidFill>
                <a:latin typeface="Malgun Gothic"/>
              </a:rPr>
              <a:t>1위</a:t>
            </a:r>
            <a:r>
              <a:rPr sz="1100" b="0">
                <a:solidFill>
                  <a:srgbClr val="111827"/>
                </a:solidFill>
                <a:latin typeface="Malgun Gothic"/>
              </a:rPr>
              <a:t>였던 그 화면입니다.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6089694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1) 맨 아래 바로가기에서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「설치환경 가이드」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를 누릅니다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6301466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2) 위쪽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「① 카테고리 검색 · 선택」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아래 검색창에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키친핏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이라고 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0000" y="6513238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3) 남는 타일 중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「냉장고 4도어 키친핏」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누릅니다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000" y="6725010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4) 화면을 내려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「삼성닷컴 공식 설치가이드 이미지」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카드를 봅니다 —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규격도가 그대로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들어 있습니다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0000" y="7116805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5) 그 위의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공간 · 설비 · 체크리스트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를 짚습니다 — 문 폭, 이격, 전기까지 여기서 끝납니다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0000" y="7508600"/>
            <a:ext cx="5472000" cy="1946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※ “이걸 계약 전에 보면 설치 당일 취소가 사라집니다” 한 마디로 마무리합니다.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00" y="7912027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00" y="8012827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5쪽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35초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0000" y="8012827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속도 — 모델파인더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0000" y="8236027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다음은 속도,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두 번째로 많이 열린 화면 120건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8464944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예전에는 모델명·치수·기능을 기억에서 꺼내야 했고, 안 나면 카탈로그를 뒤졌습니다.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그동안 고객은 기다렸습니다.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0000" y="8891028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지금은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키워드 한 줄이면 조건이 겹쳐 좁혀집니다.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무풍, 공기청정, 예산을 한 번에 넣으면 목록이 바로 나옵니다.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0000" y="9317112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지점에는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응대 회전율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받을 수 있는 고객 수가 늘어납니다.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503999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676799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시연 B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1분 10초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2000" y="604799"/>
            <a:ext cx="5688000" cy="2234333"/>
          </a:xfrm>
          <a:prstGeom prst="rect">
            <a:avLst/>
          </a:prstGeom>
          <a:solidFill>
            <a:srgbClr val="F5F7FF"/>
          </a:solidFill>
          <a:ln w="9525">
            <a:solidFill>
              <a:srgbClr val="C3C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2000" y="604799"/>
            <a:ext cx="32400" cy="2234333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705599"/>
            <a:ext cx="547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속도 — 키워드 한 줄로 조건 좁히기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921599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이번엔 조건을 겹쳐서 좁히는 것을 보시겠습니다.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141944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1) 맨 아래 바로가기에서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「제품 상세검색」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누릅니다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353716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2) 검색창(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예: 무풍 에어컨 19평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이라고 적힌 칸)에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무풍 공기청정 19평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이라고 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1745511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3)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「검색」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누릅니다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1957283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4) 결과 위의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해석 줄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봅니다 —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어떤 조건으로 걸렀는지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가 그대로 적혀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69055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5) 조건을 하나 빼고 다시 쳐 봅니다 —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건수가 달라지는 것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을 같이 확인합니다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380827"/>
            <a:ext cx="5472000" cy="357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※ “조건이 실제로 일을 한다”가 이 시연의 요지입니다. 건수 변화를 꼭 소리 내어 읽어 주세요.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947132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3047932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6쪽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30초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3047932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일관성 — 누가 응대해도 같은 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3271132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세 번째는 일관성입니다.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3500049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지점장님이 일일이 확인할 수 없던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정보 편차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가 사라집니다.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어느 매장에서 열어도 화면이 같기 때문입니다.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926133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외워서 답하지 않고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같은 화면을 보고 응대합니다.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그래서 신입 사원도 첫날부터 같은 수준입니다.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4417017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4589817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시연 C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50초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" y="4517817"/>
            <a:ext cx="5688000" cy="1859683"/>
          </a:xfrm>
          <a:prstGeom prst="rect">
            <a:avLst/>
          </a:prstGeom>
          <a:solidFill>
            <a:srgbClr val="F5F7FF"/>
          </a:solidFill>
          <a:ln w="9525">
            <a:solidFill>
              <a:srgbClr val="C3C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2000" y="4517817"/>
            <a:ext cx="32400" cy="1859683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0000" y="4618617"/>
            <a:ext cx="547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8A0"/>
                </a:solidFill>
                <a:latin typeface="Malgun Gothic"/>
              </a:rPr>
              <a:t>일관성 — 옆 사람 화면과 같은지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4834617"/>
            <a:ext cx="5472000" cy="220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▸ 마지막입니다. 이건 </a:t>
            </a:r>
            <a:r>
              <a:rPr sz="1100" b="1">
                <a:solidFill>
                  <a:srgbClr val="111827"/>
                </a:solidFill>
                <a:latin typeface="Malgun Gothic"/>
              </a:rPr>
              <a:t>옆에 앉은 분과 화면을 맞춰 보시면</a:t>
            </a:r>
            <a:r>
              <a:rPr sz="1100" b="0">
                <a:solidFill>
                  <a:srgbClr val="111827"/>
                </a:solidFill>
                <a:latin typeface="Malgun Gothic"/>
              </a:rPr>
              <a:t> 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5054962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1) 맨 아래 바로가기에서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「AS 관련 정보」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를 누릅니다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5266734"/>
            <a:ext cx="5472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2) 맨 위 검색창(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품목 · 부품 · 지역 · 협력사로 한 번에 찾기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)에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냉장고 컴프레서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라고 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5658529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3) 나온 결과를 누르면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그 항목 자리로 바로 이동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0000" y="5870301"/>
            <a:ext cx="5472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4)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옆 사람 화면과 비교해 보십시오.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같은 숫자가 떠 있습니다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000" y="6082073"/>
            <a:ext cx="5472000" cy="1946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algun Gothic"/>
              </a:rPr>
              <a:t>※ “이게 일관성입니다 — 외운 사람과 안 외운 사람의 답이 같아집니다”로 닫습니다.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6485500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" y="65863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7쪽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30초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0" y="6586300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개발 중인 프로그램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0000" y="6809500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지금 다듬는 것도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앱 안에서 이미 열어 보실 수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0000" y="7038417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가전 배치 시뮬레이터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고른 가전을 도면에 맞춰 배치하고 이격거리·간섭까지 판정합니다. 아파트 도면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158개 단지 855장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을 담았습니다.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0000" y="7464501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통신 요금제 상담 도구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월 납부금액과 할부기간 총액까지 계산합니다.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7693418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다음은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도면 3D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우리 집에 설치된 모습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을 그 자리에서 보여드리면 성공률은 더 올라갑니다.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" y="8184302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00" y="8285102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8쪽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40초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0000" y="8285102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시범운영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0000" y="8508302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숫자로 말씀드립니다.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10개 매장, 13일, 863건.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하루 66건입니다.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0000" y="8737219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중요한 건 총량이 아니라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분포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 한 기능만 쓰인 게 아닙니다.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0000" y="8966136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상위 셋이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설치환경 가이드, 모델파인더, 타사비교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셋 다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고객 앞에서 지금 답해야 하는 것들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0000" y="9392220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구경한 게 아니라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상담에 실제로 썼다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는 뜻입니다.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0000" y="9621137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(밀리면 뺌) 이 로그 자체가 </a:t>
            </a:r>
            <a:r>
              <a:rPr sz="1150" b="1">
                <a:solidFill>
                  <a:srgbClr val="6B7280"/>
                </a:solidFill>
                <a:latin typeface="Malgun Gothic"/>
              </a:rPr>
              <a:t>무엇을 교육할지의 근거</a:t>
            </a:r>
            <a:r>
              <a:rPr sz="1150" b="0">
                <a:solidFill>
                  <a:srgbClr val="6B7280"/>
                </a:solidFill>
                <a:latin typeface="Malgun Gothic"/>
              </a:rPr>
              <a:t>가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503999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604799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9쪽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45초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604799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65개 매장 도입 시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827999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마지막으로 65개 매장으로 넓혔을 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56916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실측과 가정을 일부러 갈라 두었습니다.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가정은 회사 기준으로 바꿔 넣으시면 그대로 답이 나옵니다.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483000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실측은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매장당 하루 6.6건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. 1건에 3분을 아낀다고 보면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월 647시간, 연 7,800시간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—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상담사 3.7명분의 응대 여력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909084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가정을 바꿔도 결론은 같습니다.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가장 보수적으로 2분만 잡아도 연 5,200시간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2335168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비용 투자 없이 시간을 버는 구조입니다.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2628885"/>
            <a:ext cx="6444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2729685"/>
            <a:ext cx="7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10쪽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Malgun Gothic"/>
              </a:rPr>
              <a:t>20초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729685"/>
            <a:ext cx="55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74151"/>
                </a:solidFill>
                <a:latin typeface="Malgun Gothic"/>
              </a:rPr>
              <a:t>마무리   [팀장님 언급]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952885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지금 바로 열어 보실 수 있습니다.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QR만 비추시면 되고 로그인도 설치도 없습니다.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378969"/>
            <a:ext cx="5580000" cy="426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★ 다시 말씀드리면, 이 도구는 </a:t>
            </a:r>
            <a:r>
              <a:rPr sz="1150" b="1">
                <a:solidFill>
                  <a:srgbClr val="111827"/>
                </a:solidFill>
                <a:latin typeface="Malgun Gothic"/>
              </a:rPr>
              <a:t>팀장님의 관심과 팀원들이 현장에서 쌓은 경험에서 나왔습니다.</a:t>
            </a:r>
            <a:r>
              <a:rPr sz="1150" b="0">
                <a:solidFill>
                  <a:srgbClr val="111827"/>
                </a:solidFill>
                <a:latin typeface="Malgun Gothic"/>
              </a:rPr>
              <a:t> 저는 옮겼을 뿐입니다.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3805053"/>
            <a:ext cx="5580000" cy="2289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▸ 앞으로도 현장 이야기를 그대로 반영해 계속 다듬겠습니다. 감사합니다.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644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발표 전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827999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시연이 절반입니다.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발표 4분 40초 + 시연 3분 50초 — 슬라이드에서 시간을 쓰면 시연이 잘립니다.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219794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시연 전에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본인 휴대폰으로 전 과정을 한 번 돌려 보고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들어갑니다. 매장 와이파이가 아니라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현장 전파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로 확인하세요.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611589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동시 시연은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“다 되신 분 손 들어 주세요”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로 속도를 맞춥니다. 두세 명이 늦으면 기다리지 말고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“뒤에서 다시 보시면 됩니다”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로 넘어갑니다.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003384"/>
            <a:ext cx="6444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QR은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미리 한 번 스캔해 보고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들어갑니다. 그 자리에서 안 열리면 신뢰를 잃습니다.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215156"/>
            <a:ext cx="6444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4·5·6쪽 캡처는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글자를 읽지 말고 손으로 위치를 짚습니다.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426928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40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· 9쪽은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실측과 가정을 반드시 갈라서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말합니다. 섞으면 첫 질문이 “그 숫자 근거가 뭡니까”로 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998723"/>
            <a:ext cx="644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8A0"/>
                </a:solidFill>
                <a:latin typeface="Malgun Gothic"/>
              </a:rPr>
              <a:t>예상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322723"/>
            <a:ext cx="6444000" cy="23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Malgun Gothic"/>
              </a:rPr>
              <a:t>Q. 정보가 틀리면요?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3560323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▸ 출처를 공식 자료로 못 박았습니다 — 삼성스토어 카탈로그·삼성닷컴·삼성멤버스, 타사는 공식 카탈로그입니다.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3952118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▸ 그리고 </a:t>
            </a:r>
            <a:r>
              <a:rPr sz="1050" b="1">
                <a:solidFill>
                  <a:srgbClr val="111827"/>
                </a:solidFill>
                <a:latin typeface="Malgun Gothic"/>
              </a:rPr>
              <a:t>확인 못 한 값은 채우지 않고 비워 둡니다.</a:t>
            </a:r>
            <a:r>
              <a:rPr sz="1050" b="0">
                <a:solidFill>
                  <a:srgbClr val="111827"/>
                </a:solidFill>
                <a:latin typeface="Malgun Gothic"/>
              </a:rPr>
              <a:t> 추정해서 채우면 상담사가 그걸 사실로 말하게 되기 때문입니다.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4433913"/>
            <a:ext cx="6444000" cy="23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Malgun Gothic"/>
              </a:rPr>
              <a:t>Q. 유지비나 운영 인력은요?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4671513"/>
            <a:ext cx="6444000" cy="39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▸ 개발비·운영비 모두 0원입니다. 웹 주소 하나라 배포도 설치도 없고, 고치면 새로고침만으로 반영됩니다.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5153308"/>
            <a:ext cx="6444000" cy="23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  <a:latin typeface="Malgun Gothic"/>
              </a:rPr>
              <a:t>Q. 65개 매장으로 넓히려면요?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5390908"/>
            <a:ext cx="6444000" cy="211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1200" indent="-1512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▸ 주소 공유만 하면 됩니다. 매장별 설정도 계정 발급도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