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8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0"/>
            <a:ext cx="655624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세일즈 코파일럿 — 발표 대본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3383280"/>
            <a:ext cx="2011680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611880"/>
            <a:ext cx="65562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CE3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3분 30초  +  시연 5분 30초  =  약 9분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02920" y="4069080"/>
            <a:ext cx="6556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B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경원영업팀 · 2026.08 · 앱 v169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5029200"/>
            <a:ext cx="6556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EBB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흐름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5413248"/>
            <a:ext cx="6556248" cy="658368"/>
          </a:xfrm>
          <a:prstGeom prst="rect">
            <a:avLst/>
          </a:prstGeom>
          <a:solidFill>
            <a:srgbClr val="2439B0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5413248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1부 · 발표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697480" y="5413248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3분 30초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160520" y="5413248"/>
            <a:ext cx="27157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3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슬라이드 10장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6190488"/>
            <a:ext cx="6556248" cy="658368"/>
          </a:xfrm>
          <a:prstGeom prst="rect">
            <a:avLst/>
          </a:prstGeom>
          <a:solidFill>
            <a:srgbClr val="2439B0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6190488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2부 · 시연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697480" y="6190488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5분 30초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160520" y="6190488"/>
            <a:ext cx="27157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3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 같이 누르기 5단계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7287768"/>
            <a:ext cx="6556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EBB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대본 보는 법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7671816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파란 칸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965960" y="7671816"/>
            <a:ext cx="50932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3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그대로 읽는 말입니다. 굵은 글씨에 힘을 주십시오.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8037576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회색 ▸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965960" y="8037576"/>
            <a:ext cx="50932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3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읽지 않는 지시문입니다. 눈으로만 보십시오.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8403336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WOW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965960" y="8403336"/>
            <a:ext cx="50932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3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박자 쉬고 강조하는 자리입니다.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82296"/>
          </a:xfrm>
          <a:prstGeom prst="rect">
            <a:avLst/>
          </a:prstGeom>
          <a:solidFill>
            <a:srgbClr val="1428A0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310896"/>
            <a:ext cx="1783080" cy="310896"/>
          </a:xfrm>
          <a:prstGeom prst="roundRect">
            <a:avLst>
              <a:gd name="adj" fmla="val 17647"/>
            </a:avLst>
          </a:prstGeom>
          <a:solidFill>
            <a:srgbClr val="1428A0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10896"/>
            <a:ext cx="1783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 전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65562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전에 꼭 확인할 것 셋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225296"/>
            <a:ext cx="6556248" cy="0"/>
          </a:xfrm>
          <a:prstGeom prst="line">
            <a:avLst/>
          </a:prstGeom>
          <a:noFill/>
          <a:ln w="12700">
            <a:solidFill>
              <a:srgbClr val="D5D9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213848"/>
            <a:ext cx="32781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세일즈 코파일럿 · 경원영업팀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781044" y="10213848"/>
            <a:ext cx="32781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17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1463040"/>
            <a:ext cx="6556248" cy="1051560"/>
          </a:xfrm>
          <a:prstGeom prst="roundRect">
            <a:avLst>
              <a:gd name="adj" fmla="val 6957"/>
            </a:avLst>
          </a:prstGeom>
          <a:solidFill>
            <a:srgbClr val="FFF7E6"/>
          </a:solidFill>
          <a:ln w="19050">
            <a:solidFill>
              <a:srgbClr val="E0A9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536192"/>
            <a:ext cx="65562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A5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테스트점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85800" y="2157984"/>
            <a:ext cx="61904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5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참석자 전원이 이 세 글자를 입력해야 들어옵니다 — 슬라이드에 크게 띄워 두십시오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7432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95528" y="2743200"/>
            <a:ext cx="6263640" cy="6217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i="1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접속하면 「어느 매장인가요?」 문이 먼저 뜬다. 대표님과 시험감독관은 점코드를 모르므로, 그대로 두면 전원이 첫 화면에서 막힌다. 점코드 Z000 도 같다.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34564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95528" y="3456432"/>
            <a:ext cx="6263640" cy="868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테스트점이 발표에 유리하다 — ① 오늘 누른 수십 건이 「863건 실사용」 통계에 안 섞인다 ② 화면 위 노란 칩 「테스트점 · 로그 미기록」이 뜬다. 말이 아니라 화면으로 증명된다.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441655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95528" y="4416552"/>
            <a:ext cx="6263640" cy="6217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i="1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단, 발표자 본인은 실제 지점코드로 들어갈 것. 마지막에 관리자 대시보드에서 「방금 제가 누른 것이 여기 떴습니다」를 보여줄 수 있다.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512978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95528" y="5129784"/>
            <a:ext cx="6263640" cy="6217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i="1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앱 이름 — 자료가 「모델파인더」라 부르는 도구는 앱에서도 「모델파인더」다. 그 아래 작은 글씨 「제품 상세검색」은 예전 이름이며 같은 도구다.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" y="584301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95528" y="5843016"/>
            <a:ext cx="6263640" cy="111556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B9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미리 켜 둘 것 — salescopilot-store.vercel.app 을 띄워 지점 입력까지 끝내 둔다. 배치 시뮬레이터는 도면을 불러와 축척까지 맞춰 두면 90초를 번다. 와이파이가 불안하면 한 번만 열어 두면 서비스워커가 캐시한다.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82296"/>
          </a:xfrm>
          <a:prstGeom prst="rect">
            <a:avLst/>
          </a:prstGeom>
          <a:solidFill>
            <a:srgbClr val="1428A0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310896"/>
            <a:ext cx="1783080" cy="310896"/>
          </a:xfrm>
          <a:prstGeom prst="roundRect">
            <a:avLst>
              <a:gd name="adj" fmla="val 17647"/>
            </a:avLst>
          </a:prstGeom>
          <a:solidFill>
            <a:srgbClr val="1428A0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10896"/>
            <a:ext cx="1783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· 슬라이드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596128" y="310896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20초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713232"/>
            <a:ext cx="65562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표지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502920" y="1225296"/>
            <a:ext cx="6556248" cy="0"/>
          </a:xfrm>
          <a:prstGeom prst="line">
            <a:avLst/>
          </a:prstGeom>
          <a:noFill/>
          <a:ln w="12700">
            <a:solidFill>
              <a:srgbClr val="D5D9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213848"/>
            <a:ext cx="32781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세일즈 코파일럿 · 경원영업팀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781044" y="10213848"/>
            <a:ext cx="32781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17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02920" y="1463040"/>
            <a:ext cx="6556248" cy="5436108"/>
          </a:xfrm>
          <a:prstGeom prst="rect">
            <a:avLst/>
          </a:prstGeom>
          <a:solidFill>
            <a:srgbClr val="E8ECF8"/>
          </a:solidFill>
          <a:ln/>
        </p:spPr>
      </p:sp>
      <p:sp>
        <p:nvSpPr>
          <p:cNvPr id="11" name="Shape 9"/>
          <p:cNvSpPr/>
          <p:nvPr/>
        </p:nvSpPr>
        <p:spPr>
          <a:xfrm>
            <a:off x="502920" y="1463040"/>
            <a:ext cx="64008" cy="5436108"/>
          </a:xfrm>
          <a:prstGeom prst="rect">
            <a:avLst/>
          </a:prstGeom>
          <a:solidFill>
            <a:srgbClr val="1428A0"/>
          </a:solidFill>
          <a:ln/>
        </p:spPr>
      </p:sp>
      <p:sp>
        <p:nvSpPr>
          <p:cNvPr id="12" name="Text 10"/>
          <p:cNvSpPr/>
          <p:nvPr/>
        </p:nvSpPr>
        <p:spPr>
          <a:xfrm>
            <a:off x="758952" y="1618488"/>
            <a:ext cx="6053328" cy="51252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안녕하십니까, 경원영업팀입니다.</a:t>
            </a:r>
            <a:endParaRPr lang="en-US" sz="2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2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「세일즈 코파일럿」</a:t>
            </a:r>
            <a:pPr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상담사를 대체하는 도구가 아니라, </a:t>
            </a:r>
            <a:pPr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옆자리에서 같이 나는 부조종사</a:t>
            </a:r>
            <a:pPr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라는 뜻입니다. 답을 대신 말해 주는 게 아니라, </a:t>
            </a:r>
            <a:pPr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근거를 꺼내 줍니다.</a:t>
            </a:r>
            <a:endParaRPr lang="en-US" sz="2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2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세 가지만 기억해 주십시오. </a:t>
            </a:r>
            <a:pPr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속도 · 정확도 · 일관성.</a:t>
            </a:r>
            <a:pPr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상담 시간을 줄이고, 잘못된 정보를 전달하지 않고, 누가 사용해도 같은 답이 나옵니다.</a:t>
            </a:r>
            <a:endParaRPr lang="en-US" sz="2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2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그리고 하나 더 — </a:t>
            </a:r>
            <a:pPr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개발비 0원, 운영비 0원, 앱 설치도 필요 없습니다.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502920" y="71734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95528" y="7173468"/>
            <a:ext cx="6263640" cy="6217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WOW ① — 「0원」을 첫 20초에 박는다. 이 뒤의 모든 숫자가 순이익으로 들린다.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82296"/>
          </a:xfrm>
          <a:prstGeom prst="rect">
            <a:avLst/>
          </a:prstGeom>
          <a:solidFill>
            <a:srgbClr val="1428A0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310896"/>
            <a:ext cx="1783080" cy="310896"/>
          </a:xfrm>
          <a:prstGeom prst="roundRect">
            <a:avLst>
              <a:gd name="adj" fmla="val 17647"/>
            </a:avLst>
          </a:prstGeom>
          <a:solidFill>
            <a:srgbClr val="1428A0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10896"/>
            <a:ext cx="1783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· 슬라이드 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596128" y="310896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35초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713232"/>
            <a:ext cx="65562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만들었나 / 누가 쓰나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502920" y="1225296"/>
            <a:ext cx="6556248" cy="0"/>
          </a:xfrm>
          <a:prstGeom prst="line">
            <a:avLst/>
          </a:prstGeom>
          <a:noFill/>
          <a:ln w="12700">
            <a:solidFill>
              <a:srgbClr val="D5D9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213848"/>
            <a:ext cx="32781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세일즈 코파일럿 · 경원영업팀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781044" y="10213848"/>
            <a:ext cx="32781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17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02920" y="1463040"/>
            <a:ext cx="6556248" cy="5436108"/>
          </a:xfrm>
          <a:prstGeom prst="rect">
            <a:avLst/>
          </a:prstGeom>
          <a:solidFill>
            <a:srgbClr val="E8ECF8"/>
          </a:solidFill>
          <a:ln/>
        </p:spPr>
      </p:sp>
      <p:sp>
        <p:nvSpPr>
          <p:cNvPr id="11" name="Shape 9"/>
          <p:cNvSpPr/>
          <p:nvPr/>
        </p:nvSpPr>
        <p:spPr>
          <a:xfrm>
            <a:off x="502920" y="1463040"/>
            <a:ext cx="64008" cy="5436108"/>
          </a:xfrm>
          <a:prstGeom prst="rect">
            <a:avLst/>
          </a:prstGeom>
          <a:solidFill>
            <a:srgbClr val="1428A0"/>
          </a:solidFill>
          <a:ln/>
        </p:spPr>
      </p:sp>
      <p:sp>
        <p:nvSpPr>
          <p:cNvPr id="12" name="Text 10"/>
          <p:cNvSpPr/>
          <p:nvPr/>
        </p:nvSpPr>
        <p:spPr>
          <a:xfrm>
            <a:off x="758952" y="1618488"/>
            <a:ext cx="6053328" cy="51252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만들었는가.</a:t>
            </a:r>
            <a:pPr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필요한 정보는 </a:t>
            </a:r>
            <a:pPr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다 있었습니다.</a:t>
            </a:r>
            <a:pPr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삼성닷컴에도, 카탈로그에도 있습니다. 문제는 </a:t>
            </a:r>
            <a:pPr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앞에서 그걸 꺼내 쓰기가 번거로웠다</a:t>
            </a:r>
            <a:pPr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것입니다.</a:t>
            </a:r>
            <a:endParaRPr lang="en-US" sz="2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2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외부 개발 없이 </a:t>
            </a:r>
            <a:pPr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안에서 만들었습니다.</a:t>
            </a:r>
            <a:pPr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개발비 0원, 운영비 0원. 공식 자료를 그대로 가져와 </a:t>
            </a:r>
            <a:pPr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하나로 모았습니다.</a:t>
            </a:r>
            <a:endParaRPr lang="en-US" sz="2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2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 쓰는가.</a:t>
            </a:r>
            <a:pPr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매장에서 고객을 직접 응대하는 </a:t>
            </a:r>
            <a:pPr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상담 매니저</a:t>
            </a:r>
            <a:pPr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입니다. 경원영업팀 65개 매장.</a:t>
            </a:r>
            <a:endParaRPr lang="en-US" sz="2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2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로그인도, 설치도, 계정 발급도 없습니다.</a:t>
            </a:r>
            <a:pPr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매장 모바일 · 태블릿 · PC에서 바로 씁니다.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82296"/>
          </a:xfrm>
          <a:prstGeom prst="rect">
            <a:avLst/>
          </a:prstGeom>
          <a:solidFill>
            <a:srgbClr val="1428A0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310896"/>
            <a:ext cx="1783080" cy="310896"/>
          </a:xfrm>
          <a:prstGeom prst="roundRect">
            <a:avLst>
              <a:gd name="adj" fmla="val 17647"/>
            </a:avLst>
          </a:prstGeom>
          <a:solidFill>
            <a:srgbClr val="1428A0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10896"/>
            <a:ext cx="1783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· 슬라이드 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596128" y="310896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30초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713232"/>
            <a:ext cx="65562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무엇이 바뀌나 (As-Is → To-Be)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502920" y="1225296"/>
            <a:ext cx="6556248" cy="0"/>
          </a:xfrm>
          <a:prstGeom prst="line">
            <a:avLst/>
          </a:prstGeom>
          <a:noFill/>
          <a:ln w="12700">
            <a:solidFill>
              <a:srgbClr val="D5D9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213848"/>
            <a:ext cx="32781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세일즈 코파일럿 · 경원영업팀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781044" y="10213848"/>
            <a:ext cx="32781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17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02920" y="1463040"/>
            <a:ext cx="6556248" cy="5436108"/>
          </a:xfrm>
          <a:prstGeom prst="rect">
            <a:avLst/>
          </a:prstGeom>
          <a:solidFill>
            <a:srgbClr val="E8ECF8"/>
          </a:solidFill>
          <a:ln/>
        </p:spPr>
      </p:sp>
      <p:sp>
        <p:nvSpPr>
          <p:cNvPr id="11" name="Shape 9"/>
          <p:cNvSpPr/>
          <p:nvPr/>
        </p:nvSpPr>
        <p:spPr>
          <a:xfrm>
            <a:off x="502920" y="1463040"/>
            <a:ext cx="64008" cy="5436108"/>
          </a:xfrm>
          <a:prstGeom prst="rect">
            <a:avLst/>
          </a:prstGeom>
          <a:solidFill>
            <a:srgbClr val="1428A0"/>
          </a:solidFill>
          <a:ln/>
        </p:spPr>
      </p:sp>
      <p:sp>
        <p:nvSpPr>
          <p:cNvPr id="12" name="Text 10"/>
          <p:cNvSpPr/>
          <p:nvPr/>
        </p:nvSpPr>
        <p:spPr>
          <a:xfrm>
            <a:off x="758952" y="1618488"/>
            <a:ext cx="6053328" cy="51252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상담사의 행동이 바뀌면 지점 실적이 바뀝니다.</a:t>
            </a:r>
            <a:pPr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세 줄만 보시겠습니다.</a:t>
            </a:r>
            <a:endParaRPr lang="en-US" sz="2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2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속도</a:t>
            </a:r>
            <a:pPr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카탈로그로는 고객이 원하는 조건의 모델을 찾기 어려웠습니다. 이제 </a:t>
            </a:r>
            <a:pPr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검색창에 조건을 넣으면 바로 확인</a:t>
            </a:r>
            <a:pPr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됩니다.</a:t>
            </a:r>
            <a:endParaRPr lang="en-US" sz="2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2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정확도</a:t>
            </a:r>
            <a:pPr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설치 제약을 몰라 </a:t>
            </a:r>
            <a:pPr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 후 설치 당일에 취소</a:t>
            </a:r>
            <a:pPr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되던 일이 있었습니다. 이제 </a:t>
            </a:r>
            <a:pPr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판매 전 30초</a:t>
            </a:r>
            <a:pPr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면 확인됩니다.</a:t>
            </a:r>
            <a:endParaRPr lang="en-US" sz="2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2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일관성</a:t>
            </a:r>
            <a:pPr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사람마다 답이 달라 </a:t>
            </a:r>
            <a:pPr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경력 편차가 그대로 응대 품질 편차</a:t>
            </a:r>
            <a:pPr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됐습니다. 이제 </a:t>
            </a:r>
            <a:pPr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신입사원도 첫날부터 동일한 수준</a:t>
            </a:r>
            <a:pPr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응대합니다.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502920" y="71734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95528" y="7173468"/>
            <a:ext cx="6263640" cy="6217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i="1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세 줄이 4·5·6 슬라이드의 목차다. 여기서 세 단어(속도·정확도·일관성)를 심어 두면 뒤가 빨라진다.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82296"/>
          </a:xfrm>
          <a:prstGeom prst="rect">
            <a:avLst/>
          </a:prstGeom>
          <a:solidFill>
            <a:srgbClr val="1428A0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310896"/>
            <a:ext cx="1783080" cy="310896"/>
          </a:xfrm>
          <a:prstGeom prst="roundRect">
            <a:avLst>
              <a:gd name="adj" fmla="val 17647"/>
            </a:avLst>
          </a:prstGeom>
          <a:solidFill>
            <a:srgbClr val="1428A0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10896"/>
            <a:ext cx="1783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· 슬라이드 4~6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596128" y="310896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55초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713232"/>
            <a:ext cx="65562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축을 하나씩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502920" y="1225296"/>
            <a:ext cx="6556248" cy="0"/>
          </a:xfrm>
          <a:prstGeom prst="line">
            <a:avLst/>
          </a:prstGeom>
          <a:noFill/>
          <a:ln w="12700">
            <a:solidFill>
              <a:srgbClr val="D5D9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213848"/>
            <a:ext cx="32781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세일즈 코파일럿 · 경원영업팀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781044" y="10213848"/>
            <a:ext cx="32781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/ 17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02920" y="1463040"/>
            <a:ext cx="6556248" cy="6501384"/>
          </a:xfrm>
          <a:prstGeom prst="rect">
            <a:avLst/>
          </a:prstGeom>
          <a:solidFill>
            <a:srgbClr val="E8ECF8"/>
          </a:solidFill>
          <a:ln/>
        </p:spPr>
      </p:sp>
      <p:sp>
        <p:nvSpPr>
          <p:cNvPr id="11" name="Shape 9"/>
          <p:cNvSpPr/>
          <p:nvPr/>
        </p:nvSpPr>
        <p:spPr>
          <a:xfrm>
            <a:off x="502920" y="1463040"/>
            <a:ext cx="64008" cy="6501384"/>
          </a:xfrm>
          <a:prstGeom prst="rect">
            <a:avLst/>
          </a:prstGeom>
          <a:solidFill>
            <a:srgbClr val="1428A0"/>
          </a:solidFill>
          <a:ln/>
        </p:spPr>
      </p:sp>
      <p:sp>
        <p:nvSpPr>
          <p:cNvPr id="12" name="Text 10"/>
          <p:cNvSpPr/>
          <p:nvPr/>
        </p:nvSpPr>
        <p:spPr>
          <a:xfrm>
            <a:off x="758952" y="1618488"/>
            <a:ext cx="6053328" cy="61904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속도 — 모델파인더.</a:t>
            </a:r>
            <a:pPr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시범 기간 </a:t>
            </a:r>
            <a:pPr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번째로 많이 열린 화면</a:t>
            </a:r>
            <a:pPr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입니다. 키워드 한 줄이면 조건이 겹쳐 좁혀집니다. 이따 직접 해 보시겠습니다. 매니저는 고민하며 낭비하던 시간이 줄고, 지점은 </a:t>
            </a:r>
            <a:pPr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응대 회전율</a:t>
            </a:r>
            <a:pPr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올라갑니다.</a:t>
            </a:r>
            <a:endParaRPr lang="en-US" sz="2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2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정확도 — 설치환경 가이드.</a:t>
            </a:r>
            <a:pPr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많이 열린 화면</a:t>
            </a:r>
            <a:pPr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입니다. 21개 카테고리의 전기 · 배수 · 이격 · 문 폭입니다. 설치가 안 되면 기사 재방문, 일정 재조정, 반품이 따라옵니다. </a:t>
            </a:r>
            <a:pPr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판매 전 30초 확인이 그 비용을 만회합니다.</a:t>
            </a:r>
            <a:endParaRPr lang="en-US" sz="2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2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일관성 — 어느 매장에서 사용하더라도 동일한 화면</a:t>
            </a:r>
            <a:pPr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입니다. 외워서 답하지 않고, 같은 화면을 보고 응대합니다. 지점장이 일일이 확인할 수 없던 </a:t>
            </a:r>
            <a:pPr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 편차가 사라집니다.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502920" y="823874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95528" y="8238744"/>
            <a:ext cx="6263640" cy="6217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B9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슬라이드 세 장을 55초에 넘긴다. 장당 18초 — 숫자(128건 1위 · 120건 2위)만 정확히 말하고 나머지는 화면에 맡길 것.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82296"/>
          </a:xfrm>
          <a:prstGeom prst="rect">
            <a:avLst/>
          </a:prstGeom>
          <a:solidFill>
            <a:srgbClr val="1428A0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310896"/>
            <a:ext cx="1783080" cy="310896"/>
          </a:xfrm>
          <a:prstGeom prst="roundRect">
            <a:avLst>
              <a:gd name="adj" fmla="val 17647"/>
            </a:avLst>
          </a:prstGeom>
          <a:solidFill>
            <a:srgbClr val="1428A0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10896"/>
            <a:ext cx="1783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· 슬라이드 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596128" y="310896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25초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713232"/>
            <a:ext cx="65562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중인 프로그램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502920" y="1225296"/>
            <a:ext cx="6556248" cy="0"/>
          </a:xfrm>
          <a:prstGeom prst="line">
            <a:avLst/>
          </a:prstGeom>
          <a:noFill/>
          <a:ln w="12700">
            <a:solidFill>
              <a:srgbClr val="D5D9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213848"/>
            <a:ext cx="32781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세일즈 코파일럿 · 경원영업팀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781044" y="10213848"/>
            <a:ext cx="32781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/ 17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02920" y="1463040"/>
            <a:ext cx="6556248" cy="5852160"/>
          </a:xfrm>
          <a:prstGeom prst="rect">
            <a:avLst/>
          </a:prstGeom>
          <a:solidFill>
            <a:srgbClr val="E8ECF8"/>
          </a:solidFill>
          <a:ln/>
        </p:spPr>
      </p:sp>
      <p:sp>
        <p:nvSpPr>
          <p:cNvPr id="11" name="Shape 9"/>
          <p:cNvSpPr/>
          <p:nvPr/>
        </p:nvSpPr>
        <p:spPr>
          <a:xfrm>
            <a:off x="502920" y="1463040"/>
            <a:ext cx="64008" cy="5852160"/>
          </a:xfrm>
          <a:prstGeom prst="rect">
            <a:avLst/>
          </a:prstGeom>
          <a:solidFill>
            <a:srgbClr val="1428A0"/>
          </a:solidFill>
          <a:ln/>
        </p:spPr>
      </p:sp>
      <p:sp>
        <p:nvSpPr>
          <p:cNvPr id="12" name="Text 10"/>
          <p:cNvSpPr/>
          <p:nvPr/>
        </p:nvSpPr>
        <p:spPr>
          <a:xfrm>
            <a:off x="758952" y="1618488"/>
            <a:ext cx="6053328" cy="55412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지금도 만들고 있는 것이 둘 있습니다.</a:t>
            </a:r>
            <a:endParaRPr lang="en-US" sz="2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2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가전 배치 시뮬레이터</a:t>
            </a:r>
            <a:pPr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구매할 가전을 고르면 </a:t>
            </a:r>
            <a:pPr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아파트 도면에 맞춰 배치를 추천</a:t>
            </a:r>
            <a:pPr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하고, 이격거리 · 간섭 · 방 이탈까지 판정합니다. 카탈로그 실측 71개 사이즈, 아파트 도면 </a:t>
            </a:r>
            <a:pPr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158개 단지 855장</a:t>
            </a:r>
            <a:pPr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입니다.</a:t>
            </a:r>
            <a:endParaRPr lang="en-US" sz="2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2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통신 요금제 상담 도구</a:t>
            </a:r>
            <a:pPr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3사 요금제 349건에 단말 출고가와 제휴카드까지 넣어 </a:t>
            </a:r>
            <a:pPr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납부금액과 할부 총액을 계산</a:t>
            </a:r>
            <a:pPr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합니다.</a:t>
            </a:r>
            <a:endParaRPr lang="en-US" sz="2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2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단계는 도면을 더 확보해 배치 적중률을 올리는 것입니다. 단지 목록은 </a:t>
            </a:r>
            <a:pPr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3,829곳</a:t>
            </a:r>
            <a:pPr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까지 이미 들어가 있습니다.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502920" y="75895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95528" y="7589520"/>
            <a:ext cx="6263640" cy="3749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i="1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여기서 배치 시뮬레이터를 예고해 두면 시연 ④ 의 3D 가 절정으로 살아난다.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82296"/>
          </a:xfrm>
          <a:prstGeom prst="rect">
            <a:avLst/>
          </a:prstGeom>
          <a:solidFill>
            <a:srgbClr val="1428A0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310896"/>
            <a:ext cx="1783080" cy="310896"/>
          </a:xfrm>
          <a:prstGeom prst="roundRect">
            <a:avLst>
              <a:gd name="adj" fmla="val 17647"/>
            </a:avLst>
          </a:prstGeom>
          <a:solidFill>
            <a:srgbClr val="1428A0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10896"/>
            <a:ext cx="1783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· 슬라이드 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596128" y="310896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40초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713232"/>
            <a:ext cx="65562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시범운영 결과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502920" y="1225296"/>
            <a:ext cx="6556248" cy="0"/>
          </a:xfrm>
          <a:prstGeom prst="line">
            <a:avLst/>
          </a:prstGeom>
          <a:noFill/>
          <a:ln w="12700">
            <a:solidFill>
              <a:srgbClr val="D5D9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213848"/>
            <a:ext cx="32781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세일즈 코파일럿 · 경원영업팀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781044" y="10213848"/>
            <a:ext cx="32781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/ 17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02920" y="1463040"/>
            <a:ext cx="6556248" cy="5436108"/>
          </a:xfrm>
          <a:prstGeom prst="rect">
            <a:avLst/>
          </a:prstGeom>
          <a:solidFill>
            <a:srgbClr val="E8ECF8"/>
          </a:solidFill>
          <a:ln/>
        </p:spPr>
      </p:sp>
      <p:sp>
        <p:nvSpPr>
          <p:cNvPr id="11" name="Shape 9"/>
          <p:cNvSpPr/>
          <p:nvPr/>
        </p:nvSpPr>
        <p:spPr>
          <a:xfrm>
            <a:off x="502920" y="1463040"/>
            <a:ext cx="64008" cy="5436108"/>
          </a:xfrm>
          <a:prstGeom prst="rect">
            <a:avLst/>
          </a:prstGeom>
          <a:solidFill>
            <a:srgbClr val="1428A0"/>
          </a:solidFill>
          <a:ln/>
        </p:spPr>
      </p:sp>
      <p:sp>
        <p:nvSpPr>
          <p:cNvPr id="12" name="Text 10"/>
          <p:cNvSpPr/>
          <p:nvPr/>
        </p:nvSpPr>
        <p:spPr>
          <a:xfrm>
            <a:off x="758952" y="1618488"/>
            <a:ext cx="6053328" cy="51252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13일, 10개 매장, </a:t>
            </a:r>
            <a:pPr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863건</a:t>
            </a:r>
            <a:pPr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입니다. 하루 66건.</a:t>
            </a:r>
            <a:endParaRPr lang="en-US" sz="2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2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여기서 중요한 건 숫자 자체가 아닙니다.</a:t>
            </a:r>
            <a:endParaRPr lang="en-US" sz="2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2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첫째, </a:t>
            </a:r>
            <a:pPr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기능만 쓰인 게 아닙니다.</a:t>
            </a:r>
            <a:pPr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설치환경 128 · 모델파인더 120 · 타사비교 102 — 상위 세 가지 모두 </a:t>
            </a:r>
            <a:pPr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상담 중 고객 앞에서 바로 쓰는 기능</a:t>
            </a:r>
            <a:pPr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입니다. 구경한 것이 아니라 </a:t>
            </a:r>
            <a:pPr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상담에 실제로 썼다는 뜻</a:t>
            </a:r>
            <a:pPr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입니다.</a:t>
            </a:r>
            <a:endParaRPr lang="en-US" sz="2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2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둘째, </a:t>
            </a:r>
            <a:pPr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시키지 않았습니다.</a:t>
            </a:r>
            <a:pPr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평가에 넣지도, 사용을 지시하지도 않았습니다. 그런데 13일 동안 863번 열렸습니다.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502920" y="71734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95528" y="7173468"/>
            <a:ext cx="6263640" cy="6217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WOW ② — 「시키지 않았는데 863번」에서 한 박자 쉰다. 자발적 사용은 도구가 실제로 쓸모 있다는 가장 강한 증거다.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82296"/>
          </a:xfrm>
          <a:prstGeom prst="rect">
            <a:avLst/>
          </a:prstGeom>
          <a:solidFill>
            <a:srgbClr val="1428A0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310896"/>
            <a:ext cx="1783080" cy="310896"/>
          </a:xfrm>
          <a:prstGeom prst="roundRect">
            <a:avLst>
              <a:gd name="adj" fmla="val 17647"/>
            </a:avLst>
          </a:prstGeom>
          <a:solidFill>
            <a:srgbClr val="1428A0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10896"/>
            <a:ext cx="1783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· 슬라이드 9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596128" y="310896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40초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713232"/>
            <a:ext cx="65562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65개 매장 도입 시 기대효과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502920" y="1225296"/>
            <a:ext cx="6556248" cy="0"/>
          </a:xfrm>
          <a:prstGeom prst="line">
            <a:avLst/>
          </a:prstGeom>
          <a:noFill/>
          <a:ln w="12700">
            <a:solidFill>
              <a:srgbClr val="D5D9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213848"/>
            <a:ext cx="32781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세일즈 코파일럿 · 경원영업팀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781044" y="10213848"/>
            <a:ext cx="32781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/ 17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02920" y="1463040"/>
            <a:ext cx="6556248" cy="7065264"/>
          </a:xfrm>
          <a:prstGeom prst="rect">
            <a:avLst/>
          </a:prstGeom>
          <a:solidFill>
            <a:srgbClr val="E8ECF8"/>
          </a:solidFill>
          <a:ln/>
        </p:spPr>
      </p:sp>
      <p:sp>
        <p:nvSpPr>
          <p:cNvPr id="11" name="Shape 9"/>
          <p:cNvSpPr/>
          <p:nvPr/>
        </p:nvSpPr>
        <p:spPr>
          <a:xfrm>
            <a:off x="502920" y="1463040"/>
            <a:ext cx="64008" cy="7065264"/>
          </a:xfrm>
          <a:prstGeom prst="rect">
            <a:avLst/>
          </a:prstGeom>
          <a:solidFill>
            <a:srgbClr val="1428A0"/>
          </a:solidFill>
          <a:ln/>
        </p:spPr>
      </p:sp>
      <p:sp>
        <p:nvSpPr>
          <p:cNvPr id="12" name="Text 10"/>
          <p:cNvSpPr/>
          <p:nvPr/>
        </p:nvSpPr>
        <p:spPr>
          <a:xfrm>
            <a:off x="758952" y="1618488"/>
            <a:ext cx="6053328" cy="675436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이걸 65개 매장으로 넓히면 어떻게 되는지, </a:t>
            </a:r>
            <a:pPr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실측과 가정을 갈라서</a:t>
            </a:r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계산했습니다.</a:t>
            </a:r>
            <a:endParaRPr lang="en-US" sz="1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실측은 매장당 하루 </a:t>
            </a:r>
            <a:pPr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6.6건</a:t>
            </a:r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가정은 </a:t>
            </a:r>
            <a:pPr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1건당 3분 절감</a:t>
            </a:r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상담사들이 「찾는 시간이 단축된다」고 한 것을 3분으로 잡았습니다.</a:t>
            </a:r>
            <a:endParaRPr lang="en-US" sz="1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그러면 </a:t>
            </a:r>
            <a:pPr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65개 매장에서 월 약 647시간, 연 약 7,800시간.</a:t>
            </a:r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상담사 </a:t>
            </a:r>
            <a:pPr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3.7명분의 응대 여력</a:t>
            </a:r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입니다. </a:t>
            </a:r>
            <a:pPr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사람을 줄이는 것이 아니라, 증원 없이 그만큼을 더 해내는 것</a:t>
            </a:r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입니다.</a:t>
            </a:r>
            <a:endParaRPr lang="en-US" sz="1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 쪽도 같은 방식입니다. 설치환경 가이드가 128건 열렸다는 건 </a:t>
            </a:r>
            <a:pPr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 전에 설치 조건을 확인한 횟수</a:t>
            </a:r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입니다. 매장당 월 한 건만 막아도 </a:t>
            </a:r>
            <a:pPr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 780건</a:t>
            </a:r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이고, </a:t>
            </a:r>
            <a:pPr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 한 건은 계약 금액 전액 손실</a:t>
            </a:r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입니다.</a:t>
            </a:r>
            <a:endParaRPr lang="en-US" sz="1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보수적으로 2분만 잡아도 연 5,200시간입니다.</a:t>
            </a:r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도입 비용이 0원이라 </a:t>
            </a:r>
            <a:pPr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절약된 시간이 그대로 순증</a:t>
            </a:r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입니다.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502920" y="880262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95528" y="8802624"/>
            <a:ext cx="6263640" cy="6217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WOW ③ — 숫자를 못 박지 말고 「기준을 바꿔 넣으시면 그대로 답이 나옵니다」로 넘긴다. 대표님이 자기 기준으로 재계산하기 시작하면 이미 설득된 것이다.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951585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95528" y="9515856"/>
            <a:ext cx="6263640" cy="6217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B9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「3.7명 줄이자는 거냐」고 물으시면 → 줄이자는 말씀이 아닙니다. 같은 인원으로 3.7명분을 더 해낸다는 뜻입니다. (이 한 문장을 준비해 둘 것)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82296"/>
          </a:xfrm>
          <a:prstGeom prst="rect">
            <a:avLst/>
          </a:prstGeom>
          <a:solidFill>
            <a:srgbClr val="1428A0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310896"/>
            <a:ext cx="1783080" cy="310896"/>
          </a:xfrm>
          <a:prstGeom prst="roundRect">
            <a:avLst>
              <a:gd name="adj" fmla="val 17647"/>
            </a:avLst>
          </a:prstGeom>
          <a:solidFill>
            <a:srgbClr val="1428A0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10896"/>
            <a:ext cx="1783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· 슬라이드 10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596128" y="310896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20초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713232"/>
            <a:ext cx="65562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 전환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502920" y="1225296"/>
            <a:ext cx="6556248" cy="0"/>
          </a:xfrm>
          <a:prstGeom prst="line">
            <a:avLst/>
          </a:prstGeom>
          <a:noFill/>
          <a:ln w="12700">
            <a:solidFill>
              <a:srgbClr val="D5D9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213848"/>
            <a:ext cx="32781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세일즈 코파일럿 · 경원영업팀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781044" y="10213848"/>
            <a:ext cx="32781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/ 17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02920" y="1463040"/>
            <a:ext cx="6556248" cy="2756916"/>
          </a:xfrm>
          <a:prstGeom prst="rect">
            <a:avLst/>
          </a:prstGeom>
          <a:solidFill>
            <a:srgbClr val="E8ECF8"/>
          </a:solidFill>
          <a:ln/>
        </p:spPr>
      </p:sp>
      <p:sp>
        <p:nvSpPr>
          <p:cNvPr id="11" name="Shape 9"/>
          <p:cNvSpPr/>
          <p:nvPr/>
        </p:nvSpPr>
        <p:spPr>
          <a:xfrm>
            <a:off x="502920" y="1463040"/>
            <a:ext cx="64008" cy="2756916"/>
          </a:xfrm>
          <a:prstGeom prst="rect">
            <a:avLst/>
          </a:prstGeom>
          <a:solidFill>
            <a:srgbClr val="1428A0"/>
          </a:solidFill>
          <a:ln/>
        </p:spPr>
      </p:sp>
      <p:sp>
        <p:nvSpPr>
          <p:cNvPr id="12" name="Text 10"/>
          <p:cNvSpPr/>
          <p:nvPr/>
        </p:nvSpPr>
        <p:spPr>
          <a:xfrm>
            <a:off x="758952" y="1618488"/>
            <a:ext cx="6053328" cy="24460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말씀은 여기까지 하고, </a:t>
            </a:r>
            <a:pPr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열어 보시겠습니다.</a:t>
            </a:r>
            <a:endParaRPr lang="en-US" sz="2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2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휴대폰 카메라로 QR을 비춰 주십시오. </a:t>
            </a:r>
            <a:pPr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로그인도, 설치도 필요 없습니다.</a:t>
            </a:r>
            <a:endParaRPr lang="en-US" sz="2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2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화면이 뜨면 </a:t>
            </a:r>
            <a:pPr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「테스트점」</a:t>
            </a:r>
            <a:pPr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세 글자를 입력해 주십시오. 화면에 띄워 두겠습니다.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502920" y="449427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95528" y="4494276"/>
            <a:ext cx="6263640" cy="6217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B9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여기서 테스트점을 화면에 크게 띄운 채로 시연 내내 두는 것이 안전하다 — 늦게 들어오는 사람이 반드시 있다.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82296"/>
          </a:xfrm>
          <a:prstGeom prst="rect">
            <a:avLst/>
          </a:prstGeom>
          <a:solidFill>
            <a:srgbClr val="1428A0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310896"/>
            <a:ext cx="1783080" cy="310896"/>
          </a:xfrm>
          <a:prstGeom prst="roundRect">
            <a:avLst>
              <a:gd name="adj" fmla="val 17647"/>
            </a:avLst>
          </a:prstGeom>
          <a:solidFill>
            <a:srgbClr val="1428A0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10896"/>
            <a:ext cx="1783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2부 · 시연 ①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596128" y="310896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40초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713232"/>
            <a:ext cx="65562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접속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502920" y="1225296"/>
            <a:ext cx="6556248" cy="0"/>
          </a:xfrm>
          <a:prstGeom prst="line">
            <a:avLst/>
          </a:prstGeom>
          <a:noFill/>
          <a:ln w="12700">
            <a:solidFill>
              <a:srgbClr val="D5D9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213848"/>
            <a:ext cx="32781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세일즈 코파일럿 · 경원영업팀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781044" y="10213848"/>
            <a:ext cx="32781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/ 17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02920" y="1463040"/>
            <a:ext cx="6556248" cy="4604004"/>
          </a:xfrm>
          <a:prstGeom prst="rect">
            <a:avLst/>
          </a:prstGeom>
          <a:solidFill>
            <a:srgbClr val="E8ECF8"/>
          </a:solidFill>
          <a:ln/>
        </p:spPr>
      </p:sp>
      <p:sp>
        <p:nvSpPr>
          <p:cNvPr id="11" name="Shape 9"/>
          <p:cNvSpPr/>
          <p:nvPr/>
        </p:nvSpPr>
        <p:spPr>
          <a:xfrm>
            <a:off x="502920" y="1463040"/>
            <a:ext cx="64008" cy="4604004"/>
          </a:xfrm>
          <a:prstGeom prst="rect">
            <a:avLst/>
          </a:prstGeom>
          <a:solidFill>
            <a:srgbClr val="1428A0"/>
          </a:solidFill>
          <a:ln/>
        </p:spPr>
      </p:sp>
      <p:sp>
        <p:nvSpPr>
          <p:cNvPr id="12" name="Text 10"/>
          <p:cNvSpPr/>
          <p:nvPr/>
        </p:nvSpPr>
        <p:spPr>
          <a:xfrm>
            <a:off x="758952" y="1618488"/>
            <a:ext cx="6053328" cy="42931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QR → 화면이 뜨면 </a:t>
            </a:r>
            <a:pPr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「테스트점」</a:t>
            </a:r>
            <a:pPr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입력 → 확인.</a:t>
            </a:r>
            <a:endParaRPr lang="en-US" sz="2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2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들어오셨으면 위쪽에 </a:t>
            </a:r>
            <a:pPr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노란 「테스트점 · 로그 미기록」</a:t>
            </a:r>
            <a:pPr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 보이실 겁니다.</a:t>
            </a:r>
            <a:endParaRPr lang="en-US" sz="2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2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여러분이 지금 누르는 것은 통계에 안 쌓입니다.</a:t>
            </a:r>
            <a:pPr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매장에서 실제로 쓴 것만 쌓입니다 — 아까 보신 863건이 그것입니다.</a:t>
            </a:r>
            <a:endParaRPr lang="en-US" sz="2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2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여러분 손에 있는 그 화면이, 65개 매장 상담사가 보고 있는 바로 그 화면입니다.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502920" y="634136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95528" y="6341364"/>
            <a:ext cx="6263640" cy="6217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i="1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원칙 — 발표자가 한 걸음씩 부르고 참석자가 같이 누른다. 각 단계 끝에 「보이십니까?」 로 한 번씩 맞춰 가면 낙오가 없다.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705459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95528" y="7054596"/>
            <a:ext cx="6263640" cy="3749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WOW ④ — 일관성을 말이 아니라 몸으로 증명하는 자리다.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82296"/>
          </a:xfrm>
          <a:prstGeom prst="rect">
            <a:avLst/>
          </a:prstGeom>
          <a:solidFill>
            <a:srgbClr val="1428A0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310896"/>
            <a:ext cx="1783080" cy="310896"/>
          </a:xfrm>
          <a:prstGeom prst="roundRect">
            <a:avLst>
              <a:gd name="adj" fmla="val 17647"/>
            </a:avLst>
          </a:prstGeom>
          <a:solidFill>
            <a:srgbClr val="1428A0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10896"/>
            <a:ext cx="1783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2부 · 시연 ②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596128" y="310896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70초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713232"/>
            <a:ext cx="65562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설치환경 가이드 — 1위 기능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502920" y="1225296"/>
            <a:ext cx="6556248" cy="0"/>
          </a:xfrm>
          <a:prstGeom prst="line">
            <a:avLst/>
          </a:prstGeom>
          <a:noFill/>
          <a:ln w="12700">
            <a:solidFill>
              <a:srgbClr val="D5D9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213848"/>
            <a:ext cx="32781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세일즈 코파일럿 · 경원영업팀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781044" y="10213848"/>
            <a:ext cx="32781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/ 17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02920" y="1463040"/>
            <a:ext cx="6556248" cy="5020056"/>
          </a:xfrm>
          <a:prstGeom prst="rect">
            <a:avLst/>
          </a:prstGeom>
          <a:solidFill>
            <a:srgbClr val="E8ECF8"/>
          </a:solidFill>
          <a:ln/>
        </p:spPr>
      </p:sp>
      <p:sp>
        <p:nvSpPr>
          <p:cNvPr id="11" name="Shape 9"/>
          <p:cNvSpPr/>
          <p:nvPr/>
        </p:nvSpPr>
        <p:spPr>
          <a:xfrm>
            <a:off x="502920" y="1463040"/>
            <a:ext cx="64008" cy="5020056"/>
          </a:xfrm>
          <a:prstGeom prst="rect">
            <a:avLst/>
          </a:prstGeom>
          <a:solidFill>
            <a:srgbClr val="1428A0"/>
          </a:solidFill>
          <a:ln/>
        </p:spPr>
      </p:sp>
      <p:sp>
        <p:nvSpPr>
          <p:cNvPr id="12" name="Text 10"/>
          <p:cNvSpPr/>
          <p:nvPr/>
        </p:nvSpPr>
        <p:spPr>
          <a:xfrm>
            <a:off x="758952" y="1618488"/>
            <a:ext cx="6053328" cy="4709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「설치환경 가이드」</a:t>
            </a:r>
            <a:pPr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를 눌러 주십시오. 시범 기간 가장 많이 열린 화면입니다.</a:t>
            </a:r>
            <a:endParaRPr lang="en-US" sz="2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2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냉장고 4도어 프리스탠딩</a:t>
            </a:r>
            <a:pPr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을 골라 주십시오.</a:t>
            </a:r>
            <a:endParaRPr lang="en-US" sz="2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2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보시면 </a:t>
            </a:r>
            <a:pPr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 공간 · 전기 · 배수 · 이격거리</a:t>
            </a:r>
            <a:pPr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한 화면에 있습니다. 특히 </a:t>
            </a:r>
            <a:pPr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후면 이격 50mm</a:t>
            </a:r>
            <a:pPr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이걸 모르고 계약하면 설치 당일에 취소됩니다. 아까 3페이지에서 말씀드린 그것입니다.</a:t>
            </a:r>
            <a:endParaRPr lang="en-US" sz="2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2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아래로 내리시면 </a:t>
            </a:r>
            <a:pPr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삼성닷컴 규격도</a:t>
            </a:r>
            <a:pPr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그대로 들어 있습니다. 저희가 지어낸 그림이 아니라 </a:t>
            </a:r>
            <a:pPr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 규격도</a:t>
            </a:r>
            <a:pPr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입니다.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502920" y="675741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95528" y="6757416"/>
            <a:ext cx="6263640" cy="868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i="1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마디 덧붙이면 좋은 것 — 여기 있는 값은 전부 공식 자료에서 확인한 것만 넣었습니다. 확인이 안 된 건 비워 두고 「확인 필요」 라고 적습니다. 상담사가 화면을 그대로 읽어도 틀리지 않게.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82296"/>
          </a:xfrm>
          <a:prstGeom prst="rect">
            <a:avLst/>
          </a:prstGeom>
          <a:solidFill>
            <a:srgbClr val="1428A0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310896"/>
            <a:ext cx="1783080" cy="310896"/>
          </a:xfrm>
          <a:prstGeom prst="roundRect">
            <a:avLst>
              <a:gd name="adj" fmla="val 17647"/>
            </a:avLst>
          </a:prstGeom>
          <a:solidFill>
            <a:srgbClr val="1428A0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10896"/>
            <a:ext cx="1783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2부 · 시연 ③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596128" y="310896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70초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713232"/>
            <a:ext cx="65562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모델파인더 — 한 줄로 좁히기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502920" y="1225296"/>
            <a:ext cx="6556248" cy="0"/>
          </a:xfrm>
          <a:prstGeom prst="line">
            <a:avLst/>
          </a:prstGeom>
          <a:noFill/>
          <a:ln w="12700">
            <a:solidFill>
              <a:srgbClr val="D5D9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213848"/>
            <a:ext cx="32781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세일즈 코파일럿 · 경원영업팀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781044" y="10213848"/>
            <a:ext cx="32781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 / 17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02920" y="1463040"/>
            <a:ext cx="6556248" cy="1051560"/>
          </a:xfrm>
          <a:prstGeom prst="roundRect">
            <a:avLst>
              <a:gd name="adj" fmla="val 6957"/>
            </a:avLst>
          </a:prstGeom>
          <a:solidFill>
            <a:srgbClr val="FFF7E6"/>
          </a:solidFill>
          <a:ln w="19050">
            <a:solidFill>
              <a:srgbClr val="E0A9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536192"/>
            <a:ext cx="65562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A5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무풍 공기청정 19평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85800" y="2157984"/>
            <a:ext cx="61904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5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검색창에 그대로 입력 → 61종이 3종으로 좁혀집니다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2743200"/>
            <a:ext cx="6556248" cy="6268212"/>
          </a:xfrm>
          <a:prstGeom prst="rect">
            <a:avLst/>
          </a:prstGeom>
          <a:solidFill>
            <a:srgbClr val="E8ECF8"/>
          </a:solidFill>
          <a:ln/>
        </p:spPr>
      </p:sp>
      <p:sp>
        <p:nvSpPr>
          <p:cNvPr id="14" name="Shape 12"/>
          <p:cNvSpPr/>
          <p:nvPr/>
        </p:nvSpPr>
        <p:spPr>
          <a:xfrm>
            <a:off x="502920" y="2743200"/>
            <a:ext cx="64008" cy="6268212"/>
          </a:xfrm>
          <a:prstGeom prst="rect">
            <a:avLst/>
          </a:prstGeom>
          <a:solidFill>
            <a:srgbClr val="1428A0"/>
          </a:solidFill>
          <a:ln/>
        </p:spPr>
      </p:sp>
      <p:sp>
        <p:nvSpPr>
          <p:cNvPr id="15" name="Text 13"/>
          <p:cNvSpPr/>
          <p:nvPr/>
        </p:nvSpPr>
        <p:spPr>
          <a:xfrm>
            <a:off x="758952" y="2898648"/>
            <a:ext cx="6053328" cy="59573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뒤로 나와서 </a:t>
            </a:r>
            <a:pPr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「모델파인더」</a:t>
            </a:r>
            <a:pPr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를 눌러 주십시오. 자료의 그 모델파인더입니다.</a:t>
            </a:r>
            <a:endParaRPr lang="en-US" sz="2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2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3종으로 좁혀집니다.</a:t>
            </a:r>
            <a:pPr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예전 같으면 「에어컨」 하나로 61종을 훑어야 했습니다. </a:t>
            </a:r>
            <a:pPr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무풍이라는 기능, 공기청정이라는 기능, 19평이라는 면적</a:t>
            </a:r>
            <a:pPr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조건 세 개가 겹쳐서 한 번에 좁혀집니다.</a:t>
            </a:r>
            <a:endParaRPr lang="en-US" sz="2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2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이번엔 노트북을 찾아보겠습니다. </a:t>
            </a:r>
            <a:pPr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「북6 울트라」</a:t>
            </a:r>
            <a:pPr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라고 쳐 보십시오. </a:t>
            </a:r>
            <a:pPr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4종만 나옵니다.</a:t>
            </a:r>
            <a:pPr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붙여 쓰셔도, </a:t>
            </a:r>
            <a:pPr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book6</a:t>
            </a:r>
            <a:pPr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라고 영문으로 치셔도 됩니다.</a:t>
            </a:r>
            <a:endParaRPr lang="en-US" sz="2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2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그런데 화면에 나오는 모델명은 </a:t>
            </a:r>
            <a:pPr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NT960UJH-XC94Y</a:t>
            </a:r>
            <a:pPr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접미까지 붙은 풀 모델코드</a:t>
            </a:r>
            <a:pPr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입니다. </a:t>
            </a:r>
            <a:pPr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찾을 때는 부르는 말로, 볼 때는 발주할 수 있는 코드로.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502920" y="92857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95528" y="9285732"/>
            <a:ext cx="6263640" cy="6217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WOW ⑤ — 「현장이 쓰는 말」 과 「발주에 필요한 코드」 를 한 화면에서 동시에 보여준다. 이 대비가 세다.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82296"/>
          </a:xfrm>
          <a:prstGeom prst="rect">
            <a:avLst/>
          </a:prstGeom>
          <a:solidFill>
            <a:srgbClr val="1428A0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310896"/>
            <a:ext cx="1783080" cy="310896"/>
          </a:xfrm>
          <a:prstGeom prst="roundRect">
            <a:avLst>
              <a:gd name="adj" fmla="val 17647"/>
            </a:avLst>
          </a:prstGeom>
          <a:solidFill>
            <a:srgbClr val="1428A0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10896"/>
            <a:ext cx="1783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2부 · 시연 ④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596128" y="310896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100초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713232"/>
            <a:ext cx="65562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배치 시뮬레이터 3D — 절정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502920" y="1225296"/>
            <a:ext cx="6556248" cy="0"/>
          </a:xfrm>
          <a:prstGeom prst="line">
            <a:avLst/>
          </a:prstGeom>
          <a:noFill/>
          <a:ln w="12700">
            <a:solidFill>
              <a:srgbClr val="D5D9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213848"/>
            <a:ext cx="32781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세일즈 코파일럿 · 경원영업팀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781044" y="10213848"/>
            <a:ext cx="32781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 / 17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02920" y="1463040"/>
            <a:ext cx="6556248" cy="6684264"/>
          </a:xfrm>
          <a:prstGeom prst="rect">
            <a:avLst/>
          </a:prstGeom>
          <a:solidFill>
            <a:srgbClr val="E8ECF8"/>
          </a:solidFill>
          <a:ln/>
        </p:spPr>
      </p:sp>
      <p:sp>
        <p:nvSpPr>
          <p:cNvPr id="11" name="Shape 9"/>
          <p:cNvSpPr/>
          <p:nvPr/>
        </p:nvSpPr>
        <p:spPr>
          <a:xfrm>
            <a:off x="502920" y="1463040"/>
            <a:ext cx="64008" cy="6684264"/>
          </a:xfrm>
          <a:prstGeom prst="rect">
            <a:avLst/>
          </a:prstGeom>
          <a:solidFill>
            <a:srgbClr val="1428A0"/>
          </a:solidFill>
          <a:ln/>
        </p:spPr>
      </p:sp>
      <p:sp>
        <p:nvSpPr>
          <p:cNvPr id="12" name="Text 10"/>
          <p:cNvSpPr/>
          <p:nvPr/>
        </p:nvSpPr>
        <p:spPr>
          <a:xfrm>
            <a:off x="758952" y="1618488"/>
            <a:ext cx="6053328" cy="637336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「개발 중인 서비스」</a:t>
            </a:r>
            <a:pPr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로 들어가 </a:t>
            </a:r>
            <a:pPr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「가전 배치 시뮬레이터」</a:t>
            </a:r>
            <a:pPr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를 눌러 주십시오.</a:t>
            </a:r>
            <a:endParaRPr lang="en-US" sz="2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2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「단지 불러오기」</a:t>
            </a:r>
            <a:pPr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지역을 고르고 단지를 고릅니다. 지금 </a:t>
            </a:r>
            <a:pPr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158개 단지 855장</a:t>
            </a:r>
            <a:pPr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실제 분양 도면이 들어 있고, 도면이 없는 단지도 </a:t>
            </a:r>
            <a:pPr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3,829곳</a:t>
            </a:r>
            <a:pPr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목록에 있어 고객 도면을 그 자리에서 받을 수 있습니다.</a:t>
            </a:r>
            <a:endParaRPr lang="en-US" sz="2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2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도면을 고르면 </a:t>
            </a:r>
            <a:pPr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벽을 자동으로 인식</a:t>
            </a:r>
            <a:pPr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합니다. 그리고 </a:t>
            </a:r>
            <a:pPr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안방 가로가 몇 mm인지</a:t>
            </a:r>
            <a:pPr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한 번만 물어봅니다 — 고객이 아는 치수가 그거니까요.</a:t>
            </a:r>
            <a:endParaRPr lang="en-US" sz="2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2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가전을 고르고 </a:t>
            </a:r>
            <a:pPr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3D</a:t>
            </a:r>
            <a:pPr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를 눌러 주십시오. </a:t>
            </a:r>
            <a:pPr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집 도면 위에, 실제 치수 그대로 냉장고가 섭니다.</a:t>
            </a:r>
            <a:pPr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문을 열어 보면 </a:t>
            </a:r>
            <a:pPr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부딪히는지까지</a:t>
            </a:r>
            <a:pPr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판정합니다. 부딪히면 빨갛게 뜹니다.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502920" y="842162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95528" y="8421624"/>
            <a:ext cx="6263640" cy="6217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WOW ⑥ 절정 — 「고객이 우리 집에 들어갈까요? 하고 물으면, 지금까지는 재 보셔야 합니다 였습니다. 이제는 이 화면을 같이 보면 됩니다.」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913485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95528" y="9134856"/>
            <a:ext cx="6263640" cy="868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B9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시간이 모자라면 3D 는 발표자 화면으로만 보여주고 참석자는 보게만 한다. 도면 불러오기부터 축척까지 각자 하면 3분이 넘어간다. 「개발 중인 서비스」에 비밀번호가 걸려 있어도 같다.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82296"/>
          </a:xfrm>
          <a:prstGeom prst="rect">
            <a:avLst/>
          </a:prstGeom>
          <a:solidFill>
            <a:srgbClr val="1428A0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310896"/>
            <a:ext cx="1783080" cy="310896"/>
          </a:xfrm>
          <a:prstGeom prst="roundRect">
            <a:avLst>
              <a:gd name="adj" fmla="val 17647"/>
            </a:avLst>
          </a:prstGeom>
          <a:solidFill>
            <a:srgbClr val="1428A0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10896"/>
            <a:ext cx="1783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2부 · 시연 ⑤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596128" y="310896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40초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713232"/>
            <a:ext cx="65562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마무리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502920" y="1225296"/>
            <a:ext cx="6556248" cy="0"/>
          </a:xfrm>
          <a:prstGeom prst="line">
            <a:avLst/>
          </a:prstGeom>
          <a:noFill/>
          <a:ln w="12700">
            <a:solidFill>
              <a:srgbClr val="D5D9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213848"/>
            <a:ext cx="32781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세일즈 코파일럿 · 경원영업팀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781044" y="10213848"/>
            <a:ext cx="32781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 / 17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02920" y="1463040"/>
            <a:ext cx="6556248" cy="7283196"/>
          </a:xfrm>
          <a:prstGeom prst="rect">
            <a:avLst/>
          </a:prstGeom>
          <a:solidFill>
            <a:srgbClr val="E8ECF8"/>
          </a:solidFill>
          <a:ln/>
        </p:spPr>
      </p:sp>
      <p:sp>
        <p:nvSpPr>
          <p:cNvPr id="11" name="Shape 9"/>
          <p:cNvSpPr/>
          <p:nvPr/>
        </p:nvSpPr>
        <p:spPr>
          <a:xfrm>
            <a:off x="502920" y="1463040"/>
            <a:ext cx="64008" cy="7283196"/>
          </a:xfrm>
          <a:prstGeom prst="rect">
            <a:avLst/>
          </a:prstGeom>
          <a:solidFill>
            <a:srgbClr val="1428A0"/>
          </a:solidFill>
          <a:ln/>
        </p:spPr>
      </p:sp>
      <p:sp>
        <p:nvSpPr>
          <p:cNvPr id="12" name="Text 10"/>
          <p:cNvSpPr/>
          <p:nvPr/>
        </p:nvSpPr>
        <p:spPr>
          <a:xfrm>
            <a:off x="758952" y="1618488"/>
            <a:ext cx="6053328" cy="69723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마지막으로 하나만 더 보시겠습니다. (발표자 화면)</a:t>
            </a:r>
            <a:endParaRPr lang="en-US" sz="2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2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대시보드입니다. </a:t>
            </a:r>
            <a:pPr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방금 여러분이 누르신 건 여기 없습니다</a:t>
            </a:r>
            <a:pPr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테스트점이니까요. 대신 </a:t>
            </a:r>
            <a:pPr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매장에서 실제로 쓴 863건이 여기 있습니다.</a:t>
            </a:r>
            <a:pPr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어느 매장이 무엇을 많이 쓰는지가 그대로 보입니다.</a:t>
            </a:r>
            <a:endParaRPr lang="en-US" sz="2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2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로그 자체가 현장 니즈 데이터입니다.</a:t>
            </a:r>
            <a:pPr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무엇을 교육할지, 무엇을 보강할지를 </a:t>
            </a:r>
            <a:pPr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감이 아니라 숫자로</a:t>
            </a:r>
            <a:pPr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정할 수 있습니다.</a:t>
            </a:r>
            <a:endParaRPr lang="en-US" sz="2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2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정리하겠습니다. </a:t>
            </a:r>
            <a:pPr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개발비 0원으로, 13일 만에 863건이 쓰였고, 65개 매장으로 넓히면 연 7,800시간입니다.</a:t>
            </a:r>
            <a:pPr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그리고 지금 여러분이 방금 만져 보신 그 화면이, </a:t>
            </a:r>
            <a:pPr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매장에서 돌아가고 있는 화면</a:t>
            </a:r>
            <a:pPr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입니다.</a:t>
            </a:r>
            <a:endParaRPr lang="en-US" sz="2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2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감사합니다.</a:t>
            </a:r>
            <a:endParaRPr lang="en-US" sz="2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82296"/>
          </a:xfrm>
          <a:prstGeom prst="rect">
            <a:avLst/>
          </a:prstGeom>
          <a:solidFill>
            <a:srgbClr val="1428A0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310896"/>
            <a:ext cx="1783080" cy="310896"/>
          </a:xfrm>
          <a:prstGeom prst="roundRect">
            <a:avLst>
              <a:gd name="adj" fmla="val 17647"/>
            </a:avLst>
          </a:prstGeom>
          <a:solidFill>
            <a:srgbClr val="1428A0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10896"/>
            <a:ext cx="1783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비상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65562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 중 사고가 나면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225296"/>
            <a:ext cx="6556248" cy="0"/>
          </a:xfrm>
          <a:prstGeom prst="line">
            <a:avLst/>
          </a:prstGeom>
          <a:noFill/>
          <a:ln w="12700">
            <a:solidFill>
              <a:srgbClr val="D5D9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213848"/>
            <a:ext cx="32781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세일즈 코파일럿 · 경원영업팀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781044" y="10213848"/>
            <a:ext cx="32781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 / 17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1481328"/>
            <a:ext cx="6556248" cy="384048"/>
          </a:xfrm>
          <a:prstGeom prst="rect">
            <a:avLst/>
          </a:prstGeom>
          <a:solidFill>
            <a:srgbClr val="1428A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48132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상황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00400" y="1481328"/>
            <a:ext cx="37216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이렇게 하십시오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1865376"/>
            <a:ext cx="6556248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D5D9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1865376"/>
            <a:ext cx="24688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참석자가 지점 화면에서 못 들어감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00400" y="1865376"/>
            <a:ext cx="372160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「테스트점」을 다시 크게 띄운다. 띄어쓰기 · 대소문자 상관없음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" y="2706624"/>
            <a:ext cx="6556248" cy="841248"/>
          </a:xfrm>
          <a:prstGeom prst="rect">
            <a:avLst/>
          </a:prstGeom>
          <a:solidFill>
            <a:srgbClr val="F5F6FA"/>
          </a:solidFill>
          <a:ln w="6350">
            <a:solidFill>
              <a:srgbClr val="D5D9E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706624"/>
            <a:ext cx="24688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화면이 안 뜬다 / 느리다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00400" y="2706624"/>
            <a:ext cx="372160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와이파이 대신 LTE 로 붙게 한다. 한 번 열리면 그다음은 캐시로 빠르다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2920" y="3547872"/>
            <a:ext cx="6556248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D5D9E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547872"/>
            <a:ext cx="24688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3D 가 무겁다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200400" y="3547872"/>
            <a:ext cx="372160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참석자는 보게만 하고 발표자 화면으로 진행한다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02920" y="4389120"/>
            <a:ext cx="6556248" cy="841248"/>
          </a:xfrm>
          <a:prstGeom prst="rect">
            <a:avLst/>
          </a:prstGeom>
          <a:solidFill>
            <a:srgbClr val="F5F6FA"/>
          </a:solidFill>
          <a:ln w="6350">
            <a:solidFill>
              <a:srgbClr val="D5D9E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389120"/>
            <a:ext cx="24688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「개발 중인 서비스」가 잠김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200400" y="4389120"/>
            <a:ext cx="372160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비밀번호가 걸려 있다. 발표자 화면으로만 보여준다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02920" y="5230368"/>
            <a:ext cx="6556248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D5D9E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230368"/>
            <a:ext cx="24688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결과가 자료와 다르다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200400" y="5230368"/>
            <a:ext cx="372160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앱은 계속 손보고 있다. 「화면에 나온 것이 최신」 이라고 하면 된다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02920" y="6071616"/>
            <a:ext cx="6556248" cy="841248"/>
          </a:xfrm>
          <a:prstGeom prst="rect">
            <a:avLst/>
          </a:prstGeom>
          <a:solidFill>
            <a:srgbClr val="F5F6FA"/>
          </a:solidFill>
          <a:ln w="6350">
            <a:solidFill>
              <a:srgbClr val="D5D9E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6071616"/>
            <a:ext cx="24688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질문이 길어짐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200400" y="6071616"/>
            <a:ext cx="372160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「그 부분은 시연 끝나고 화면 띄워 놓고 답변드리겠습니다」 로 넘기고 시간을 지킨다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82296"/>
          </a:xfrm>
          <a:prstGeom prst="rect">
            <a:avLst/>
          </a:prstGeom>
          <a:solidFill>
            <a:srgbClr val="1428A0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310896"/>
            <a:ext cx="1783080" cy="310896"/>
          </a:xfrm>
          <a:prstGeom prst="roundRect">
            <a:avLst>
              <a:gd name="adj" fmla="val 17647"/>
            </a:avLst>
          </a:prstGeom>
          <a:solidFill>
            <a:srgbClr val="1428A0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10896"/>
            <a:ext cx="1783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 질문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65562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이렇게 물어보시면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225296"/>
            <a:ext cx="6556248" cy="0"/>
          </a:xfrm>
          <a:prstGeom prst="line">
            <a:avLst/>
          </a:prstGeom>
          <a:noFill/>
          <a:ln w="12700">
            <a:solidFill>
              <a:srgbClr val="D5D9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213848"/>
            <a:ext cx="32781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세일즈 코파일럿 · 경원영업팀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781044" y="10213848"/>
            <a:ext cx="32781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 / 17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1517904"/>
            <a:ext cx="6556248" cy="457200"/>
          </a:xfrm>
          <a:prstGeom prst="rect">
            <a:avLst/>
          </a:prstGeom>
          <a:solidFill>
            <a:srgbClr val="E8ECF8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1517904"/>
            <a:ext cx="64008" cy="457200"/>
          </a:xfrm>
          <a:prstGeom prst="rect">
            <a:avLst/>
          </a:prstGeom>
          <a:solidFill>
            <a:srgbClr val="1428A0"/>
          </a:solidFill>
          <a:ln/>
        </p:spPr>
      </p:sp>
      <p:sp>
        <p:nvSpPr>
          <p:cNvPr id="11" name="Text 9"/>
          <p:cNvSpPr/>
          <p:nvPr/>
        </p:nvSpPr>
        <p:spPr>
          <a:xfrm>
            <a:off x="740664" y="1517904"/>
            <a:ext cx="6190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Q.  외부 개발비가 정말 0원입니까?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40664" y="2084832"/>
            <a:ext cx="6190488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A.  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네. 팀 내부에서 만들었고 배포도 무료 플랜입니다. 늘어나는 비용은 없습니다.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2920" y="3364992"/>
            <a:ext cx="6556248" cy="457200"/>
          </a:xfrm>
          <a:prstGeom prst="rect">
            <a:avLst/>
          </a:prstGeom>
          <a:solidFill>
            <a:srgbClr val="E8ECF8"/>
          </a:solidFill>
          <a:ln/>
        </p:spPr>
      </p:sp>
      <p:sp>
        <p:nvSpPr>
          <p:cNvPr id="14" name="Shape 12"/>
          <p:cNvSpPr/>
          <p:nvPr/>
        </p:nvSpPr>
        <p:spPr>
          <a:xfrm>
            <a:off x="502920" y="3364992"/>
            <a:ext cx="64008" cy="457200"/>
          </a:xfrm>
          <a:prstGeom prst="rect">
            <a:avLst/>
          </a:prstGeom>
          <a:solidFill>
            <a:srgbClr val="1428A0"/>
          </a:solidFill>
          <a:ln/>
        </p:spPr>
      </p:sp>
      <p:sp>
        <p:nvSpPr>
          <p:cNvPr id="15" name="Text 13"/>
          <p:cNvSpPr/>
          <p:nvPr/>
        </p:nvSpPr>
        <p:spPr>
          <a:xfrm>
            <a:off x="740664" y="3364992"/>
            <a:ext cx="6190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Q.  상담사 3.7명을 줄이자는 겁니까?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40664" y="3931920"/>
            <a:ext cx="6190488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A.  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아닙니다. </a:t>
            </a:r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증원 없이 3.7명분을 더 해낸다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뜻입니다. 지금 인원이 찾는 데 쓰던 시간을 응대로 돌린다는 계산입니다.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2920" y="5212080"/>
            <a:ext cx="6556248" cy="457200"/>
          </a:xfrm>
          <a:prstGeom prst="rect">
            <a:avLst/>
          </a:prstGeom>
          <a:solidFill>
            <a:srgbClr val="E8ECF8"/>
          </a:solidFill>
          <a:ln/>
        </p:spPr>
      </p:sp>
      <p:sp>
        <p:nvSpPr>
          <p:cNvPr id="18" name="Shape 16"/>
          <p:cNvSpPr/>
          <p:nvPr/>
        </p:nvSpPr>
        <p:spPr>
          <a:xfrm>
            <a:off x="502920" y="5212080"/>
            <a:ext cx="64008" cy="457200"/>
          </a:xfrm>
          <a:prstGeom prst="rect">
            <a:avLst/>
          </a:prstGeom>
          <a:solidFill>
            <a:srgbClr val="1428A0"/>
          </a:solidFill>
          <a:ln/>
        </p:spPr>
      </p:sp>
      <p:sp>
        <p:nvSpPr>
          <p:cNvPr id="19" name="Text 17"/>
          <p:cNvSpPr/>
          <p:nvPr/>
        </p:nvSpPr>
        <p:spPr>
          <a:xfrm>
            <a:off x="740664" y="5212080"/>
            <a:ext cx="6190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Q.  자료의 정확성은 어떻게 담보합니까?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40664" y="5779008"/>
            <a:ext cx="6190488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A.  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삼성닷컴 · 카탈로그 같은 공식 출처에서 </a:t>
            </a:r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확인된 값만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넣습니다. 확인이 안 된 항목은 숫자를 채우지 않고 </a:t>
            </a:r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비워 두고 그 사실을 화면에 적습니다.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상담사가 화면을 그대로 읽어도 틀리지 않는 것이 원칙입니다.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세일즈 코파일럿 — 발표 대본</dc:title>
  <dc:subject>PptxGenJS Presentation</dc:subject>
  <dc:creator>경원영업팀</dc:creator>
  <cp:lastModifiedBy>경원영업팀</cp:lastModifiedBy>
  <cp:revision>1</cp:revision>
  <dcterms:created xsi:type="dcterms:W3CDTF">2026-08-25T22:52:27Z</dcterms:created>
  <dcterms:modified xsi:type="dcterms:W3CDTF">2026-08-25T22:52:27Z</dcterms:modified>
</cp:coreProperties>
</file>