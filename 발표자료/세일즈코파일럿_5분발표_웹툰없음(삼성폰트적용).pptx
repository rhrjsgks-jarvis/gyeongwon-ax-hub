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5602" userDrawn="1">
          <p15:clr>
            <a:srgbClr val="A4A3A4"/>
          </p15:clr>
        </p15:guide>
        <p15:guide id="3" pos="272" userDrawn="1">
          <p15:clr>
            <a:srgbClr val="A4A3A4"/>
          </p15:clr>
        </p15:guide>
        <p15:guide id="4" orient="horz" pos="2777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5" roundtripDataSignature="AMtx7miz1KAqwfwE8HmeX57C8bVekDMX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28A0"/>
    <a:srgbClr val="0F766E"/>
    <a:srgbClr val="7C2D8F"/>
    <a:srgbClr val="EEDFF1"/>
    <a:srgbClr val="DAB9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7" d="100"/>
          <a:sy n="157" d="100"/>
        </p:scale>
        <p:origin x="294" y="138"/>
      </p:cViewPr>
      <p:guideLst>
        <p:guide orient="horz" pos="1620"/>
        <p:guide pos="5602"/>
        <p:guide pos="272"/>
        <p:guide orient="horz" pos="277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" name="Google Shape;3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4" name="Google Shape;54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c50b3b74_0_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2" name="Google Shape;82;g3f6c50b3b74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f6c50b3b7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f6c50b3b7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실제 화면에서 조건을 직접 쳐 보세요. 즉시 뜨는 것이 요점입니다.</a:t>
            </a:r>
            <a:endParaRPr/>
          </a:p>
        </p:txBody>
      </p:sp>
      <p:sp>
        <p:nvSpPr>
          <p:cNvPr id="106" name="Google Shape;106;g3f6c50b3b7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9" name="Google Shape;17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0" name="Google Shape;180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2" name="Google Shape;232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가정값 두 개(1건당 3분 · 재방문 단가)는 시범 13일로 측정하지 못했습니다. 회사 기준 수치를 넣으면 그대로 금액이 나옵니다.</a:t>
            </a:r>
            <a:br>
              <a:rPr lang="en-US"/>
            </a:br>
            <a:r>
              <a:rPr lang="en-US"/>
              <a:t>또 하나의 가정 — 65개 매장이 시범 10개 매장과 같은 빈도로 쓴다고 봤습니다. 시범 매장은 관심도가 높았을 수 있어 초기에는 낮게 나올 수 있습니다.</a:t>
            </a:r>
            <a:br>
              <a:rPr lang="en-US"/>
            </a:br>
            <a:r>
              <a:rPr lang="en-US"/>
              <a:t>확대 후 3개월이면 상담 건수 · 설치 재방문 · 취소 건수로 실측할 수 있습니다.</a:t>
            </a:r>
            <a:endParaRPr/>
          </a:p>
        </p:txBody>
      </p:sp>
      <p:sp>
        <p:nvSpPr>
          <p:cNvPr id="233" name="Google Shape;233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99" name="Google Shape;29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transition spd="med">
    <p:fad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8A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40080" y="1188720"/>
            <a:ext cx="78638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Malgun Gothic"/>
              <a:buNone/>
            </a:pPr>
            <a:r>
              <a:rPr lang="en-US" sz="4000" b="1" i="0" u="none" strike="noStrike" cap="none" dirty="0" err="1">
                <a:solidFill>
                  <a:srgbClr val="FFFFFF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세일즈</a:t>
            </a:r>
            <a:r>
              <a:rPr lang="en-US" sz="4000" b="1" i="0" u="none" strike="noStrike" cap="none" dirty="0">
                <a:solidFill>
                  <a:srgbClr val="FFFFFF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4000" b="1" i="0" u="none" strike="noStrike" cap="none" dirty="0" err="1">
                <a:solidFill>
                  <a:srgbClr val="FFFFFF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코파일럿</a:t>
            </a:r>
            <a:endParaRPr sz="4000" b="0" i="0" u="none" strike="noStrike" cap="none" dirty="0">
              <a:solidFill>
                <a:schemeClr val="dk1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658368" y="1965960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C7D0F5"/>
              </a:buClr>
              <a:buSzPts val="2000"/>
            </a:pPr>
            <a:r>
              <a:rPr lang="en-US" altLang="ko-KR" sz="2000" dirty="0">
                <a:solidFill>
                  <a:srgbClr val="C7D0F5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Right · </a:t>
            </a:r>
            <a:r>
              <a:rPr lang="en-US" sz="2000" b="0" i="0" u="none" strike="noStrike" cap="none" dirty="0">
                <a:solidFill>
                  <a:srgbClr val="C7D0F5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Fast · Every time</a:t>
            </a:r>
            <a:endParaRPr sz="20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3363468" y="2694432"/>
            <a:ext cx="2514600" cy="7772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3363468" y="2694432"/>
            <a:ext cx="2514600" cy="54864"/>
          </a:xfrm>
          <a:prstGeom prst="rect">
            <a:avLst/>
          </a:prstGeom>
          <a:solidFill>
            <a:srgbClr val="0F766E"/>
          </a:solidFill>
          <a:ln w="12700" cap="flat" cmpd="sng">
            <a:solidFill>
              <a:srgbClr val="0F766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3546348" y="286207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500"/>
              <a:buFont typeface="Malgun Gothic"/>
              <a:buNone/>
            </a:pPr>
            <a:r>
              <a:rPr lang="en-US" sz="1500" b="1" i="0" u="none" strike="noStrike" cap="none">
                <a:solidFill>
                  <a:srgbClr val="0F766E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속도</a:t>
            </a:r>
            <a:endParaRPr sz="15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3546348" y="313639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상담 시간을 줄여준다</a:t>
            </a:r>
            <a:endParaRPr sz="11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691896" y="2697480"/>
            <a:ext cx="2514600" cy="7772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691896" y="2697480"/>
            <a:ext cx="2514600" cy="54864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 cap="flat" cmpd="sng">
            <a:solidFill>
              <a:schemeClr val="accent5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874776" y="2865120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500"/>
              <a:buFont typeface="Malgun Gothic"/>
              <a:buNone/>
            </a:pPr>
            <a:r>
              <a:rPr lang="en-US" sz="1500" b="1" i="0" u="none" strike="noStrike" cap="none" dirty="0" err="1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정확도</a:t>
            </a:r>
            <a:endParaRPr sz="15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874776" y="3139440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잘못된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정보를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전달하지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않는다</a:t>
            </a:r>
            <a:endParaRPr sz="11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6035040" y="2697480"/>
            <a:ext cx="2514600" cy="7772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6035040" y="2697480"/>
            <a:ext cx="2514600" cy="54864"/>
          </a:xfrm>
          <a:prstGeom prst="rect">
            <a:avLst/>
          </a:prstGeom>
          <a:solidFill>
            <a:srgbClr val="7C2D8F"/>
          </a:solidFill>
          <a:ln w="12700" cap="flat" cmpd="sng">
            <a:solidFill>
              <a:srgbClr val="7C2D8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6217920" y="2865120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500"/>
              <a:buFont typeface="Malgun Gothic"/>
              <a:buNone/>
            </a:pPr>
            <a:r>
              <a:rPr lang="en-US" sz="1500" b="1" i="0" u="none" strike="noStrike" cap="none">
                <a:solidFill>
                  <a:srgbClr val="7C2D8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일관성</a:t>
            </a:r>
            <a:endParaRPr sz="15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6217920" y="3139440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누가 사용해도 같은 답</a:t>
            </a:r>
            <a:endParaRPr sz="11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658368" y="4026408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lang="en-US" sz="13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13일</a:t>
            </a:r>
            <a:r>
              <a:rPr lang="en-US" sz="1300" b="0" i="0" u="none" strike="noStrike" cap="none" dirty="0">
                <a:solidFill>
                  <a:schemeClr val="lt1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· 10개 </a:t>
            </a:r>
            <a:r>
              <a:rPr lang="en-US" sz="1300" b="0" i="0" u="none" strike="noStrike" cap="none" dirty="0" err="1">
                <a:solidFill>
                  <a:schemeClr val="lt1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매장</a:t>
            </a:r>
            <a:r>
              <a:rPr lang="en-US" sz="1300" b="0" i="0" u="none" strike="noStrike" cap="none" dirty="0">
                <a:solidFill>
                  <a:schemeClr val="lt1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3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시범운영</a:t>
            </a:r>
            <a:r>
              <a:rPr lang="en-US" sz="13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3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결과</a:t>
            </a:r>
            <a:endParaRPr sz="13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658368" y="4346448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0F5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C7D0F5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경원영업팀 · 2026.08 | 외부 개발비 0원 · 운영비 0원 · 앱 설치 불필요</a:t>
            </a:r>
            <a:endParaRPr sz="115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기획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배경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및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타겟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(Why &amp; Who)</a:t>
            </a:r>
            <a:endParaRPr sz="2500" b="1" i="0" u="none" strike="noStrike" cap="none" dirty="0">
              <a:solidFill>
                <a:srgbClr val="0B102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45007" y="1330000"/>
            <a:ext cx="8448167" cy="1550000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445008" y="1330000"/>
            <a:ext cx="73152" cy="15500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701040" y="1510000"/>
            <a:ext cx="7865008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500"/>
              <a:buFont typeface="Malgun Gothic"/>
              <a:buNone/>
            </a:pPr>
            <a:r>
              <a:rPr lang="en-US" sz="1500" b="1" i="0" u="none" strike="noStrike" cap="none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왜 이 프로그램을 만들었는가?</a:t>
            </a:r>
            <a:endParaRPr sz="1500" b="1" i="0" u="none" strike="noStrike" cap="none">
              <a:solidFill>
                <a:srgbClr val="1428A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701040" y="1870000"/>
            <a:ext cx="7865008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삼성닷컴 · 카탈로그에 필요한 정보는 이미 있었지만, 상담 중에 꺼내 쓰기가 번거로웠습니다.</a:t>
            </a:r>
            <a:endParaRPr sz="1250" b="1" i="0" u="none" strike="noStrike" cap="none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701040" y="2310000"/>
            <a:ext cx="7865008" cy="4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그래서 외부 개발 없이, 팀 내부에서 만들었습니다 </a:t>
            </a: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lang="en-US" sz="110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-</a:t>
            </a:r>
            <a:r>
              <a:rPr lang="en-US" sz="11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개발비 0원 · 운영비 0원, 공식 자료를 그대로 가져와 화면 하나로 모았습니다.</a:t>
            </a:r>
            <a:endParaRPr sz="1100" b="0" i="0" u="none" strike="noStrike" cap="none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445007" y="3050000"/>
            <a:ext cx="8448167" cy="1550000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445008" y="3050000"/>
            <a:ext cx="73152" cy="1550000"/>
          </a:xfrm>
          <a:prstGeom prst="rect">
            <a:avLst/>
          </a:prstGeom>
          <a:solidFill>
            <a:srgbClr val="7C2D8F"/>
          </a:solidFill>
          <a:ln w="12700" cap="flat" cmpd="sng">
            <a:solidFill>
              <a:srgbClr val="7C2D8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701040" y="3230000"/>
            <a:ext cx="7865008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500"/>
              <a:buFont typeface="Malgun Gothic"/>
              <a:buNone/>
            </a:pPr>
            <a:r>
              <a:rPr lang="en-US" sz="1500" b="1" i="0" u="none" strike="noStrike" cap="none">
                <a:solidFill>
                  <a:srgbClr val="7C2D8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누가 사용하는가?</a:t>
            </a:r>
            <a:endParaRPr sz="1500" b="1" i="0" u="none" strike="noStrike" cap="none">
              <a:solidFill>
                <a:srgbClr val="7C2D8F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701040" y="3590000"/>
            <a:ext cx="7865008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매장에서 고객을 직접 응대하는 상담 매니저</a:t>
            </a:r>
            <a:endParaRPr sz="1250" b="1" i="0" u="none" strike="noStrike" cap="none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701040" y="4030000"/>
            <a:ext cx="7865008" cy="4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경원영업팀 65개 매장 </a:t>
            </a: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lang="en-US" sz="110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-</a:t>
            </a:r>
            <a:r>
              <a:rPr lang="en-US" sz="11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로그인, 설치, 계정 발급 없이 매장 모바일 · 태블릿 · PC에서 바로 사용 가능합니다.</a:t>
            </a:r>
            <a:endParaRPr sz="1100" b="0" i="0" u="none" strike="noStrike" cap="none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세일즈 코파일럿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2/10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200"/>
              <a:buFont typeface="Malgun Gothic"/>
              <a:buNone/>
            </a:pPr>
            <a:r>
              <a:rPr lang="en-US" sz="22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상담사의</a:t>
            </a:r>
            <a:r>
              <a:rPr lang="en-US" sz="22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2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행동이</a:t>
            </a:r>
            <a:r>
              <a:rPr lang="en-US" sz="22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2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바뀌면</a:t>
            </a:r>
            <a:r>
              <a:rPr lang="en-US" sz="22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2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지점</a:t>
            </a:r>
            <a:r>
              <a:rPr lang="en-US" sz="22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2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실적이</a:t>
            </a:r>
            <a:r>
              <a:rPr lang="en-US" sz="22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2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바뀝니다</a:t>
            </a:r>
            <a:endParaRPr sz="2200" b="1" i="0" u="none" strike="noStrike" cap="none" dirty="0">
              <a:solidFill>
                <a:srgbClr val="0B102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lang="en-US" sz="125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기존에는 이렇게 일했습니다 → 세일즈 코파일럿으로 이렇게 바뀝니다</a:t>
            </a:r>
            <a:endParaRPr sz="1250" b="0" i="0" u="none" strike="noStrike" cap="none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457200" y="1330000"/>
            <a:ext cx="3931921" cy="3249900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4754880" y="1330000"/>
            <a:ext cx="3931921" cy="3249900"/>
          </a:xfrm>
          <a:prstGeom prst="rect">
            <a:avLst/>
          </a:prstGeom>
          <a:solidFill>
            <a:srgbClr val="F2F5FF"/>
          </a:solidFill>
          <a:ln w="12700" cap="flat" cmpd="sng">
            <a:solidFill>
              <a:srgbClr val="C3CC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57200" y="1330000"/>
            <a:ext cx="73200" cy="3249900"/>
          </a:xfrm>
          <a:prstGeom prst="rect">
            <a:avLst/>
          </a:prstGeom>
          <a:solidFill>
            <a:srgbClr val="5B6478"/>
          </a:solidFill>
          <a:ln w="12700" cap="flat" cmpd="sng">
            <a:solidFill>
              <a:srgbClr val="5B647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754880" y="1330000"/>
            <a:ext cx="73200" cy="32499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713232" y="1450000"/>
            <a:ext cx="34000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500"/>
              <a:buFont typeface="Malgun Gothic"/>
              <a:buNone/>
            </a:pPr>
            <a:r>
              <a:rPr lang="en-US" sz="15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기존</a:t>
            </a:r>
            <a:r>
              <a:rPr lang="en-US" sz="15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방식</a:t>
            </a:r>
            <a:r>
              <a:rPr lang="en-US" sz="15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(As-Is)</a:t>
            </a:r>
            <a:endParaRPr sz="1500" b="1" i="0" u="none" strike="noStrike" cap="none" dirty="0">
              <a:solidFill>
                <a:srgbClr val="5B6478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5010912" y="1450000"/>
            <a:ext cx="34000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500"/>
              <a:buFont typeface="Malgun Gothic"/>
              <a:buNone/>
            </a:pPr>
            <a:r>
              <a:rPr lang="en-US" sz="1500" b="1" i="0" u="none" strike="noStrike" cap="none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AI 도입 후 (To-Be)</a:t>
            </a:r>
            <a:endParaRPr sz="1500" b="1" i="0" u="none" strike="noStrike" cap="none">
              <a:solidFill>
                <a:srgbClr val="1428A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685832" y="2759875"/>
            <a:ext cx="1200000" cy="2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000"/>
              <a:buFont typeface="Malgun Gothic"/>
              <a:buNone/>
            </a:pPr>
            <a:r>
              <a:rPr lang="en-US" sz="1200" b="1" i="0" u="none" strike="noStrike" cap="none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속도</a:t>
            </a:r>
            <a:endParaRPr sz="1200" b="1" i="0" u="none" strike="noStrike" cap="none">
              <a:solidFill>
                <a:srgbClr val="0F766E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685832" y="3091625"/>
            <a:ext cx="3399900" cy="51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카탈로그로는 고객이 원하는 조건의 모델을 찾기 어렵다</a:t>
            </a:r>
            <a:endParaRPr sz="1100" b="0" i="0" u="none" strike="noStrike" cap="none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5010912" y="2756670"/>
            <a:ext cx="1200000" cy="2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000"/>
              <a:buFont typeface="Malgun Gothic"/>
              <a:buNone/>
            </a:pPr>
            <a:r>
              <a:rPr lang="en-US" sz="1200" b="1" i="0" u="none" strike="noStrike" cap="none" dirty="0" err="1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속도</a:t>
            </a:r>
            <a:endParaRPr sz="1200" b="1" i="0" u="none" strike="noStrike" cap="none" dirty="0">
              <a:solidFill>
                <a:srgbClr val="0F766E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5010912" y="3091625"/>
            <a:ext cx="3399900" cy="51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검색창에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조건을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입력하면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바로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확인된다</a:t>
            </a:r>
            <a:endParaRPr sz="1100" b="0" i="0" u="none" strike="noStrike" cap="none" dirty="0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85832" y="2000625"/>
            <a:ext cx="1200000" cy="2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000"/>
              <a:buFont typeface="Malgun Gothic"/>
              <a:buNone/>
            </a:pPr>
            <a:r>
              <a:rPr lang="en-US" sz="1200" b="1" i="0" u="none" strike="noStrike" cap="none" dirty="0" err="1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정확도</a:t>
            </a:r>
            <a:endParaRPr sz="1200" b="1" i="0" u="none" strike="noStrike" cap="none" dirty="0">
              <a:solidFill>
                <a:srgbClr val="1428A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685832" y="2311800"/>
            <a:ext cx="3399900" cy="51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설치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제약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조건을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몰라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계약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후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설치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당일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취소된다</a:t>
            </a:r>
            <a:endParaRPr sz="1100" b="0" i="0" u="none" strike="noStrike" cap="none" dirty="0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5010912" y="1999905"/>
            <a:ext cx="1200000" cy="2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000"/>
              <a:buFont typeface="Malgun Gothic"/>
              <a:buNone/>
            </a:pPr>
            <a:r>
              <a:rPr lang="en-US" sz="1200" b="1" i="0" u="none" strike="noStrike" cap="none" dirty="0" err="1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정확도</a:t>
            </a:r>
            <a:endParaRPr sz="1200" b="1" i="0" u="none" strike="noStrike" cap="none" dirty="0">
              <a:solidFill>
                <a:srgbClr val="1428A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5020890" y="2314631"/>
            <a:ext cx="3399900" cy="51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판매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전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설치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가이드를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30초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만에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확인한다</a:t>
            </a:r>
            <a:endParaRPr sz="1100" b="0" i="0" u="none" strike="noStrike" cap="none" dirty="0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701852" y="35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000"/>
              <a:buFont typeface="Malgun Gothic"/>
              <a:buNone/>
            </a:pPr>
            <a:r>
              <a:rPr lang="en-US" sz="1200" b="1" i="0" u="none" strike="noStrike" cap="none" dirty="0" err="1">
                <a:solidFill>
                  <a:srgbClr val="7C2D8F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일관성</a:t>
            </a:r>
            <a:endParaRPr sz="1200" b="1" i="0" u="none" strike="noStrike" cap="none" dirty="0">
              <a:solidFill>
                <a:srgbClr val="7C2D8F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713232" y="3830000"/>
            <a:ext cx="3400000" cy="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사람마다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답이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달라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경력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편차가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그대로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응대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품질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편차가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된다</a:t>
            </a:r>
            <a:endParaRPr sz="1100" b="0" i="0" u="none" strike="noStrike" cap="none" dirty="0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5010912" y="35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000"/>
              <a:buFont typeface="Malgun Gothic"/>
              <a:buNone/>
            </a:pPr>
            <a:r>
              <a:rPr lang="en-US" sz="1200" b="1" i="0" u="none" strike="noStrike" cap="none" dirty="0" err="1">
                <a:solidFill>
                  <a:srgbClr val="7C2D8F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일관성</a:t>
            </a:r>
            <a:endParaRPr sz="1200" b="1" i="0" u="none" strike="noStrike" cap="none" dirty="0">
              <a:solidFill>
                <a:srgbClr val="7C2D8F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5010912" y="3830000"/>
            <a:ext cx="3675888" cy="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신입사원도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첫날부터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동일한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수준으로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응대한다</a:t>
            </a:r>
            <a:endParaRPr sz="1100" b="0" i="0" u="none" strike="noStrike" cap="none" dirty="0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세일즈 코파일럿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3/10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5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6c50b3b74_0_56"/>
          <p:cNvSpPr/>
          <p:nvPr/>
        </p:nvSpPr>
        <p:spPr>
          <a:xfrm>
            <a:off x="457200" y="274320"/>
            <a:ext cx="868800" cy="274200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85" name="Google Shape;85;g3f6c50b3b74_0_56"/>
          <p:cNvSpPr/>
          <p:nvPr/>
        </p:nvSpPr>
        <p:spPr>
          <a:xfrm>
            <a:off x="457200" y="274320"/>
            <a:ext cx="8688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정확도</a:t>
            </a:r>
            <a:endParaRPr sz="11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86" name="Google Shape;86;g3f6c50b3b74_0_56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설치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조건을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계약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전에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확인</a:t>
            </a:r>
            <a:endParaRPr sz="2500" b="1" i="0" u="none" strike="noStrike" cap="none" dirty="0">
              <a:solidFill>
                <a:srgbClr val="0B102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87" name="Google Shape;87;g3f6c50b3b74_0_56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lang="en-US" sz="125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시범 기간 가장 많이 열린 화면 </a:t>
            </a:r>
            <a:r>
              <a:rPr lang="en-US" sz="125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:</a:t>
            </a:r>
            <a:r>
              <a:rPr lang="en-US" sz="125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128건 · 1위</a:t>
            </a:r>
            <a:endParaRPr sz="1250" b="0" i="0" u="none" strike="noStrike" cap="none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88" name="Google Shape;88;g3f6c50b3b74_0_56"/>
          <p:cNvSpPr/>
          <p:nvPr/>
        </p:nvSpPr>
        <p:spPr>
          <a:xfrm>
            <a:off x="4530475" y="1588540"/>
            <a:ext cx="436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한눈에</a:t>
            </a: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확인하는</a:t>
            </a: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제품별</a:t>
            </a: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설치</a:t>
            </a: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가이드</a:t>
            </a:r>
            <a:endParaRPr sz="1500" b="1" i="0" u="none" strike="noStrike" cap="none" dirty="0">
              <a:solidFill>
                <a:srgbClr val="0B102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(21개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카테고리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: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전기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·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배수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·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이격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· 문 폭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사이즈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외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)</a:t>
            </a:r>
            <a:endParaRPr sz="1200" b="0" i="0" u="none" strike="noStrike" cap="none" dirty="0">
              <a:solidFill>
                <a:schemeClr val="bg1">
                  <a:lumMod val="50000"/>
                </a:schemeClr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89" name="Google Shape;89;g3f6c50b3b74_0_56"/>
          <p:cNvSpPr/>
          <p:nvPr/>
        </p:nvSpPr>
        <p:spPr>
          <a:xfrm>
            <a:off x="4530475" y="2164615"/>
            <a:ext cx="4365000" cy="1051500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90" name="Google Shape;90;g3f6c50b3b74_0_56"/>
          <p:cNvSpPr/>
          <p:nvPr/>
        </p:nvSpPr>
        <p:spPr>
          <a:xfrm>
            <a:off x="4673328" y="2164615"/>
            <a:ext cx="4127100" cy="10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설치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불가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시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손실</a:t>
            </a:r>
            <a:endParaRPr sz="1200" b="1" i="0" u="none" strike="noStrike" cap="none" dirty="0">
              <a:solidFill>
                <a:srgbClr val="5B6478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lang="en-US" sz="1100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 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: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기사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재방문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비용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,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일정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재조정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시간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,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반품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손해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비용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등</a:t>
            </a:r>
            <a:endParaRPr sz="1100" b="0" i="0" u="none" strike="noStrike" cap="none" dirty="0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endParaRPr sz="550" dirty="0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판매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전 30초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확인이면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그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비용을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만회합니다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.</a:t>
            </a:r>
            <a:endParaRPr sz="1200" b="1" i="0" u="none" strike="noStrike" cap="none" dirty="0">
              <a:solidFill>
                <a:srgbClr val="5B6478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91" name="Google Shape;91;g3f6c50b3b74_0_56"/>
          <p:cNvSpPr/>
          <p:nvPr/>
        </p:nvSpPr>
        <p:spPr>
          <a:xfrm>
            <a:off x="4530475" y="3376697"/>
            <a:ext cx="4365000" cy="4023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92" name="Google Shape;92;g3f6c50b3b74_0_56"/>
          <p:cNvSpPr/>
          <p:nvPr/>
        </p:nvSpPr>
        <p:spPr>
          <a:xfrm>
            <a:off x="4530475" y="3376702"/>
            <a:ext cx="6744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매니저</a:t>
            </a:r>
            <a:endParaRPr sz="1150" b="1" i="0" u="none" strike="noStrike" cap="none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93" name="Google Shape;93;g3f6c50b3b74_0_56"/>
          <p:cNvSpPr/>
          <p:nvPr/>
        </p:nvSpPr>
        <p:spPr>
          <a:xfrm>
            <a:off x="5205050" y="3376702"/>
            <a:ext cx="36903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900"/>
              <a:buFont typeface="Malgun Gothic"/>
              <a:buNone/>
            </a:pPr>
            <a:r>
              <a:rPr lang="en-US" sz="115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설치</a:t>
            </a:r>
            <a:r>
              <a:rPr lang="en-US" sz="115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</a:t>
            </a:r>
            <a:r>
              <a:rPr lang="en-US" sz="115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조건</a:t>
            </a:r>
            <a:r>
              <a:rPr lang="en-US" sz="115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</a:t>
            </a:r>
            <a:r>
              <a:rPr lang="en-US" sz="115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확인</a:t>
            </a:r>
            <a:r>
              <a:rPr lang="en-US" sz="1150" b="1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으로</a:t>
            </a:r>
            <a:r>
              <a:rPr lang="en-US" sz="115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</a:t>
            </a:r>
            <a:r>
              <a:rPr lang="en-US" sz="115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설치</a:t>
            </a:r>
            <a:r>
              <a:rPr lang="en-US" sz="115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</a:t>
            </a:r>
            <a:r>
              <a:rPr lang="en-US" sz="115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불가로</a:t>
            </a:r>
            <a:r>
              <a:rPr lang="en-US" sz="115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</a:t>
            </a:r>
            <a:r>
              <a:rPr lang="en-US" sz="115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인한</a:t>
            </a:r>
            <a:r>
              <a:rPr lang="en-US" sz="1150" b="1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</a:t>
            </a:r>
            <a:r>
              <a:rPr lang="en-US" sz="115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취소</a:t>
            </a:r>
            <a:r>
              <a:rPr lang="en-US" sz="115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</a:t>
            </a:r>
            <a:r>
              <a:rPr lang="en-US" sz="115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확률을</a:t>
            </a:r>
            <a:r>
              <a:rPr lang="en-US" sz="115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</a:t>
            </a:r>
            <a:r>
              <a:rPr lang="en-US" sz="115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낮춤</a:t>
            </a:r>
            <a:endParaRPr sz="1150" b="1" i="0" u="none" strike="noStrike" cap="none" dirty="0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</a:endParaRPr>
          </a:p>
        </p:txBody>
      </p:sp>
      <p:sp>
        <p:nvSpPr>
          <p:cNvPr id="94" name="Google Shape;94;g3f6c50b3b74_0_56"/>
          <p:cNvSpPr/>
          <p:nvPr/>
        </p:nvSpPr>
        <p:spPr>
          <a:xfrm>
            <a:off x="4530475" y="3856263"/>
            <a:ext cx="4365000" cy="5121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95" name="Google Shape;95;g3f6c50b3b74_0_56"/>
          <p:cNvSpPr/>
          <p:nvPr/>
        </p:nvSpPr>
        <p:spPr>
          <a:xfrm>
            <a:off x="4530475" y="3856265"/>
            <a:ext cx="6744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지점</a:t>
            </a:r>
            <a:endParaRPr sz="1150" b="1" i="0" u="none" strike="noStrike" cap="none">
              <a:solidFill>
                <a:srgbClr val="FFFFFF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96" name="Google Shape;96;g3f6c50b3b74_0_56"/>
          <p:cNvSpPr/>
          <p:nvPr/>
        </p:nvSpPr>
        <p:spPr>
          <a:xfrm>
            <a:off x="5205058" y="3856263"/>
            <a:ext cx="35712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설치 재방문 · 일정 재조정 · 설치 불가 취소 감소</a:t>
            </a:r>
            <a:endParaRPr sz="1150" b="1" i="0" u="none" strike="noStrike" cap="none">
              <a:solidFill>
                <a:srgbClr val="FFFFFF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pic>
        <p:nvPicPr>
          <p:cNvPr id="97" name="Google Shape;97;g3f6c50b3b74_0_5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" y="1614675"/>
            <a:ext cx="1899862" cy="2753700"/>
          </a:xfrm>
          <a:prstGeom prst="rect">
            <a:avLst/>
          </a:prstGeom>
          <a:noFill/>
          <a:ln w="3175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8" name="Google Shape;98;g3f6c50b3b74_0_5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62538" y="1614675"/>
            <a:ext cx="1899862" cy="2753700"/>
          </a:xfrm>
          <a:prstGeom prst="rect">
            <a:avLst/>
          </a:prstGeom>
          <a:noFill/>
          <a:ln w="3175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9" name="Google Shape;99;g3f6c50b3b74_0_56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00" name="Google Shape;100;g3f6c50b3b74_0_56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세일즈 코파일럿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01" name="Google Shape;101;g3f6c50b3b74_0_56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02" name="Google Shape;102;g3f6c50b3b74_0_56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lang="en-US" sz="90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4</a:t>
            </a:r>
            <a:r>
              <a:rPr lang="en-US" sz="9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/10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5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6c50b3b74_0_0"/>
          <p:cNvSpPr/>
          <p:nvPr/>
        </p:nvSpPr>
        <p:spPr>
          <a:xfrm>
            <a:off x="457200" y="274320"/>
            <a:ext cx="868800" cy="274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12700" cap="flat" cmpd="sng">
            <a:solidFill>
              <a:srgbClr val="0F766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09" name="Google Shape;109;g3f6c50b3b74_0_0"/>
          <p:cNvSpPr/>
          <p:nvPr/>
        </p:nvSpPr>
        <p:spPr>
          <a:xfrm>
            <a:off x="457200" y="274320"/>
            <a:ext cx="8688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속도</a:t>
            </a:r>
            <a:endParaRPr sz="11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10" name="Google Shape;110;g3f6c50b3b74_0_0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상담의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질을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높이고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시간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낭비를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막아주는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모델파인더</a:t>
            </a:r>
            <a:endParaRPr sz="2500" b="1" i="0" u="none" strike="noStrike" cap="none" dirty="0">
              <a:solidFill>
                <a:srgbClr val="0B102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111" name="Google Shape;111;g3f6c50b3b74_0_0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lang="en-US" sz="125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시범 기간 두 번째로 많이 열린 화면 </a:t>
            </a:r>
            <a:r>
              <a:rPr lang="en-US" sz="125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:</a:t>
            </a:r>
            <a:r>
              <a:rPr lang="en-US" sz="125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120건 · 2위</a:t>
            </a:r>
            <a:endParaRPr sz="1250" b="0" i="0" u="none" strike="noStrike" cap="none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12" name="Google Shape;112;g3f6c50b3b74_0_0"/>
          <p:cNvSpPr/>
          <p:nvPr/>
        </p:nvSpPr>
        <p:spPr>
          <a:xfrm>
            <a:off x="4530475" y="1588540"/>
            <a:ext cx="436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키워드</a:t>
            </a: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한 </a:t>
            </a: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줄이면</a:t>
            </a: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조건이</a:t>
            </a: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겹쳐</a:t>
            </a: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좁혀집니다</a:t>
            </a:r>
            <a:endParaRPr sz="1500" b="1" i="0" u="none" strike="noStrike" cap="none" dirty="0">
              <a:solidFill>
                <a:srgbClr val="0B102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(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무풍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·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공기청정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등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여러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가지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키워드로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한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번에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검색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)</a:t>
            </a:r>
            <a:endParaRPr sz="1200" b="0" i="0" u="none" strike="noStrike" cap="none" dirty="0">
              <a:solidFill>
                <a:schemeClr val="bg1">
                  <a:lumMod val="50000"/>
                </a:schemeClr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13" name="Google Shape;113;g3f6c50b3b74_0_0"/>
          <p:cNvSpPr/>
          <p:nvPr/>
        </p:nvSpPr>
        <p:spPr>
          <a:xfrm>
            <a:off x="4530475" y="2164615"/>
            <a:ext cx="4365000" cy="1051500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14" name="Google Shape;114;g3f6c50b3b74_0_0"/>
          <p:cNvSpPr/>
          <p:nvPr/>
        </p:nvSpPr>
        <p:spPr>
          <a:xfrm>
            <a:off x="4673328" y="2164615"/>
            <a:ext cx="4127100" cy="10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카탈로그를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찾는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시간</a:t>
            </a:r>
            <a:endParaRPr sz="1200" b="1" i="0" u="none" strike="noStrike" cap="none" dirty="0">
              <a:solidFill>
                <a:srgbClr val="5B6478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lang="en-US" sz="1100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 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: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모델명·치수·기능을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기억에서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꺼내야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합니다</a:t>
            </a:r>
            <a:endParaRPr sz="1100" b="0" i="0" u="none" strike="noStrike" cap="none" dirty="0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endParaRPr sz="550" dirty="0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한 줄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조건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검색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시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모델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리스트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즉시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확인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가능</a:t>
            </a:r>
            <a:endParaRPr sz="1200" b="1" i="0" u="none" strike="noStrike" cap="none" dirty="0">
              <a:solidFill>
                <a:srgbClr val="5B6478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115" name="Google Shape;115;g3f6c50b3b74_0_0"/>
          <p:cNvSpPr/>
          <p:nvPr/>
        </p:nvSpPr>
        <p:spPr>
          <a:xfrm>
            <a:off x="4530475" y="3382288"/>
            <a:ext cx="4365000" cy="4023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16" name="Google Shape;116;g3f6c50b3b74_0_0"/>
          <p:cNvSpPr/>
          <p:nvPr/>
        </p:nvSpPr>
        <p:spPr>
          <a:xfrm>
            <a:off x="4530475" y="3382293"/>
            <a:ext cx="6747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매니저</a:t>
            </a:r>
            <a:endParaRPr sz="1150" b="1" i="0" u="none" strike="noStrike" cap="none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</a:endParaRPr>
          </a:p>
        </p:txBody>
      </p:sp>
      <p:sp>
        <p:nvSpPr>
          <p:cNvPr id="117" name="Google Shape;117;g3f6c50b3b74_0_0"/>
          <p:cNvSpPr/>
          <p:nvPr/>
        </p:nvSpPr>
        <p:spPr>
          <a:xfrm>
            <a:off x="5205058" y="3382288"/>
            <a:ext cx="35712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90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고민하며 낭비하던 시간이 줄어 매끄러운 상담 가능</a:t>
            </a:r>
            <a:endParaRPr sz="1150" b="1" i="0" u="none" strike="noStrike" cap="none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</a:endParaRPr>
          </a:p>
        </p:txBody>
      </p:sp>
      <p:sp>
        <p:nvSpPr>
          <p:cNvPr id="118" name="Google Shape;118;g3f6c50b3b74_0_0"/>
          <p:cNvSpPr/>
          <p:nvPr/>
        </p:nvSpPr>
        <p:spPr>
          <a:xfrm>
            <a:off x="4530475" y="3856263"/>
            <a:ext cx="4365000" cy="512100"/>
          </a:xfrm>
          <a:prstGeom prst="rect">
            <a:avLst/>
          </a:prstGeom>
          <a:solidFill>
            <a:srgbClr val="0F766E"/>
          </a:solidFill>
          <a:ln w="12700" cap="flat" cmpd="sng">
            <a:solidFill>
              <a:srgbClr val="0F766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19" name="Google Shape;119;g3f6c50b3b74_0_0"/>
          <p:cNvSpPr/>
          <p:nvPr/>
        </p:nvSpPr>
        <p:spPr>
          <a:xfrm>
            <a:off x="4536400" y="3856265"/>
            <a:ext cx="6747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지점</a:t>
            </a:r>
            <a:endParaRPr sz="1150" b="1" i="0" u="none" strike="noStrike" cap="none">
              <a:solidFill>
                <a:srgbClr val="FFFFFF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</a:endParaRPr>
          </a:p>
        </p:txBody>
      </p:sp>
      <p:sp>
        <p:nvSpPr>
          <p:cNvPr id="120" name="Google Shape;120;g3f6c50b3b74_0_0"/>
          <p:cNvSpPr/>
          <p:nvPr/>
        </p:nvSpPr>
        <p:spPr>
          <a:xfrm>
            <a:off x="5205058" y="3856263"/>
            <a:ext cx="35712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응대 회전율 </a:t>
            </a:r>
            <a:r>
              <a:rPr lang="en-US" sz="1150" b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:</a:t>
            </a:r>
            <a:r>
              <a:rPr lang="en-US" sz="115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응대 가능 고객 수 증가</a:t>
            </a:r>
            <a:endParaRPr sz="1150" b="1" i="0" u="none" strike="noStrike" cap="none">
              <a:solidFill>
                <a:srgbClr val="FFFFFF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pic>
        <p:nvPicPr>
          <p:cNvPr id="121" name="Google Shape;121;g3f6c50b3b74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3750" y="1617265"/>
            <a:ext cx="3876000" cy="2751100"/>
          </a:xfrm>
          <a:prstGeom prst="rect">
            <a:avLst/>
          </a:prstGeom>
          <a:noFill/>
          <a:ln w="3175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2" name="Google Shape;122;g3f6c50b3b74_0_0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23" name="Google Shape;123;g3f6c50b3b74_0_0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세일즈 코파일럿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24" name="Google Shape;124;g3f6c50b3b74_0_0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25" name="Google Shape;125;g3f6c50b3b74_0_0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lang="en-US" sz="90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5</a:t>
            </a:r>
            <a:r>
              <a:rPr lang="en-US" sz="9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/10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5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/>
          <p:nvPr/>
        </p:nvSpPr>
        <p:spPr>
          <a:xfrm>
            <a:off x="457200" y="274320"/>
            <a:ext cx="868800" cy="274200"/>
          </a:xfrm>
          <a:prstGeom prst="roundRect">
            <a:avLst>
              <a:gd name="adj" fmla="val 50000"/>
            </a:avLst>
          </a:prstGeom>
          <a:solidFill>
            <a:srgbClr val="7C2D8F"/>
          </a:solidFill>
          <a:ln w="12700" cap="flat" cmpd="sng">
            <a:solidFill>
              <a:srgbClr val="7C2D8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457200" y="274320"/>
            <a:ext cx="8688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일관성</a:t>
            </a:r>
            <a:endParaRPr sz="11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누가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응대해도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같은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답이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나온다</a:t>
            </a:r>
            <a:endParaRPr sz="2500" b="1" i="0" u="none" strike="noStrike" cap="none" dirty="0">
              <a:solidFill>
                <a:srgbClr val="0B102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lang="en-US" sz="125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지점장이 일일이 확인할 수 없던 정보 편차가 사라집니다</a:t>
            </a:r>
            <a:endParaRPr sz="1250" b="0" i="0" u="none" strike="noStrike" cap="none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4530475" y="1588540"/>
            <a:ext cx="4365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어느</a:t>
            </a: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매장에서</a:t>
            </a: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사용하더라도</a:t>
            </a: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동일한</a:t>
            </a: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화면</a:t>
            </a:r>
            <a:endParaRPr sz="1500" b="1" i="0" u="none" strike="noStrike" cap="none" dirty="0">
              <a:solidFill>
                <a:srgbClr val="0B102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(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제품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상세검색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·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설치환경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·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타사비교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· AS ·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AI구독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케어</a:t>
            </a:r>
            <a:r>
              <a:rPr lang="en-US" sz="12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)</a:t>
            </a:r>
            <a:endParaRPr sz="1200" b="0" i="0" u="none" strike="noStrike" cap="none" dirty="0">
              <a:solidFill>
                <a:schemeClr val="bg1">
                  <a:lumMod val="50000"/>
                </a:schemeClr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4530475" y="2164615"/>
            <a:ext cx="4365000" cy="1051500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4673328" y="2164615"/>
            <a:ext cx="4127100" cy="10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사람마다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답이</a:t>
            </a:r>
            <a:r>
              <a:rPr lang="en-US" sz="1200" b="1" i="0" u="none" strike="noStrike" cap="none" dirty="0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200" b="1" i="0" u="none" strike="noStrike" cap="none" dirty="0" err="1">
                <a:solidFill>
                  <a:srgbClr val="5B6478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다르면</a:t>
            </a:r>
            <a:endParaRPr sz="1200" b="1" i="0" u="none" strike="noStrike" cap="none" dirty="0">
              <a:solidFill>
                <a:srgbClr val="5B6478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lang="en-US" sz="1100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 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: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경력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편차가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곧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응대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품질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편차가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됩니다</a:t>
            </a:r>
            <a:endParaRPr sz="1100" b="1" i="0" u="none" strike="noStrike" cap="none" dirty="0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4530475" y="3382288"/>
            <a:ext cx="4365000" cy="402300"/>
          </a:xfrm>
          <a:prstGeom prst="rect">
            <a:avLst/>
          </a:prstGeom>
          <a:solidFill>
            <a:srgbClr val="EEDFF1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4530475" y="3382293"/>
            <a:ext cx="6744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매니저</a:t>
            </a:r>
            <a:endParaRPr sz="1150" b="1" i="0" u="none" strike="noStrike" cap="none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5205058" y="3382288"/>
            <a:ext cx="35712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90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외워서 답하지 않고, 같은 화면을 보고 응대합니다</a:t>
            </a:r>
            <a:endParaRPr sz="1150" b="1" i="0" u="none" strike="noStrike" cap="none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4530475" y="3856263"/>
            <a:ext cx="4365000" cy="512100"/>
          </a:xfrm>
          <a:prstGeom prst="rect">
            <a:avLst/>
          </a:prstGeom>
          <a:solidFill>
            <a:srgbClr val="7C2D8F"/>
          </a:solidFill>
          <a:ln w="12700" cap="flat" cmpd="sng">
            <a:solidFill>
              <a:srgbClr val="7C2D8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4530475" y="3856265"/>
            <a:ext cx="6744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지점</a:t>
            </a:r>
            <a:endParaRPr sz="1150" b="1" i="0" u="none" strike="noStrike" cap="none">
              <a:solidFill>
                <a:srgbClr val="FFFFFF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5205058" y="3856263"/>
            <a:ext cx="35712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신입 사원도 첫날부터 동일한 수준으로 응대</a:t>
            </a:r>
            <a:endParaRPr sz="1150" b="1" i="0" u="none" strike="noStrike" cap="none">
              <a:solidFill>
                <a:srgbClr val="FFFFFF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pic>
        <p:nvPicPr>
          <p:cNvPr id="143" name="Google Shape;143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3750" y="1640640"/>
            <a:ext cx="3876000" cy="2727725"/>
          </a:xfrm>
          <a:prstGeom prst="rect">
            <a:avLst/>
          </a:prstGeom>
          <a:noFill/>
          <a:ln w="3175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4" name="Google Shape;144;p5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세일즈 코파일럿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6/10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lang="en-US" sz="2500" b="1" i="0" u="none" strike="noStrike" cap="none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개발 중인 프로그램</a:t>
            </a:r>
            <a:endParaRPr sz="2500" b="1" i="0" u="none" strike="noStrike" cap="none">
              <a:solidFill>
                <a:srgbClr val="0B102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153" name="Google Shape;153;p2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lang="en-US" sz="125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「개발 중인 서비스」에서 지금 확인 가능합니다</a:t>
            </a:r>
            <a:endParaRPr sz="1250" b="0" i="0" u="none" strike="noStrike" cap="none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54" name="Google Shape;154;p2"/>
          <p:cNvSpPr/>
          <p:nvPr/>
        </p:nvSpPr>
        <p:spPr>
          <a:xfrm>
            <a:off x="457200" y="1330000"/>
            <a:ext cx="4114800" cy="1900000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55" name="Google Shape;155;p2"/>
          <p:cNvSpPr/>
          <p:nvPr/>
        </p:nvSpPr>
        <p:spPr>
          <a:xfrm>
            <a:off x="457200" y="1330000"/>
            <a:ext cx="73152" cy="19000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56" name="Google Shape;156;p2"/>
          <p:cNvSpPr/>
          <p:nvPr/>
        </p:nvSpPr>
        <p:spPr>
          <a:xfrm>
            <a:off x="713232" y="1500000"/>
            <a:ext cx="2655888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500"/>
              <a:buFont typeface="Malgun Gothic"/>
              <a:buNone/>
            </a:pPr>
            <a:r>
              <a:rPr lang="en-US" sz="1500" b="1" i="0" u="none" strike="noStrike" cap="none" dirty="0" err="1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가전</a:t>
            </a:r>
            <a:r>
              <a:rPr lang="en-US" sz="1500" b="1" i="0" u="none" strike="noStrike" cap="none" dirty="0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배치</a:t>
            </a:r>
            <a:r>
              <a:rPr lang="en-US" sz="1500" b="1" i="0" u="none" strike="noStrike" cap="none" dirty="0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시뮬레이터</a:t>
            </a:r>
            <a:endParaRPr sz="1500" b="1" i="0" u="none" strike="noStrike" cap="none" dirty="0">
              <a:solidFill>
                <a:srgbClr val="1428A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157" name="Google Shape;157;p2"/>
          <p:cNvSpPr/>
          <p:nvPr/>
        </p:nvSpPr>
        <p:spPr>
          <a:xfrm>
            <a:off x="3489120" y="1520000"/>
            <a:ext cx="700000" cy="290000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12700" cap="flat" cmpd="sng">
            <a:solidFill>
              <a:srgbClr val="FEF3C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58" name="Google Shape;158;p2"/>
          <p:cNvSpPr/>
          <p:nvPr/>
        </p:nvSpPr>
        <p:spPr>
          <a:xfrm>
            <a:off x="3489120" y="1520000"/>
            <a:ext cx="700000" cy="29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92400E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개발중</a:t>
            </a:r>
            <a:endParaRPr sz="900" b="1" i="0" u="none" strike="noStrike" cap="none">
              <a:solidFill>
                <a:srgbClr val="92400E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59" name="Google Shape;159;p2"/>
          <p:cNvSpPr/>
          <p:nvPr/>
        </p:nvSpPr>
        <p:spPr>
          <a:xfrm>
            <a:off x="713094" y="2098256"/>
            <a:ext cx="3475888" cy="6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구매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할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가전을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고르면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도면에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맞춰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배치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추천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endParaRPr sz="1200" b="0" i="0" u="none" strike="noStrike" cap="none" dirty="0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9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(</a:t>
            </a:r>
            <a:r>
              <a:rPr lang="en-US" sz="9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이격</a:t>
            </a:r>
            <a:r>
              <a:rPr lang="en-US" sz="9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9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거리</a:t>
            </a:r>
            <a:r>
              <a:rPr lang="en-US" sz="9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, </a:t>
            </a:r>
            <a:r>
              <a:rPr lang="en-US" sz="9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간섭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, </a:t>
            </a:r>
            <a:r>
              <a:rPr lang="en-US" sz="9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방 </a:t>
            </a:r>
            <a:r>
              <a:rPr lang="en-US" sz="9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이탈까지</a:t>
            </a:r>
            <a:r>
              <a:rPr lang="en-US" sz="9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900" b="0" i="0" u="none" strike="noStrike" cap="none" dirty="0" err="1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판정</a:t>
            </a:r>
            <a:r>
              <a:rPr lang="en-US" sz="9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)</a:t>
            </a:r>
            <a:endParaRPr sz="900" b="0" i="0" u="none" strike="noStrike" cap="none" dirty="0">
              <a:solidFill>
                <a:schemeClr val="bg1">
                  <a:lumMod val="50000"/>
                </a:schemeClr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60" name="Google Shape;160;p2"/>
          <p:cNvSpPr/>
          <p:nvPr/>
        </p:nvSpPr>
        <p:spPr>
          <a:xfrm>
            <a:off x="713182" y="2724112"/>
            <a:ext cx="34758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lang="en-US" altLang="ko-KR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※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카탈로그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실측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71개,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아파트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158개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단지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ko-KR" alt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도면 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855장 (3D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보기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)</a:t>
            </a:r>
            <a:endParaRPr sz="1100" b="0" i="0" u="none" strike="noStrike" cap="none" dirty="0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61" name="Google Shape;161;p2"/>
          <p:cNvSpPr/>
          <p:nvPr/>
        </p:nvSpPr>
        <p:spPr>
          <a:xfrm>
            <a:off x="4754880" y="1330000"/>
            <a:ext cx="4114800" cy="1900000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62" name="Google Shape;162;p2"/>
          <p:cNvSpPr/>
          <p:nvPr/>
        </p:nvSpPr>
        <p:spPr>
          <a:xfrm>
            <a:off x="4754880" y="1330000"/>
            <a:ext cx="73152" cy="1900000"/>
          </a:xfrm>
          <a:prstGeom prst="rect">
            <a:avLst/>
          </a:prstGeom>
          <a:solidFill>
            <a:srgbClr val="0F766E"/>
          </a:solidFill>
          <a:ln w="12700" cap="flat" cmpd="sng">
            <a:solidFill>
              <a:srgbClr val="0F766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63" name="Google Shape;163;p2"/>
          <p:cNvSpPr/>
          <p:nvPr/>
        </p:nvSpPr>
        <p:spPr>
          <a:xfrm>
            <a:off x="5010912" y="1500000"/>
            <a:ext cx="2655888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500"/>
              <a:buFont typeface="Malgun Gothic"/>
              <a:buNone/>
            </a:pPr>
            <a:r>
              <a:rPr lang="en-US" sz="1500" b="1" i="0" u="none" strike="noStrike" cap="none" dirty="0" err="1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통신</a:t>
            </a:r>
            <a:r>
              <a:rPr lang="en-US" sz="1500" b="1" i="0" u="none" strike="noStrike" cap="none" dirty="0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요금제</a:t>
            </a:r>
            <a:r>
              <a:rPr lang="en-US" sz="1500" b="1" i="0" u="none" strike="noStrike" cap="none" dirty="0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상담</a:t>
            </a:r>
            <a:r>
              <a:rPr lang="en-US" sz="1500" b="1" i="0" u="none" strike="noStrike" cap="none" dirty="0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도구</a:t>
            </a:r>
            <a:endParaRPr sz="1500" b="1" i="0" u="none" strike="noStrike" cap="none" dirty="0">
              <a:solidFill>
                <a:srgbClr val="0F766E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164" name="Google Shape;164;p2"/>
          <p:cNvSpPr/>
          <p:nvPr/>
        </p:nvSpPr>
        <p:spPr>
          <a:xfrm>
            <a:off x="7786800" y="1520000"/>
            <a:ext cx="700000" cy="290000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12700" cap="flat" cmpd="sng">
            <a:solidFill>
              <a:srgbClr val="FEF3C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65" name="Google Shape;165;p2"/>
          <p:cNvSpPr/>
          <p:nvPr/>
        </p:nvSpPr>
        <p:spPr>
          <a:xfrm>
            <a:off x="7786800" y="1520000"/>
            <a:ext cx="700000" cy="29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92400E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개발중</a:t>
            </a:r>
            <a:endParaRPr sz="900" b="1" i="0" u="none" strike="noStrike" cap="none">
              <a:solidFill>
                <a:srgbClr val="92400E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66" name="Google Shape;166;p2"/>
          <p:cNvSpPr/>
          <p:nvPr/>
        </p:nvSpPr>
        <p:spPr>
          <a:xfrm>
            <a:off x="5010912" y="2094112"/>
            <a:ext cx="3475800" cy="6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3사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요금제</a:t>
            </a:r>
            <a:r>
              <a:rPr lang="en-US" sz="1200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,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부가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서비스</a:t>
            </a:r>
            <a:r>
              <a:rPr lang="en-US" sz="1200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,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결합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,</a:t>
            </a:r>
            <a:r>
              <a:rPr lang="en-US" sz="1200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단말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출고가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,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제휴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카드</a:t>
            </a:r>
            <a:r>
              <a:rPr 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ko-KR" altLang="en-US" sz="12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등</a:t>
            </a:r>
            <a:endParaRPr lang="en-US" altLang="ko-KR" sz="1200" b="0" i="0" u="none" strike="noStrike" cap="none" dirty="0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altLang="ko-KR" sz="9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(349</a:t>
            </a:r>
            <a:r>
              <a:rPr lang="ko-KR" altLang="en-US" sz="90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건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)               (542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건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)                 (27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건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)                                (40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장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)</a:t>
            </a:r>
            <a:endParaRPr sz="900" b="0" i="0" u="none" strike="noStrike" cap="none" dirty="0">
              <a:solidFill>
                <a:schemeClr val="bg1">
                  <a:lumMod val="50000"/>
                </a:schemeClr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67" name="Google Shape;167;p2"/>
          <p:cNvSpPr/>
          <p:nvPr/>
        </p:nvSpPr>
        <p:spPr>
          <a:xfrm>
            <a:off x="5010912" y="2727482"/>
            <a:ext cx="34758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lang="en-US" altLang="ko-KR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※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휴대폰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월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납부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금액과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할부기간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총액까지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계산</a:t>
            </a:r>
            <a:endParaRPr sz="1100" b="0" i="0" u="none" strike="noStrike" cap="none" dirty="0">
              <a:solidFill>
                <a:srgbClr val="5B6478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68" name="Google Shape;168;p2"/>
          <p:cNvSpPr/>
          <p:nvPr/>
        </p:nvSpPr>
        <p:spPr>
          <a:xfrm>
            <a:off x="457200" y="3420000"/>
            <a:ext cx="8412480" cy="1150000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69" name="Google Shape;169;p2"/>
          <p:cNvSpPr/>
          <p:nvPr/>
        </p:nvSpPr>
        <p:spPr>
          <a:xfrm>
            <a:off x="457200" y="3420000"/>
            <a:ext cx="73152" cy="1150000"/>
          </a:xfrm>
          <a:prstGeom prst="rect">
            <a:avLst/>
          </a:prstGeom>
          <a:solidFill>
            <a:srgbClr val="7C2D8F"/>
          </a:solidFill>
          <a:ln w="12700" cap="flat" cmpd="sng">
            <a:solidFill>
              <a:srgbClr val="7C2D8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70" name="Google Shape;170;p2"/>
          <p:cNvSpPr/>
          <p:nvPr/>
        </p:nvSpPr>
        <p:spPr>
          <a:xfrm>
            <a:off x="713232" y="3570000"/>
            <a:ext cx="7865008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300"/>
              <a:buFont typeface="Malgun Gothic"/>
              <a:buNone/>
            </a:pPr>
            <a:r>
              <a:rPr lang="en-US" sz="1500" b="1" i="0" u="none" strike="noStrike" cap="none" dirty="0" err="1">
                <a:solidFill>
                  <a:srgbClr val="7C2D8F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다음</a:t>
            </a:r>
            <a:r>
              <a:rPr lang="en-US" sz="1500" b="1" i="0" u="none" strike="noStrike" cap="none" dirty="0">
                <a:solidFill>
                  <a:srgbClr val="7C2D8F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7C2D8F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단계</a:t>
            </a:r>
            <a:r>
              <a:rPr lang="en-US" sz="1100" b="1" i="0" u="none" strike="noStrike" cap="none" dirty="0">
                <a:solidFill>
                  <a:srgbClr val="7C2D8F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(</a:t>
            </a:r>
            <a:r>
              <a:rPr lang="ko-KR" altLang="en-US" sz="1100" b="1" i="0" u="none" strike="noStrike" cap="none" dirty="0">
                <a:solidFill>
                  <a:srgbClr val="7C2D8F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추후 개선</a:t>
            </a:r>
            <a:r>
              <a:rPr lang="en-US" altLang="ko-KR" sz="1100" b="1" i="0" u="none" strike="noStrike" cap="none" dirty="0">
                <a:solidFill>
                  <a:srgbClr val="7C2D8F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)</a:t>
            </a:r>
            <a:endParaRPr sz="1100" b="1" i="0" u="none" strike="noStrike" cap="none" dirty="0">
              <a:solidFill>
                <a:srgbClr val="7C2D8F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171" name="Google Shape;171;p2"/>
          <p:cNvSpPr/>
          <p:nvPr/>
        </p:nvSpPr>
        <p:spPr>
          <a:xfrm>
            <a:off x="713232" y="3950960"/>
            <a:ext cx="7865008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아파트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도면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확대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: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도면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추가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확보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시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배치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적중률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향상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예정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(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단지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목록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3,829곳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적용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완료</a:t>
            </a:r>
            <a:r>
              <a:rPr lang="en-US" sz="110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)</a:t>
            </a:r>
            <a:endParaRPr sz="1100" b="0" i="0" u="none" strike="noStrike" cap="none" dirty="0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72" name="Google Shape;172;p2"/>
          <p:cNvSpPr/>
          <p:nvPr/>
        </p:nvSpPr>
        <p:spPr>
          <a:xfrm>
            <a:off x="713232" y="4234201"/>
            <a:ext cx="78651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도면 3D 완성 후 배치 시뮬레이터 개선 </a:t>
            </a:r>
            <a:r>
              <a:rPr lang="en-US" sz="110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:</a:t>
            </a:r>
            <a:r>
              <a:rPr lang="en-US" sz="1100" b="0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우리 집에 설치된 모습을 직접 보여드리면 성공률이 올라갑니다</a:t>
            </a:r>
            <a:endParaRPr sz="1100" b="0" i="0" u="none" strike="noStrike" cap="none">
              <a:solidFill>
                <a:srgbClr val="0B102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73" name="Google Shape;173;p2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74" name="Google Shape;174;p2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세일즈 코파일럿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75" name="Google Shape;175;p2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76" name="Google Shape;176;p2"/>
          <p:cNvSpPr/>
          <p:nvPr/>
        </p:nvSpPr>
        <p:spPr>
          <a:xfrm>
            <a:off x="8473800" y="4841350"/>
            <a:ext cx="5517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7/10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4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시범운영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결과</a:t>
            </a:r>
            <a:endParaRPr sz="2500" b="0" i="0" u="none" strike="noStrike" cap="none" dirty="0">
              <a:solidFill>
                <a:schemeClr val="dk1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183" name="Google Shape;183;p14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lang="en-US" sz="125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2026-07-29 ~ 08-10 · 10개 매장 · 863건 (아래는 상위 9개) </a:t>
            </a:r>
            <a:r>
              <a:rPr lang="en-US" sz="125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:</a:t>
            </a:r>
            <a:r>
              <a:rPr lang="en-US" sz="125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한 기능만 쓰인 것이 아닙니다</a:t>
            </a:r>
            <a:endParaRPr sz="125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84" name="Google Shape;184;p14"/>
          <p:cNvSpPr/>
          <p:nvPr/>
        </p:nvSpPr>
        <p:spPr>
          <a:xfrm>
            <a:off x="5417650" y="1340772"/>
            <a:ext cx="1645920" cy="777240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85" name="Google Shape;185;p14"/>
          <p:cNvSpPr/>
          <p:nvPr/>
        </p:nvSpPr>
        <p:spPr>
          <a:xfrm>
            <a:off x="5417650" y="13956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2300"/>
              <a:buFont typeface="Malgun Gothic"/>
              <a:buNone/>
            </a:pPr>
            <a:r>
              <a:rPr lang="en-US" sz="2300" b="1" i="0" u="none" strike="noStrike" cap="none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10</a:t>
            </a:r>
            <a:endParaRPr sz="23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86" name="Google Shape;186;p14"/>
          <p:cNvSpPr/>
          <p:nvPr/>
        </p:nvSpPr>
        <p:spPr>
          <a:xfrm>
            <a:off x="5417650" y="1816260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개 매장</a:t>
            </a:r>
            <a:endParaRPr sz="105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87" name="Google Shape;187;p14"/>
          <p:cNvSpPr/>
          <p:nvPr/>
        </p:nvSpPr>
        <p:spPr>
          <a:xfrm>
            <a:off x="7127578" y="1340772"/>
            <a:ext cx="1645920" cy="777240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88" name="Google Shape;188;p14"/>
          <p:cNvSpPr/>
          <p:nvPr/>
        </p:nvSpPr>
        <p:spPr>
          <a:xfrm>
            <a:off x="7127578" y="13956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2300"/>
              <a:buFont typeface="Malgun Gothic"/>
              <a:buNone/>
            </a:pPr>
            <a:r>
              <a:rPr lang="en-US" sz="2300" b="1" i="0" u="none" strike="noStrike" cap="none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13</a:t>
            </a:r>
            <a:endParaRPr sz="23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89" name="Google Shape;189;p14"/>
          <p:cNvSpPr/>
          <p:nvPr/>
        </p:nvSpPr>
        <p:spPr>
          <a:xfrm>
            <a:off x="7127578" y="1816260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일</a:t>
            </a:r>
            <a:endParaRPr sz="105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90" name="Google Shape;190;p14"/>
          <p:cNvSpPr/>
          <p:nvPr/>
        </p:nvSpPr>
        <p:spPr>
          <a:xfrm>
            <a:off x="5417650" y="2209452"/>
            <a:ext cx="1645920" cy="777240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91" name="Google Shape;191;p14"/>
          <p:cNvSpPr/>
          <p:nvPr/>
        </p:nvSpPr>
        <p:spPr>
          <a:xfrm>
            <a:off x="5417650" y="226431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2300"/>
              <a:buFont typeface="Malgun Gothic"/>
              <a:buNone/>
            </a:pPr>
            <a:r>
              <a:rPr lang="en-US" sz="2300" b="1" i="0" u="none" strike="noStrike" cap="none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863</a:t>
            </a:r>
            <a:endParaRPr sz="23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92" name="Google Shape;192;p14"/>
          <p:cNvSpPr/>
          <p:nvPr/>
        </p:nvSpPr>
        <p:spPr>
          <a:xfrm>
            <a:off x="5417650" y="2684940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건 실사용</a:t>
            </a:r>
            <a:endParaRPr sz="105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93" name="Google Shape;193;p14"/>
          <p:cNvSpPr/>
          <p:nvPr/>
        </p:nvSpPr>
        <p:spPr>
          <a:xfrm>
            <a:off x="7127578" y="2209452"/>
            <a:ext cx="1645920" cy="777240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94" name="Google Shape;194;p14"/>
          <p:cNvSpPr/>
          <p:nvPr/>
        </p:nvSpPr>
        <p:spPr>
          <a:xfrm>
            <a:off x="7127578" y="226431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2300"/>
              <a:buFont typeface="Malgun Gothic"/>
              <a:buNone/>
            </a:pPr>
            <a:r>
              <a:rPr lang="en-US" sz="2300" b="1" i="0" u="none" strike="noStrike" cap="none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66</a:t>
            </a:r>
            <a:endParaRPr sz="23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95" name="Google Shape;195;p14"/>
          <p:cNvSpPr/>
          <p:nvPr/>
        </p:nvSpPr>
        <p:spPr>
          <a:xfrm>
            <a:off x="7127578" y="2684940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건/일</a:t>
            </a:r>
            <a:endParaRPr sz="105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96" name="Google Shape;196;p14"/>
          <p:cNvSpPr/>
          <p:nvPr/>
        </p:nvSpPr>
        <p:spPr>
          <a:xfrm>
            <a:off x="584570" y="1255565"/>
            <a:ext cx="18216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설치환경</a:t>
            </a:r>
            <a:r>
              <a:rPr lang="en-US" sz="110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가이드</a:t>
            </a:r>
            <a:endParaRPr sz="1100" b="1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97" name="Google Shape;197;p14"/>
          <p:cNvSpPr/>
          <p:nvPr/>
        </p:nvSpPr>
        <p:spPr>
          <a:xfrm>
            <a:off x="2445850" y="1337861"/>
            <a:ext cx="2286000" cy="164592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98" name="Google Shape;198;p14"/>
          <p:cNvSpPr/>
          <p:nvPr/>
        </p:nvSpPr>
        <p:spPr>
          <a:xfrm>
            <a:off x="4777570" y="1255565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128</a:t>
            </a:r>
            <a:endParaRPr sz="10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199" name="Google Shape;199;p14"/>
          <p:cNvSpPr/>
          <p:nvPr/>
        </p:nvSpPr>
        <p:spPr>
          <a:xfrm>
            <a:off x="584570" y="1621325"/>
            <a:ext cx="18216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모델파인더</a:t>
            </a:r>
            <a:endParaRPr sz="1100" b="1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00" name="Google Shape;200;p14"/>
          <p:cNvSpPr/>
          <p:nvPr/>
        </p:nvSpPr>
        <p:spPr>
          <a:xfrm>
            <a:off x="2445850" y="1703621"/>
            <a:ext cx="2143125" cy="164592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01" name="Google Shape;201;p14"/>
          <p:cNvSpPr/>
          <p:nvPr/>
        </p:nvSpPr>
        <p:spPr>
          <a:xfrm>
            <a:off x="4634695" y="1621325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120</a:t>
            </a:r>
            <a:endParaRPr sz="10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02" name="Google Shape;202;p14"/>
          <p:cNvSpPr/>
          <p:nvPr/>
        </p:nvSpPr>
        <p:spPr>
          <a:xfrm>
            <a:off x="584570" y="1987085"/>
            <a:ext cx="18216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타사비교</a:t>
            </a:r>
            <a:endParaRPr sz="1100" b="1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03" name="Google Shape;203;p14"/>
          <p:cNvSpPr/>
          <p:nvPr/>
        </p:nvSpPr>
        <p:spPr>
          <a:xfrm>
            <a:off x="2445850" y="2069381"/>
            <a:ext cx="1821656" cy="164592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04" name="Google Shape;204;p14"/>
          <p:cNvSpPr/>
          <p:nvPr/>
        </p:nvSpPr>
        <p:spPr>
          <a:xfrm>
            <a:off x="4313226" y="1987085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102</a:t>
            </a:r>
            <a:endParaRPr sz="10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05" name="Google Shape;205;p14"/>
          <p:cNvSpPr/>
          <p:nvPr/>
        </p:nvSpPr>
        <p:spPr>
          <a:xfrm>
            <a:off x="584570" y="2352845"/>
            <a:ext cx="18216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컨시어지</a:t>
            </a:r>
            <a:endParaRPr sz="11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06" name="Google Shape;206;p14"/>
          <p:cNvSpPr/>
          <p:nvPr/>
        </p:nvSpPr>
        <p:spPr>
          <a:xfrm>
            <a:off x="2445850" y="2435141"/>
            <a:ext cx="1714500" cy="164592"/>
          </a:xfrm>
          <a:prstGeom prst="rect">
            <a:avLst/>
          </a:prstGeom>
          <a:solidFill>
            <a:srgbClr val="2B44D0"/>
          </a:solidFill>
          <a:ln w="12700" cap="flat" cmpd="sng">
            <a:solidFill>
              <a:srgbClr val="2B44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07" name="Google Shape;207;p14"/>
          <p:cNvSpPr/>
          <p:nvPr/>
        </p:nvSpPr>
        <p:spPr>
          <a:xfrm>
            <a:off x="4206070" y="2352845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96</a:t>
            </a:r>
            <a:endParaRPr sz="10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08" name="Google Shape;208;p14"/>
          <p:cNvSpPr/>
          <p:nvPr/>
        </p:nvSpPr>
        <p:spPr>
          <a:xfrm>
            <a:off x="584570" y="2718605"/>
            <a:ext cx="18216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허브 검색·건의</a:t>
            </a:r>
            <a:endParaRPr sz="11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09" name="Google Shape;209;p14"/>
          <p:cNvSpPr/>
          <p:nvPr/>
        </p:nvSpPr>
        <p:spPr>
          <a:xfrm>
            <a:off x="2445850" y="2800901"/>
            <a:ext cx="1696641" cy="164592"/>
          </a:xfrm>
          <a:prstGeom prst="rect">
            <a:avLst/>
          </a:prstGeom>
          <a:solidFill>
            <a:srgbClr val="2B44D0"/>
          </a:solidFill>
          <a:ln w="12700" cap="flat" cmpd="sng">
            <a:solidFill>
              <a:srgbClr val="2B44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10" name="Google Shape;210;p14"/>
          <p:cNvSpPr/>
          <p:nvPr/>
        </p:nvSpPr>
        <p:spPr>
          <a:xfrm>
            <a:off x="4188211" y="2718605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95</a:t>
            </a:r>
            <a:endParaRPr sz="10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11" name="Google Shape;211;p14"/>
          <p:cNvSpPr/>
          <p:nvPr/>
        </p:nvSpPr>
        <p:spPr>
          <a:xfrm>
            <a:off x="584570" y="3084365"/>
            <a:ext cx="18216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레벨업 챌린지</a:t>
            </a:r>
            <a:endParaRPr sz="11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12" name="Google Shape;212;p14"/>
          <p:cNvSpPr/>
          <p:nvPr/>
        </p:nvSpPr>
        <p:spPr>
          <a:xfrm>
            <a:off x="2445850" y="3166661"/>
            <a:ext cx="1607344" cy="164592"/>
          </a:xfrm>
          <a:prstGeom prst="rect">
            <a:avLst/>
          </a:prstGeom>
          <a:solidFill>
            <a:srgbClr val="2B44D0"/>
          </a:solidFill>
          <a:ln w="12700" cap="flat" cmpd="sng">
            <a:solidFill>
              <a:srgbClr val="2B44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13" name="Google Shape;213;p14"/>
          <p:cNvSpPr/>
          <p:nvPr/>
        </p:nvSpPr>
        <p:spPr>
          <a:xfrm>
            <a:off x="4098914" y="3084365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90</a:t>
            </a:r>
            <a:endParaRPr sz="10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14" name="Google Shape;214;p14"/>
          <p:cNvSpPr/>
          <p:nvPr/>
        </p:nvSpPr>
        <p:spPr>
          <a:xfrm>
            <a:off x="584570" y="3450125"/>
            <a:ext cx="18216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AI구독 케어</a:t>
            </a:r>
            <a:endParaRPr sz="11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15" name="Google Shape;215;p14"/>
          <p:cNvSpPr/>
          <p:nvPr/>
        </p:nvSpPr>
        <p:spPr>
          <a:xfrm>
            <a:off x="2445850" y="3532421"/>
            <a:ext cx="1553766" cy="164592"/>
          </a:xfrm>
          <a:prstGeom prst="rect">
            <a:avLst/>
          </a:prstGeom>
          <a:solidFill>
            <a:srgbClr val="2B44D0"/>
          </a:solidFill>
          <a:ln w="12700" cap="flat" cmpd="sng">
            <a:solidFill>
              <a:srgbClr val="2B44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16" name="Google Shape;216;p14"/>
          <p:cNvSpPr/>
          <p:nvPr/>
        </p:nvSpPr>
        <p:spPr>
          <a:xfrm>
            <a:off x="4045336" y="3450125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87</a:t>
            </a:r>
            <a:endParaRPr sz="10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17" name="Google Shape;217;p14"/>
          <p:cNvSpPr/>
          <p:nvPr/>
        </p:nvSpPr>
        <p:spPr>
          <a:xfrm>
            <a:off x="584570" y="3815885"/>
            <a:ext cx="18216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쿠폰</a:t>
            </a:r>
            <a:endParaRPr sz="11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18" name="Google Shape;218;p14"/>
          <p:cNvSpPr/>
          <p:nvPr/>
        </p:nvSpPr>
        <p:spPr>
          <a:xfrm>
            <a:off x="2445850" y="3898181"/>
            <a:ext cx="1089422" cy="164592"/>
          </a:xfrm>
          <a:prstGeom prst="rect">
            <a:avLst/>
          </a:prstGeom>
          <a:solidFill>
            <a:srgbClr val="2B44D0"/>
          </a:solidFill>
          <a:ln w="12700" cap="flat" cmpd="sng">
            <a:solidFill>
              <a:srgbClr val="2B44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19" name="Google Shape;219;p14"/>
          <p:cNvSpPr/>
          <p:nvPr/>
        </p:nvSpPr>
        <p:spPr>
          <a:xfrm>
            <a:off x="3580992" y="3815885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61</a:t>
            </a:r>
            <a:endParaRPr sz="10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20" name="Google Shape;220;p14"/>
          <p:cNvSpPr/>
          <p:nvPr/>
        </p:nvSpPr>
        <p:spPr>
          <a:xfrm>
            <a:off x="584570" y="4181645"/>
            <a:ext cx="18216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배치 시뮬레이터</a:t>
            </a:r>
            <a:endParaRPr sz="11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21" name="Google Shape;221;p14"/>
          <p:cNvSpPr/>
          <p:nvPr/>
        </p:nvSpPr>
        <p:spPr>
          <a:xfrm>
            <a:off x="2445850" y="4263941"/>
            <a:ext cx="875109" cy="164592"/>
          </a:xfrm>
          <a:prstGeom prst="rect">
            <a:avLst/>
          </a:prstGeom>
          <a:solidFill>
            <a:srgbClr val="2B44D0"/>
          </a:solidFill>
          <a:ln w="12700" cap="flat" cmpd="sng">
            <a:solidFill>
              <a:srgbClr val="2B44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22" name="Google Shape;222;p14"/>
          <p:cNvSpPr/>
          <p:nvPr/>
        </p:nvSpPr>
        <p:spPr>
          <a:xfrm>
            <a:off x="3366679" y="4181645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49</a:t>
            </a:r>
            <a:endParaRPr sz="10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23" name="Google Shape;223;p14"/>
          <p:cNvSpPr/>
          <p:nvPr/>
        </p:nvSpPr>
        <p:spPr>
          <a:xfrm>
            <a:off x="5417650" y="3230669"/>
            <a:ext cx="3355848" cy="1197864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24" name="Google Shape;224;p14"/>
          <p:cNvSpPr/>
          <p:nvPr/>
        </p:nvSpPr>
        <p:spPr>
          <a:xfrm>
            <a:off x="5596157" y="3230669"/>
            <a:ext cx="3015399" cy="1165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상위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세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가지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모두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상담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중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고객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앞에서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바로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쓰는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기능입니다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endParaRPr sz="11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구경한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것이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아니라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,</a:t>
            </a:r>
            <a:endParaRPr sz="11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상담에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실제로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썼다는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뜻입니다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.</a:t>
            </a:r>
            <a:endParaRPr sz="11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25" name="Google Shape;225;p14"/>
          <p:cNvSpPr/>
          <p:nvPr/>
        </p:nvSpPr>
        <p:spPr>
          <a:xfrm>
            <a:off x="457200" y="4594860"/>
            <a:ext cx="83210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※ </a:t>
            </a: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사용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로그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자체가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현장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니즈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데이터입니다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— </a:t>
            </a: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무엇을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교육할지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무엇을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보강할지의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근거가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됩니다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.</a:t>
            </a:r>
            <a:endParaRPr sz="10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26" name="Google Shape;226;p14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27" name="Google Shape;227;p14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세일즈 코파일럿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28" name="Google Shape;228;p14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29" name="Google Shape;229;p14"/>
          <p:cNvSpPr/>
          <p:nvPr/>
        </p:nvSpPr>
        <p:spPr>
          <a:xfrm>
            <a:off x="8473800" y="4841350"/>
            <a:ext cx="5517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8/10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7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경원영업팀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65개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매장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도입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시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기대</a:t>
            </a:r>
            <a:r>
              <a:rPr lang="en-US" sz="2500" b="1" i="0" u="none" strike="noStrike" cap="none" dirty="0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B102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효과</a:t>
            </a:r>
            <a:endParaRPr sz="2500" b="0" i="0" u="none" strike="noStrike" cap="none" dirty="0">
              <a:solidFill>
                <a:schemeClr val="dk1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236" name="Google Shape;236;p17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lang="en-US" sz="125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실측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5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값과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ko-KR" alt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예측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5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값을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5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구분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50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: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ko-KR" altLang="en-US" sz="1250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예측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5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값은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5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회사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5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기준으로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5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바꿔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5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넣으시면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5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그대로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5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답이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5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나옵니다</a:t>
            </a:r>
            <a:r>
              <a:rPr lang="en-US" sz="125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.</a:t>
            </a:r>
            <a:endParaRPr sz="125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37" name="Google Shape;237;p17"/>
          <p:cNvSpPr/>
          <p:nvPr/>
        </p:nvSpPr>
        <p:spPr>
          <a:xfrm>
            <a:off x="457200" y="1188719"/>
            <a:ext cx="4114800" cy="2106565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38" name="Google Shape;238;p17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F766E"/>
          </a:solidFill>
          <a:ln w="12700" cap="flat" cmpd="sng">
            <a:solidFill>
              <a:srgbClr val="0F766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39" name="Google Shape;239;p17"/>
          <p:cNvSpPr/>
          <p:nvPr/>
        </p:nvSpPr>
        <p:spPr>
          <a:xfrm>
            <a:off x="621792" y="1341120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250"/>
              <a:buFont typeface="Malgun Gothic"/>
              <a:buNone/>
            </a:pPr>
            <a:r>
              <a:rPr lang="en-US" sz="1500" b="1" i="0" u="none" strike="noStrike" cap="none" dirty="0" err="1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시간</a:t>
            </a:r>
            <a:r>
              <a:rPr lang="en-US" sz="1500" b="1" i="0" u="none" strike="noStrike" cap="none" dirty="0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— </a:t>
            </a:r>
            <a:r>
              <a:rPr lang="en-US" sz="1500" b="1" i="0" u="none" strike="noStrike" cap="none" dirty="0" err="1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현장이</a:t>
            </a:r>
            <a:r>
              <a:rPr lang="en-US" sz="1500" b="1" i="0" u="none" strike="noStrike" cap="none" dirty="0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돌려받는</a:t>
            </a:r>
            <a:r>
              <a:rPr lang="en-US" sz="1500" b="1" i="0" u="none" strike="noStrike" cap="none" dirty="0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0F766E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시간</a:t>
            </a:r>
            <a:endParaRPr sz="1500" b="0" i="0" u="none" strike="noStrike" cap="none" dirty="0">
              <a:solidFill>
                <a:schemeClr val="dk1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240" name="Google Shape;240;p17"/>
          <p:cNvSpPr/>
          <p:nvPr/>
        </p:nvSpPr>
        <p:spPr>
          <a:xfrm>
            <a:off x="621792" y="1706880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3175" cap="flat" cmpd="sng">
            <a:solidFill>
              <a:srgbClr val="16653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41" name="Google Shape;241;p17"/>
          <p:cNvSpPr/>
          <p:nvPr/>
        </p:nvSpPr>
        <p:spPr>
          <a:xfrm>
            <a:off x="621792" y="1700784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실측</a:t>
            </a:r>
            <a:endParaRPr sz="8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42" name="Google Shape;242;p17"/>
          <p:cNvSpPr/>
          <p:nvPr/>
        </p:nvSpPr>
        <p:spPr>
          <a:xfrm>
            <a:off x="1170432" y="1688592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50"/>
              <a:buFont typeface="Malgun Gothic"/>
              <a:buNone/>
            </a:pPr>
            <a:r>
              <a:rPr lang="en-US" sz="120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매장당</a:t>
            </a:r>
            <a:r>
              <a:rPr lang="en-US" sz="120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하루</a:t>
            </a:r>
            <a:r>
              <a:rPr lang="en-US" sz="120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6.6건 </a:t>
            </a:r>
            <a:r>
              <a:rPr lang="en-US" sz="120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사용</a:t>
            </a:r>
            <a:endParaRPr sz="120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1170432" y="1889760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lang="en-US" sz="850" b="0" i="0" u="none" strike="noStrike" cap="none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863건 ÷ 10매장 ÷ 13일</a:t>
            </a:r>
            <a:endParaRPr sz="850" b="0" i="0" u="none" strike="noStrike" cap="none">
              <a:solidFill>
                <a:schemeClr val="bg1">
                  <a:lumMod val="50000"/>
                </a:schemeClr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44" name="Google Shape;244;p17"/>
          <p:cNvSpPr/>
          <p:nvPr/>
        </p:nvSpPr>
        <p:spPr>
          <a:xfrm>
            <a:off x="621792" y="2089968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 w="3175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45" name="Google Shape;245;p17"/>
          <p:cNvSpPr/>
          <p:nvPr/>
        </p:nvSpPr>
        <p:spPr>
          <a:xfrm>
            <a:off x="621792" y="2096064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가정</a:t>
            </a:r>
            <a:endParaRPr sz="8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46" name="Google Shape;246;p17"/>
          <p:cNvSpPr/>
          <p:nvPr/>
        </p:nvSpPr>
        <p:spPr>
          <a:xfrm>
            <a:off x="1170432" y="2072640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50"/>
              <a:buFont typeface="Malgun Gothic"/>
              <a:buNone/>
            </a:pPr>
            <a:r>
              <a:rPr lang="en-US" sz="115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1건당 </a:t>
            </a:r>
            <a:r>
              <a:rPr lang="en-US" sz="115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찾는</a:t>
            </a:r>
            <a:r>
              <a:rPr lang="en-US" sz="115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5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시간</a:t>
            </a:r>
            <a:r>
              <a:rPr lang="en-US" sz="115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3분 </a:t>
            </a:r>
            <a:r>
              <a:rPr lang="en-US" sz="115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절감</a:t>
            </a:r>
            <a:endParaRPr sz="115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48" name="Google Shape;248;p17"/>
          <p:cNvSpPr/>
          <p:nvPr/>
        </p:nvSpPr>
        <p:spPr>
          <a:xfrm>
            <a:off x="621792" y="2474976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7C2D8F"/>
          </a:solidFill>
          <a:ln w="3175" cap="flat" cmpd="sng">
            <a:solidFill>
              <a:srgbClr val="7C2D8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49" name="Google Shape;249;p17"/>
          <p:cNvSpPr/>
          <p:nvPr/>
        </p:nvSpPr>
        <p:spPr>
          <a:xfrm>
            <a:off x="621792" y="2468880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계산</a:t>
            </a:r>
            <a:endParaRPr sz="8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50" name="Google Shape;250;p17"/>
          <p:cNvSpPr/>
          <p:nvPr/>
        </p:nvSpPr>
        <p:spPr>
          <a:xfrm>
            <a:off x="1170432" y="2456688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65개 매장 월 약 </a:t>
            </a:r>
            <a:r>
              <a:rPr lang="en-US" sz="1150" b="1" i="0" u="none" strike="noStrike" cap="none">
                <a:solidFill>
                  <a:srgbClr val="FF000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647시간</a:t>
            </a:r>
            <a:r>
              <a:rPr lang="en-US" sz="1150" b="1" i="0" u="none" strike="noStrike" cap="none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확보</a:t>
            </a:r>
            <a:endParaRPr sz="75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51" name="Google Shape;251;p17"/>
          <p:cNvSpPr/>
          <p:nvPr/>
        </p:nvSpPr>
        <p:spPr>
          <a:xfrm>
            <a:off x="1170432" y="2657856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lang="en-US" sz="850" b="0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6.6건 × 3분 × 평균30영업일 × 65매장</a:t>
            </a:r>
            <a:endParaRPr sz="850" b="0" i="0" u="none" strike="noStrike" cap="none" dirty="0">
              <a:solidFill>
                <a:schemeClr val="bg1">
                  <a:lumMod val="50000"/>
                </a:schemeClr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52" name="Google Shape;252;p17"/>
          <p:cNvSpPr/>
          <p:nvPr/>
        </p:nvSpPr>
        <p:spPr>
          <a:xfrm>
            <a:off x="621792" y="2859024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7C2D8F"/>
          </a:solidFill>
          <a:ln w="3175" cap="flat" cmpd="sng">
            <a:solidFill>
              <a:srgbClr val="7C2D8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53" name="Google Shape;253;p17"/>
          <p:cNvSpPr/>
          <p:nvPr/>
        </p:nvSpPr>
        <p:spPr>
          <a:xfrm>
            <a:off x="621792" y="2852928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계산</a:t>
            </a:r>
            <a:endParaRPr sz="8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54" name="Google Shape;254;p17"/>
          <p:cNvSpPr/>
          <p:nvPr/>
        </p:nvSpPr>
        <p:spPr>
          <a:xfrm>
            <a:off x="1170432" y="284073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150"/>
              <a:buFont typeface="Malgun Gothic"/>
              <a:buNone/>
            </a:pPr>
            <a:r>
              <a:rPr lang="ko-KR" altLang="en-US" sz="1150" b="1" i="0" u="none" strike="noStrike" cap="none" dirty="0" err="1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年</a:t>
            </a:r>
            <a:r>
              <a:rPr lang="en-US" sz="1150" b="1" i="0" u="none" strike="noStrike" cap="none" dirty="0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약 7,800시간 = </a:t>
            </a:r>
            <a:r>
              <a:rPr lang="en-US" sz="1150" b="1" i="0" u="none" strike="noStrike" cap="none" dirty="0" err="1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상담사</a:t>
            </a:r>
            <a:r>
              <a:rPr lang="en-US" sz="1150" b="1" i="0" u="none" strike="noStrike" cap="none" dirty="0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50" b="1" i="0" u="none" strike="noStrike" cap="none" dirty="0">
                <a:solidFill>
                  <a:srgbClr val="FF000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3.7명분 </a:t>
            </a:r>
            <a:r>
              <a:rPr lang="en-US" sz="1150" b="1" i="0" u="none" strike="noStrike" cap="none" dirty="0" err="1">
                <a:solidFill>
                  <a:schemeClr val="dk1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응대</a:t>
            </a:r>
            <a:r>
              <a:rPr lang="en-US" sz="1150" b="1" i="0" u="none" strike="noStrike" cap="none" dirty="0">
                <a:solidFill>
                  <a:schemeClr val="dk1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50" b="1" i="0" u="none" strike="noStrike" cap="none" dirty="0" err="1">
                <a:solidFill>
                  <a:schemeClr val="dk1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여력</a:t>
            </a:r>
            <a:r>
              <a:rPr lang="en-US" sz="1150" b="1" i="0" u="none" strike="noStrike" cap="none" dirty="0">
                <a:solidFill>
                  <a:schemeClr val="dk1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50" b="1" i="0" u="none" strike="noStrike" cap="none" dirty="0" err="1">
                <a:solidFill>
                  <a:schemeClr val="dk1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확보</a:t>
            </a:r>
            <a:endParaRPr sz="115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55" name="Google Shape;255;p17"/>
          <p:cNvSpPr/>
          <p:nvPr/>
        </p:nvSpPr>
        <p:spPr>
          <a:xfrm>
            <a:off x="1170432" y="3041904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lang="en-US" sz="850" b="0" i="0" u="none" strike="noStrike" cap="none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월 근무 176시간(22일 × 8시간) 기준 환산</a:t>
            </a:r>
            <a:endParaRPr sz="850" b="0" i="0" u="none" strike="noStrike" cap="none">
              <a:solidFill>
                <a:schemeClr val="bg1">
                  <a:lumMod val="50000"/>
                </a:schemeClr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56" name="Google Shape;256;p17"/>
          <p:cNvSpPr/>
          <p:nvPr/>
        </p:nvSpPr>
        <p:spPr>
          <a:xfrm>
            <a:off x="4754880" y="1188719"/>
            <a:ext cx="4114800" cy="2106565"/>
          </a:xfrm>
          <a:prstGeom prst="rect">
            <a:avLst/>
          </a:prstGeom>
          <a:solidFill>
            <a:srgbClr val="F7F8FB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57" name="Google Shape;257;p17"/>
          <p:cNvSpPr/>
          <p:nvPr/>
        </p:nvSpPr>
        <p:spPr>
          <a:xfrm>
            <a:off x="4754880" y="1188720"/>
            <a:ext cx="4114800" cy="54864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58" name="Google Shape;258;p17"/>
          <p:cNvSpPr/>
          <p:nvPr/>
        </p:nvSpPr>
        <p:spPr>
          <a:xfrm>
            <a:off x="4919472" y="1341120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250"/>
              <a:buFont typeface="Malgun Gothic"/>
              <a:buNone/>
            </a:pPr>
            <a:r>
              <a:rPr lang="en-US" sz="1500" b="1" i="0" u="none" strike="noStrike" cap="none" dirty="0" err="1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비용</a:t>
            </a:r>
            <a:r>
              <a:rPr lang="en-US" sz="1500" b="1" i="0" u="none" strike="noStrike" cap="none" dirty="0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— </a:t>
            </a:r>
            <a:r>
              <a:rPr lang="en-US" sz="1500" b="1" i="0" u="none" strike="noStrike" cap="none" dirty="0" err="1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회사가</a:t>
            </a:r>
            <a:r>
              <a:rPr lang="en-US" sz="1500" b="1" i="0" u="none" strike="noStrike" cap="none" dirty="0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안 </a:t>
            </a:r>
            <a:r>
              <a:rPr lang="en-US" sz="1500" b="1" i="0" u="none" strike="noStrike" cap="none" dirty="0" err="1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쓰게</a:t>
            </a:r>
            <a:r>
              <a:rPr lang="en-US" sz="1500" b="1" i="0" u="none" strike="noStrike" cap="none" dirty="0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</a:t>
            </a:r>
            <a:r>
              <a:rPr lang="en-US" sz="1500" b="1" i="0" u="none" strike="noStrike" cap="none" dirty="0" err="1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되는</a:t>
            </a:r>
            <a:r>
              <a:rPr lang="en-US" sz="1500" b="1" i="0" u="none" strike="noStrike" cap="none" dirty="0">
                <a:solidFill>
                  <a:srgbClr val="1428A0"/>
                </a:solidFill>
                <a:latin typeface="SamsungOneKoreanOTF 700C" panose="020B0806030303020204" pitchFamily="34" charset="-127"/>
                <a:ea typeface="SamsungOneKoreanOTF 700C" panose="020B0806030303020204" pitchFamily="34" charset="-127"/>
                <a:sym typeface="Arial"/>
              </a:rPr>
              <a:t> 돈</a:t>
            </a:r>
            <a:endParaRPr sz="1500" b="0" i="0" u="none" strike="noStrike" cap="none" dirty="0">
              <a:solidFill>
                <a:srgbClr val="1428A0"/>
              </a:solidFill>
              <a:latin typeface="SamsungOneKoreanOTF 700C" panose="020B0806030303020204" pitchFamily="34" charset="-127"/>
              <a:ea typeface="SamsungOneKoreanOTF 700C" panose="020B0806030303020204" pitchFamily="34" charset="-127"/>
              <a:sym typeface="Arial"/>
            </a:endParaRPr>
          </a:p>
        </p:txBody>
      </p:sp>
      <p:sp>
        <p:nvSpPr>
          <p:cNvPr id="259" name="Google Shape;259;p17"/>
          <p:cNvSpPr/>
          <p:nvPr/>
        </p:nvSpPr>
        <p:spPr>
          <a:xfrm>
            <a:off x="4919472" y="1706880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3175" cap="flat" cmpd="sng">
            <a:solidFill>
              <a:srgbClr val="16653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60" name="Google Shape;260;p17"/>
          <p:cNvSpPr/>
          <p:nvPr/>
        </p:nvSpPr>
        <p:spPr>
          <a:xfrm>
            <a:off x="4919472" y="1706880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실측</a:t>
            </a:r>
            <a:endParaRPr sz="8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61" name="Google Shape;261;p17"/>
          <p:cNvSpPr/>
          <p:nvPr/>
        </p:nvSpPr>
        <p:spPr>
          <a:xfrm>
            <a:off x="5468112" y="1688592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50"/>
              <a:buFont typeface="Malgun Gothic"/>
              <a:buNone/>
            </a:pPr>
            <a:r>
              <a:rPr lang="en-US" sz="120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설치환경</a:t>
            </a:r>
            <a:r>
              <a:rPr lang="en-US" sz="120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20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가이드</a:t>
            </a:r>
            <a:r>
              <a:rPr lang="en-US" sz="120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128건 · 1위</a:t>
            </a:r>
            <a:endParaRPr sz="120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63" name="Google Shape;263;p17"/>
          <p:cNvSpPr/>
          <p:nvPr/>
        </p:nvSpPr>
        <p:spPr>
          <a:xfrm>
            <a:off x="4919472" y="2090928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 w="3175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4919472" y="2090928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가정</a:t>
            </a:r>
            <a:endParaRPr sz="8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5468112" y="2072640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50"/>
              <a:buFont typeface="Malgun Gothic"/>
              <a:buNone/>
            </a:pPr>
            <a:r>
              <a:rPr lang="en-US" sz="115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설치</a:t>
            </a:r>
            <a:r>
              <a:rPr lang="en-US" sz="115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5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재방문</a:t>
            </a:r>
            <a:r>
              <a:rPr lang="en-US" sz="1150" b="0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1건당 </a:t>
            </a:r>
            <a:r>
              <a:rPr lang="en-US" sz="1150" b="0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비용</a:t>
            </a:r>
            <a:endParaRPr sz="115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67" name="Google Shape;267;p17"/>
          <p:cNvSpPr/>
          <p:nvPr/>
        </p:nvSpPr>
        <p:spPr>
          <a:xfrm>
            <a:off x="4919472" y="2474976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7C2D8F"/>
          </a:solidFill>
          <a:ln w="3175" cap="flat" cmpd="sng">
            <a:solidFill>
              <a:srgbClr val="7C2D8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68" name="Google Shape;268;p17"/>
          <p:cNvSpPr/>
          <p:nvPr/>
        </p:nvSpPr>
        <p:spPr>
          <a:xfrm>
            <a:off x="4919472" y="2474976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계산</a:t>
            </a:r>
            <a:endParaRPr sz="8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69" name="Google Shape;269;p17"/>
          <p:cNvSpPr/>
          <p:nvPr/>
        </p:nvSpPr>
        <p:spPr>
          <a:xfrm>
            <a:off x="5468112" y="2456688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매장당 월 1건이면 연 780건</a:t>
            </a:r>
            <a:endParaRPr sz="115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71" name="Google Shape;271;p17"/>
          <p:cNvSpPr/>
          <p:nvPr/>
        </p:nvSpPr>
        <p:spPr>
          <a:xfrm>
            <a:off x="4919472" y="2859024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7C2D8F"/>
          </a:solidFill>
          <a:ln w="3175" cap="flat" cmpd="sng">
            <a:solidFill>
              <a:srgbClr val="7C2D8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72" name="Google Shape;272;p17"/>
          <p:cNvSpPr/>
          <p:nvPr/>
        </p:nvSpPr>
        <p:spPr>
          <a:xfrm>
            <a:off x="4919472" y="2859024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계산</a:t>
            </a:r>
            <a:endParaRPr sz="8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73" name="Google Shape;273;p17"/>
          <p:cNvSpPr/>
          <p:nvPr/>
        </p:nvSpPr>
        <p:spPr>
          <a:xfrm>
            <a:off x="5468112" y="284073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취소 1건 = 계약 금액 전액 손실</a:t>
            </a:r>
            <a:endParaRPr sz="115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75" name="Google Shape;275;p17"/>
          <p:cNvSpPr/>
          <p:nvPr/>
        </p:nvSpPr>
        <p:spPr>
          <a:xfrm>
            <a:off x="457200" y="3358896"/>
            <a:ext cx="84124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가정을</a:t>
            </a:r>
            <a:r>
              <a:rPr lang="en-US" sz="110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바꿔도</a:t>
            </a:r>
            <a:r>
              <a:rPr lang="en-US" sz="110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결과는</a:t>
            </a:r>
            <a:r>
              <a:rPr lang="en-US" sz="110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100" b="1" i="0" u="none" strike="noStrike" cap="none" dirty="0" err="1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동일합니다</a:t>
            </a:r>
            <a:endParaRPr sz="11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76" name="Google Shape;276;p17"/>
          <p:cNvSpPr/>
          <p:nvPr/>
        </p:nvSpPr>
        <p:spPr>
          <a:xfrm>
            <a:off x="457200" y="3633216"/>
            <a:ext cx="2651700" cy="62178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77" name="Google Shape;277;p17"/>
          <p:cNvSpPr/>
          <p:nvPr/>
        </p:nvSpPr>
        <p:spPr>
          <a:xfrm>
            <a:off x="594360" y="3706890"/>
            <a:ext cx="23775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보수적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2분</a:t>
            </a:r>
            <a:endParaRPr sz="10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78" name="Google Shape;278;p17"/>
          <p:cNvSpPr/>
          <p:nvPr/>
        </p:nvSpPr>
        <p:spPr>
          <a:xfrm>
            <a:off x="594360" y="3908058"/>
            <a:ext cx="1496568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500"/>
              <a:buFont typeface="Malgun Gothic"/>
              <a:buNone/>
            </a:pP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월 432</a:t>
            </a:r>
            <a:r>
              <a:rPr lang="ko-KR" altLang="en-US" sz="150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시간</a:t>
            </a:r>
            <a:r>
              <a:rPr lang="en-US" altLang="ko-KR" sz="1100" b="1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(</a:t>
            </a:r>
            <a:r>
              <a:rPr lang="ko-KR" altLang="en-US" sz="1100" b="1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일</a:t>
            </a:r>
            <a:r>
              <a:rPr lang="en-US" altLang="ko-KR" sz="1100" b="1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13</a:t>
            </a:r>
            <a:r>
              <a:rPr lang="ko-KR" altLang="en-US" sz="1100" b="1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분↓</a:t>
            </a:r>
            <a:r>
              <a:rPr lang="en-US" altLang="ko-KR" sz="1100" b="1" i="0" u="none" strike="noStrike" cap="none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)</a:t>
            </a:r>
            <a:endParaRPr sz="1100" b="0" i="0" u="none" strike="noStrike" cap="none" dirty="0">
              <a:solidFill>
                <a:schemeClr val="bg1">
                  <a:lumMod val="50000"/>
                </a:schemeClr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79" name="Google Shape;279;p17"/>
          <p:cNvSpPr/>
          <p:nvPr/>
        </p:nvSpPr>
        <p:spPr>
          <a:xfrm>
            <a:off x="2130862" y="3935490"/>
            <a:ext cx="991349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lang="ko-KR" alt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年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5,200시간</a:t>
            </a:r>
            <a:endParaRPr sz="11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80" name="Google Shape;280;p17"/>
          <p:cNvSpPr/>
          <p:nvPr/>
        </p:nvSpPr>
        <p:spPr>
          <a:xfrm>
            <a:off x="3291840" y="3633216"/>
            <a:ext cx="2651700" cy="621785"/>
          </a:xfrm>
          <a:prstGeom prst="rect">
            <a:avLst/>
          </a:prstGeom>
          <a:solidFill>
            <a:srgbClr val="0F766E"/>
          </a:solidFill>
          <a:ln w="12700" cap="flat" cmpd="sng">
            <a:solidFill>
              <a:srgbClr val="0F766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81" name="Google Shape;281;p17"/>
          <p:cNvSpPr/>
          <p:nvPr/>
        </p:nvSpPr>
        <p:spPr>
          <a:xfrm>
            <a:off x="3429000" y="3706890"/>
            <a:ext cx="23775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E7E3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C7E7E3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기준 3분</a:t>
            </a:r>
            <a:endParaRPr sz="10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82" name="Google Shape;282;p17"/>
          <p:cNvSpPr/>
          <p:nvPr/>
        </p:nvSpPr>
        <p:spPr>
          <a:xfrm>
            <a:off x="3429000" y="3908058"/>
            <a:ext cx="1626652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FFFFFF"/>
              </a:buClr>
              <a:buSzPts val="1500"/>
            </a:pPr>
            <a:r>
              <a:rPr lang="en-US" sz="1500" b="1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월 647시</a:t>
            </a:r>
            <a:r>
              <a:rPr lang="en-US" altLang="ko-KR" sz="1100" b="1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(</a:t>
            </a:r>
            <a:r>
              <a:rPr lang="ko-KR" altLang="en-US" sz="1100" b="1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일</a:t>
            </a:r>
            <a:r>
              <a:rPr lang="en-US" altLang="ko-KR" sz="1100" b="1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22</a:t>
            </a:r>
            <a:r>
              <a:rPr lang="ko-KR" altLang="en-US" sz="1100" b="1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분↓</a:t>
            </a:r>
            <a:r>
              <a:rPr lang="en-US" altLang="ko-KR" sz="1100" b="1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)</a:t>
            </a:r>
            <a:endParaRPr sz="11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83" name="Google Shape;283;p17"/>
          <p:cNvSpPr/>
          <p:nvPr/>
        </p:nvSpPr>
        <p:spPr>
          <a:xfrm>
            <a:off x="4918542" y="3935490"/>
            <a:ext cx="1143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E7E3"/>
              </a:buClr>
              <a:buSzPts val="1100"/>
              <a:buFont typeface="Malgun Gothic"/>
              <a:buNone/>
            </a:pPr>
            <a:r>
              <a:rPr lang="ko-KR" altLang="en-US" sz="1100" b="0" i="0" u="none" strike="noStrike" cap="none" dirty="0" err="1">
                <a:solidFill>
                  <a:srgbClr val="C7E7E3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年</a:t>
            </a:r>
            <a:r>
              <a:rPr lang="en-US" sz="1100" b="0" i="0" u="none" strike="noStrike" cap="none" dirty="0">
                <a:solidFill>
                  <a:srgbClr val="C7E7E3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7,800시간</a:t>
            </a:r>
            <a:endParaRPr sz="11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84" name="Google Shape;284;p17"/>
          <p:cNvSpPr/>
          <p:nvPr/>
        </p:nvSpPr>
        <p:spPr>
          <a:xfrm>
            <a:off x="6126480" y="3633216"/>
            <a:ext cx="2651700" cy="62178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DE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400"/>
            </a:pPr>
            <a:r>
              <a:rPr lang="en-US" altLang="ko-KR" b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(</a:t>
            </a:r>
            <a:r>
              <a:rPr lang="ko-KR" altLang="en-US" b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일</a:t>
            </a:r>
            <a:r>
              <a:rPr lang="en-US" altLang="ko-KR" b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22</a:t>
            </a:r>
            <a:r>
              <a:rPr lang="ko-KR" altLang="en-US" b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분↓</a:t>
            </a:r>
            <a:r>
              <a:rPr lang="en-US" altLang="ko-KR" b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)</a:t>
            </a: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85" name="Google Shape;285;p17"/>
          <p:cNvSpPr/>
          <p:nvPr/>
        </p:nvSpPr>
        <p:spPr>
          <a:xfrm>
            <a:off x="6205191" y="3706890"/>
            <a:ext cx="23775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lang="en-US" sz="10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적극적</a:t>
            </a:r>
            <a:r>
              <a:rPr lang="en-US" sz="10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5분</a:t>
            </a:r>
            <a:endParaRPr sz="10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86" name="Google Shape;286;p17"/>
          <p:cNvSpPr/>
          <p:nvPr/>
        </p:nvSpPr>
        <p:spPr>
          <a:xfrm>
            <a:off x="6198566" y="3908060"/>
            <a:ext cx="2061514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0B1020"/>
              </a:buClr>
              <a:buSzPts val="1500"/>
            </a:pPr>
            <a:r>
              <a:rPr lang="en-US" sz="1500" b="1" i="0" u="none" strike="noStrike" cap="none" dirty="0">
                <a:solidFill>
                  <a:srgbClr val="0B102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월 1,079시간</a:t>
            </a:r>
            <a:r>
              <a:rPr lang="en-US" altLang="ko-KR" sz="1100" b="1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(</a:t>
            </a:r>
            <a:r>
              <a:rPr lang="ko-KR" altLang="en-US" sz="1100" b="1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일</a:t>
            </a:r>
            <a:r>
              <a:rPr lang="en-US" altLang="ko-KR" sz="1100" b="1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33</a:t>
            </a:r>
            <a:r>
              <a:rPr lang="ko-KR" altLang="en-US" sz="1100" b="1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분↓</a:t>
            </a:r>
            <a:r>
              <a:rPr lang="en-US" altLang="ko-KR" sz="1100" b="1" dirty="0">
                <a:solidFill>
                  <a:schemeClr val="bg1">
                    <a:lumMod val="50000"/>
                  </a:schemeClr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)</a:t>
            </a:r>
            <a:endParaRPr sz="1100" b="0" i="0" u="none" strike="noStrike" cap="none" dirty="0">
              <a:solidFill>
                <a:schemeClr val="bg1">
                  <a:lumMod val="50000"/>
                </a:schemeClr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7829628" y="3923480"/>
            <a:ext cx="11430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lang="ko-KR" altLang="en-US" sz="1100" b="0" i="0" u="none" strike="noStrike" cap="none" dirty="0" err="1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年</a:t>
            </a:r>
            <a:r>
              <a:rPr lang="en-US" sz="1100" b="0" i="0" u="none" strike="noStrike" cap="none" dirty="0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12,900시간</a:t>
            </a:r>
            <a:endParaRPr sz="11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88" name="Google Shape;288;p17"/>
          <p:cNvSpPr/>
          <p:nvPr/>
        </p:nvSpPr>
        <p:spPr>
          <a:xfrm>
            <a:off x="457200" y="4370832"/>
            <a:ext cx="8412480" cy="4572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89" name="Google Shape;289;p17"/>
          <p:cNvSpPr/>
          <p:nvPr/>
        </p:nvSpPr>
        <p:spPr>
          <a:xfrm>
            <a:off x="457190" y="4370825"/>
            <a:ext cx="8412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가장</a:t>
            </a:r>
            <a:r>
              <a:rPr lang="en-US" sz="1300" b="1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300" b="1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보수적으로</a:t>
            </a:r>
            <a:r>
              <a:rPr lang="en-US" sz="1300" b="1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300" b="1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잡아도</a:t>
            </a:r>
            <a:r>
              <a:rPr lang="en-US" sz="1300" b="1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65개 </a:t>
            </a:r>
            <a:r>
              <a:rPr lang="en-US" sz="1300" b="1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매장에서</a:t>
            </a:r>
            <a:r>
              <a:rPr lang="en-US" sz="1300" b="1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ko-KR" altLang="en-US" sz="1300" b="1" i="0" u="none" strike="noStrike" cap="none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年</a:t>
            </a:r>
            <a:r>
              <a:rPr lang="en-US" sz="1300" b="1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5,200시간입니다</a:t>
            </a:r>
            <a:r>
              <a:rPr lang="en-US" sz="1300" b="1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!</a:t>
            </a:r>
            <a:r>
              <a:rPr lang="en-US" sz="1300" b="1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비용</a:t>
            </a:r>
            <a:r>
              <a:rPr lang="en-US" sz="1300" b="1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투자</a:t>
            </a:r>
            <a:r>
              <a:rPr lang="en-US" sz="1300" b="1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없이</a:t>
            </a:r>
            <a:r>
              <a:rPr lang="en-US" sz="1300" b="1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, </a:t>
            </a:r>
            <a:r>
              <a:rPr lang="en-US" sz="1300" b="1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시간을</a:t>
            </a:r>
            <a:r>
              <a:rPr lang="en-US" sz="1300" b="1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버는</a:t>
            </a:r>
            <a:r>
              <a:rPr lang="en-US" sz="1300" b="1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</a:rPr>
              <a:t>혁신</a:t>
            </a:r>
            <a:r>
              <a:rPr lang="en-US" sz="1300" b="1" i="0" u="none" strike="noStrike" cap="none" dirty="0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!</a:t>
            </a:r>
            <a:endParaRPr sz="1300" b="0" i="0" u="none" strike="noStrike" cap="none" dirty="0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90" name="Google Shape;290;p17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91" name="Google Shape;291;p17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세일즈 코파일럿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92" name="Google Shape;292;p17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293" name="Google Shape;293;p17"/>
          <p:cNvSpPr/>
          <p:nvPr/>
        </p:nvSpPr>
        <p:spPr>
          <a:xfrm>
            <a:off x="8473800" y="4841350"/>
            <a:ext cx="5517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5B6478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9/10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6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302" name="Google Shape;302;p6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세일즈 코파일럿</a:t>
            </a:r>
            <a:endParaRPr sz="900" b="0" i="0" u="none" strike="noStrike" cap="none">
              <a:solidFill>
                <a:schemeClr val="dk1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303" name="Google Shape;303;p6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w="12700" cap="flat" cmpd="sng">
            <a:solidFill>
              <a:srgbClr val="1428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304" name="Google Shape;304;p6"/>
          <p:cNvSpPr txBox="1"/>
          <p:nvPr/>
        </p:nvSpPr>
        <p:spPr>
          <a:xfrm>
            <a:off x="640080" y="700000"/>
            <a:ext cx="7863840" cy="4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지금 바로 열어 보세요</a:t>
            </a: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305" name="Google Shape;305;p6"/>
          <p:cNvSpPr txBox="1"/>
          <p:nvPr/>
        </p:nvSpPr>
        <p:spPr>
          <a:xfrm>
            <a:off x="640080" y="1130000"/>
            <a:ext cx="7863840" cy="2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휴대폰 카메라로 QR을 비추면 됩니다 — 로그인도, 설치도 필요 없습니다</a:t>
            </a: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pic>
        <p:nvPicPr>
          <p:cNvPr id="306" name="Google Shape;306;p6" descr="salescopilot-store.vercel.app QR 코드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47000" y="1500000"/>
            <a:ext cx="2050000" cy="205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6"/>
          <p:cNvSpPr txBox="1"/>
          <p:nvPr/>
        </p:nvSpPr>
        <p:spPr>
          <a:xfrm>
            <a:off x="640080" y="3700000"/>
            <a:ext cx="786384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428A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salescopilot-store.vercel.app</a:t>
            </a: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  <p:sp>
        <p:nvSpPr>
          <p:cNvPr id="308" name="Google Shape;308;p6"/>
          <p:cNvSpPr txBox="1"/>
          <p:nvPr/>
        </p:nvSpPr>
        <p:spPr>
          <a:xfrm>
            <a:off x="640080" y="4020000"/>
            <a:ext cx="7863840" cy="2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280"/>
                </a:solidFill>
                <a:latin typeface="SamsungOneKoreanOTF 400C" panose="020B0506030303020204" pitchFamily="34" charset="-127"/>
                <a:ea typeface="SamsungOneKoreanOTF 400C" panose="020B0506030303020204" pitchFamily="34" charset="-127"/>
                <a:sym typeface="Arial"/>
              </a:rPr>
              <a:t>세일즈 코파일럿 · 경원영업팀</a:t>
            </a:r>
            <a:endParaRPr sz="1400" b="0" i="0" u="none" strike="noStrike" cap="none">
              <a:solidFill>
                <a:srgbClr val="000000"/>
              </a:solidFill>
              <a:latin typeface="SamsungOneKoreanOTF 400C" panose="020B0506030303020204" pitchFamily="34" charset="-127"/>
              <a:ea typeface="SamsungOneKoreanOTF 400C" panose="020B0506030303020204" pitchFamily="34" charset="-127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1018</Words>
  <Application>Microsoft Office PowerPoint</Application>
  <PresentationFormat>화면 슬라이드 쇼(16:9)</PresentationFormat>
  <Paragraphs>183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SamsungOneKoreanOTF 400C</vt:lpstr>
      <vt:lpstr>SamsungOneKoreanOTF 700C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경원영업팀</dc:creator>
  <cp:lastModifiedBy>admin</cp:lastModifiedBy>
  <cp:revision>9</cp:revision>
  <dcterms:created xsi:type="dcterms:W3CDTF">2026-08-10T00:11:11Z</dcterms:created>
  <dcterms:modified xsi:type="dcterms:W3CDTF">2026-08-26T03:52:48Z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