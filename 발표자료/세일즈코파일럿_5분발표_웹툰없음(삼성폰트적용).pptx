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custom-properties+xml" PartName="/docProps/custom.xml"/>
  <Override ContentType="application/vnd.openxmlformats-officedocument.presentationml.slideLayout+xml" PartName="/ppt/slideLayouts/slideLayout1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custom-properties" Target="docProps/custom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8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</p:sldIdLst>
  <p:sldSz cy="5143500" cx="9144000"/>
  <p:notesSz cx="51435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15" roundtripDataSignature="AMtx7mg9Wy/2gJXanPUMRIxy3ZSMhTbRh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15" Type="http://customschemas.google.com/relationships/presentationmetadata" Target="metadata"/><Relationship Id="rId14" Type="http://schemas.openxmlformats.org/officeDocument/2006/relationships/slide" Target="slides/slide10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" name="Google Shape;13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4" name="Google Shape;14;p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34" name="Google Shape;34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3" name="Google Shape;53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54" name="Google Shape;54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3f6c50b3b74_0_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g3f6c50b3b74_0_0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실제 화면에서 조건을 직접 쳐 보세요. 즉시 뜨는 것이 요점입니다.</a:t>
            </a:r>
            <a:endParaRPr/>
          </a:p>
        </p:txBody>
      </p:sp>
      <p:sp>
        <p:nvSpPr>
          <p:cNvPr id="83" name="Google Shape;83;g3f6c50b3b74_0_0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g3f6c50b3b74_0_5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05" name="Google Shape;105;g3f6c50b3b74_0_5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6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28" name="Google Shape;128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50" name="Google Shape;150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7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79" name="Google Shape;17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80" name="Google Shape;180;p14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32" name="Google Shape;232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가정값 두 개(1건당 3분 · 재방문 단가)는 시범 13일로 측정하지 못했습니다. 회사 기준 수치를 넣으면 그대로 금액이 나옵니다.</a:t>
            </a:r>
            <a:br>
              <a:rPr lang="en-US"/>
            </a:br>
            <a:r>
              <a:rPr lang="en-US"/>
              <a:t>또 하나의 가정 — 65개 매장이 시범 10개 매장과 같은 빈도로 쓴다고 봤습니다. 시범 매장은 관심도가 높았을 수 있어 초기에는 낮게 나올 수 있습니다.</a:t>
            </a:r>
            <a:br>
              <a:rPr lang="en-US"/>
            </a:br>
            <a:r>
              <a:rPr lang="en-US"/>
              <a:t>확대 후 3개월이면 상담 건수 · 설치 재방문 · 취소 건수로 실측할 수 있습니다.</a:t>
            </a:r>
            <a:endParaRPr/>
          </a:p>
        </p:txBody>
      </p:sp>
      <p:sp>
        <p:nvSpPr>
          <p:cNvPr id="233" name="Google Shape;233;p1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4" name="Shape 2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Google Shape;29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296" name="Google Shape;29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jp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jpg"/><Relationship Id="rId4" Type="http://schemas.openxmlformats.org/officeDocument/2006/relationships/image" Target="../media/image1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jp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428A0"/>
        </a:solidFill>
      </p:bgPr>
    </p:bg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1"/>
          <p:cNvSpPr/>
          <p:nvPr/>
        </p:nvSpPr>
        <p:spPr>
          <a:xfrm>
            <a:off x="640080" y="1188720"/>
            <a:ext cx="7863840" cy="7772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000"/>
              <a:buFont typeface="Malgun Gothic"/>
              <a:buNone/>
            </a:pPr>
            <a:r>
              <a:rPr b="1" i="0" lang="en-US" sz="4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세일즈 코파일럿</a:t>
            </a:r>
            <a:endParaRPr b="0" i="0" sz="4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" name="Google Shape;17;p1"/>
          <p:cNvSpPr/>
          <p:nvPr/>
        </p:nvSpPr>
        <p:spPr>
          <a:xfrm>
            <a:off x="658368" y="1965960"/>
            <a:ext cx="786384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7D0F5"/>
              </a:buClr>
              <a:buSzPts val="2000"/>
              <a:buFont typeface="Malgun Gothic"/>
              <a:buNone/>
            </a:pPr>
            <a:r>
              <a:rPr b="0" i="0" lang="en-US" sz="2000" u="none" cap="none" strike="noStrike">
                <a:solidFill>
                  <a:srgbClr val="C7D0F5"/>
                </a:solidFill>
                <a:latin typeface="Arial"/>
                <a:ea typeface="Arial"/>
                <a:cs typeface="Arial"/>
                <a:sym typeface="Arial"/>
              </a:rPr>
              <a:t>Fast · Right · Every time</a:t>
            </a:r>
            <a:endParaRPr b="0" i="0" sz="2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" name="Google Shape;18;p1"/>
          <p:cNvSpPr/>
          <p:nvPr/>
        </p:nvSpPr>
        <p:spPr>
          <a:xfrm>
            <a:off x="640080" y="2697480"/>
            <a:ext cx="2514600" cy="77724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" name="Google Shape;19;p1"/>
          <p:cNvSpPr/>
          <p:nvPr/>
        </p:nvSpPr>
        <p:spPr>
          <a:xfrm>
            <a:off x="640080" y="2697480"/>
            <a:ext cx="2514600" cy="54864"/>
          </a:xfrm>
          <a:prstGeom prst="rect">
            <a:avLst/>
          </a:prstGeom>
          <a:solidFill>
            <a:srgbClr val="0F766E"/>
          </a:solidFill>
          <a:ln cap="flat" cmpd="sng" w="12700">
            <a:solidFill>
              <a:srgbClr val="0F766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" name="Google Shape;20;p1"/>
          <p:cNvSpPr/>
          <p:nvPr/>
        </p:nvSpPr>
        <p:spPr>
          <a:xfrm>
            <a:off x="822960" y="2816352"/>
            <a:ext cx="2148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F766E"/>
              </a:buClr>
              <a:buSzPts val="1500"/>
              <a:buFont typeface="Malgun Gothic"/>
              <a:buNone/>
            </a:pPr>
            <a:r>
              <a:rPr b="1" i="0" lang="en-US" sz="1500" u="none" cap="none" strike="noStrike">
                <a:solidFill>
                  <a:srgbClr val="0F766E"/>
                </a:solidFill>
                <a:latin typeface="Arial"/>
                <a:ea typeface="Arial"/>
                <a:cs typeface="Arial"/>
                <a:sym typeface="Arial"/>
              </a:rPr>
              <a:t>속도</a:t>
            </a:r>
            <a:endParaRPr b="0" i="0" sz="15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" name="Google Shape;21;p1"/>
          <p:cNvSpPr/>
          <p:nvPr/>
        </p:nvSpPr>
        <p:spPr>
          <a:xfrm>
            <a:off x="822960" y="3090672"/>
            <a:ext cx="2148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B6478"/>
              </a:buClr>
              <a:buSzPts val="1100"/>
              <a:buFont typeface="Malgun Gothic"/>
              <a:buNone/>
            </a:pPr>
            <a:r>
              <a:rPr b="0" i="0" lang="en-US" sz="1100" u="none" cap="none" strike="noStrike">
                <a:solidFill>
                  <a:srgbClr val="5B6478"/>
                </a:solidFill>
                <a:latin typeface="Arial"/>
                <a:ea typeface="Arial"/>
                <a:cs typeface="Arial"/>
                <a:sym typeface="Arial"/>
              </a:rPr>
              <a:t>상담 시간을 줄여준다</a:t>
            </a:r>
            <a:endParaRPr b="0" i="0" sz="1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" name="Google Shape;22;p1"/>
          <p:cNvSpPr/>
          <p:nvPr/>
        </p:nvSpPr>
        <p:spPr>
          <a:xfrm>
            <a:off x="3337560" y="2697480"/>
            <a:ext cx="2514600" cy="77724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" name="Google Shape;23;p1"/>
          <p:cNvSpPr/>
          <p:nvPr/>
        </p:nvSpPr>
        <p:spPr>
          <a:xfrm>
            <a:off x="3337560" y="2697480"/>
            <a:ext cx="2514600" cy="54864"/>
          </a:xfrm>
          <a:prstGeom prst="rect">
            <a:avLst/>
          </a:prstGeom>
          <a:solidFill>
            <a:srgbClr val="1428A0"/>
          </a:solidFill>
          <a:ln cap="flat" cmpd="sng" w="12700">
            <a:solidFill>
              <a:srgbClr val="1428A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" name="Google Shape;24;p1"/>
          <p:cNvSpPr/>
          <p:nvPr/>
        </p:nvSpPr>
        <p:spPr>
          <a:xfrm>
            <a:off x="3520440" y="2816352"/>
            <a:ext cx="2148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428A0"/>
              </a:buClr>
              <a:buSzPts val="1500"/>
              <a:buFont typeface="Malgun Gothic"/>
              <a:buNone/>
            </a:pPr>
            <a:r>
              <a:rPr b="1" i="0" lang="en-US" sz="1500" u="none" cap="none" strike="noStrike">
                <a:solidFill>
                  <a:srgbClr val="1428A0"/>
                </a:solidFill>
                <a:latin typeface="Arial"/>
                <a:ea typeface="Arial"/>
                <a:cs typeface="Arial"/>
                <a:sym typeface="Arial"/>
              </a:rPr>
              <a:t>정확도</a:t>
            </a:r>
            <a:endParaRPr b="0" i="0" sz="15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" name="Google Shape;25;p1"/>
          <p:cNvSpPr/>
          <p:nvPr/>
        </p:nvSpPr>
        <p:spPr>
          <a:xfrm>
            <a:off x="3520440" y="3090672"/>
            <a:ext cx="2148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B6478"/>
              </a:buClr>
              <a:buSzPts val="1100"/>
              <a:buFont typeface="Malgun Gothic"/>
              <a:buNone/>
            </a:pPr>
            <a:r>
              <a:rPr b="0" i="0" lang="en-US" sz="1100" u="none" cap="none" strike="noStrike">
                <a:solidFill>
                  <a:srgbClr val="5B6478"/>
                </a:solidFill>
                <a:latin typeface="Arial"/>
                <a:ea typeface="Arial"/>
                <a:cs typeface="Arial"/>
                <a:sym typeface="Arial"/>
              </a:rPr>
              <a:t>잘못된 정보를 전달하지 않는다</a:t>
            </a:r>
            <a:endParaRPr b="0" i="0" sz="1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" name="Google Shape;26;p1"/>
          <p:cNvSpPr/>
          <p:nvPr/>
        </p:nvSpPr>
        <p:spPr>
          <a:xfrm>
            <a:off x="6035040" y="2697480"/>
            <a:ext cx="2514600" cy="77724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" name="Google Shape;27;p1"/>
          <p:cNvSpPr/>
          <p:nvPr/>
        </p:nvSpPr>
        <p:spPr>
          <a:xfrm>
            <a:off x="6035040" y="2697480"/>
            <a:ext cx="2514600" cy="54864"/>
          </a:xfrm>
          <a:prstGeom prst="rect">
            <a:avLst/>
          </a:prstGeom>
          <a:solidFill>
            <a:srgbClr val="7C2D8F"/>
          </a:solidFill>
          <a:ln cap="flat" cmpd="sng" w="12700">
            <a:solidFill>
              <a:srgbClr val="7C2D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" name="Google Shape;28;p1"/>
          <p:cNvSpPr/>
          <p:nvPr/>
        </p:nvSpPr>
        <p:spPr>
          <a:xfrm>
            <a:off x="6217920" y="2816352"/>
            <a:ext cx="2148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C2D8F"/>
              </a:buClr>
              <a:buSzPts val="1500"/>
              <a:buFont typeface="Malgun Gothic"/>
              <a:buNone/>
            </a:pPr>
            <a:r>
              <a:rPr b="1" i="0" lang="en-US" sz="1500" u="none" cap="none" strike="noStrike">
                <a:solidFill>
                  <a:srgbClr val="7C2D8F"/>
                </a:solidFill>
                <a:latin typeface="Arial"/>
                <a:ea typeface="Arial"/>
                <a:cs typeface="Arial"/>
                <a:sym typeface="Arial"/>
              </a:rPr>
              <a:t>일관성</a:t>
            </a:r>
            <a:endParaRPr b="0" i="0" sz="15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" name="Google Shape;29;p1"/>
          <p:cNvSpPr/>
          <p:nvPr/>
        </p:nvSpPr>
        <p:spPr>
          <a:xfrm>
            <a:off x="6217920" y="3090672"/>
            <a:ext cx="2148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B6478"/>
              </a:buClr>
              <a:buSzPts val="1100"/>
              <a:buFont typeface="Malgun Gothic"/>
              <a:buNone/>
            </a:pPr>
            <a:r>
              <a:rPr b="0" i="0" lang="en-US" sz="1100" u="none" cap="none" strike="noStrike">
                <a:solidFill>
                  <a:srgbClr val="5B6478"/>
                </a:solidFill>
                <a:latin typeface="Arial"/>
                <a:ea typeface="Arial"/>
                <a:cs typeface="Arial"/>
                <a:sym typeface="Arial"/>
              </a:rPr>
              <a:t>누가 사용해도 같은 답</a:t>
            </a:r>
            <a:endParaRPr b="0" i="0" sz="1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" name="Google Shape;30;p1"/>
          <p:cNvSpPr/>
          <p:nvPr/>
        </p:nvSpPr>
        <p:spPr>
          <a:xfrm>
            <a:off x="658368" y="3794760"/>
            <a:ext cx="786384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Malgun Gothic"/>
              <a:buNone/>
            </a:pPr>
            <a:r>
              <a:rPr b="0" i="0" lang="en-US" sz="13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13일</a:t>
            </a:r>
            <a:r>
              <a:rPr b="0" i="0" lang="en-US" sz="1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 · 10개 매장 </a:t>
            </a:r>
            <a:r>
              <a:rPr b="0" i="0" lang="en-US" sz="13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시범운영 결과</a:t>
            </a:r>
            <a:endParaRPr b="0" i="0" sz="13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" name="Google Shape;31;p1"/>
          <p:cNvSpPr/>
          <p:nvPr/>
        </p:nvSpPr>
        <p:spPr>
          <a:xfrm>
            <a:off x="658368" y="4114800"/>
            <a:ext cx="7863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7D0F5"/>
              </a:buClr>
              <a:buSzPts val="1150"/>
              <a:buFont typeface="Malgun Gothic"/>
              <a:buNone/>
            </a:pPr>
            <a:r>
              <a:rPr b="0" i="0" lang="en-US" sz="1150" u="none" cap="none" strike="noStrike">
                <a:solidFill>
                  <a:srgbClr val="C7D0F5"/>
                </a:solidFill>
                <a:latin typeface="Arial"/>
                <a:ea typeface="Arial"/>
                <a:cs typeface="Arial"/>
                <a:sym typeface="Arial"/>
              </a:rPr>
              <a:t>경원영업팀 · 2026.08   |   외부 개발비 0원 · 운영비 0원 · 앱 설치 불필요</a:t>
            </a:r>
            <a:endParaRPr b="0" i="0" sz="11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4"/>
          <p:cNvSpPr/>
          <p:nvPr/>
        </p:nvSpPr>
        <p:spPr>
          <a:xfrm>
            <a:off x="457200" y="310896"/>
            <a:ext cx="82296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B1020"/>
              </a:buClr>
              <a:buSzPts val="2500"/>
              <a:buFont typeface="Malgun Gothic"/>
              <a:buNone/>
            </a:pPr>
            <a:r>
              <a:rPr b="1" i="0" lang="en-US" sz="2500" u="none" cap="none" strike="noStrike">
                <a:solidFill>
                  <a:srgbClr val="0B1020"/>
                </a:solidFill>
                <a:latin typeface="Arial"/>
                <a:ea typeface="Arial"/>
                <a:cs typeface="Arial"/>
                <a:sym typeface="Arial"/>
              </a:rPr>
              <a:t>기획 배경 및 타겟 (Why &amp; Who)</a:t>
            </a:r>
            <a:endParaRPr b="1" i="0" sz="2500" u="none" cap="none" strike="noStrike">
              <a:solidFill>
                <a:srgbClr val="0B102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4"/>
          <p:cNvSpPr/>
          <p:nvPr/>
        </p:nvSpPr>
        <p:spPr>
          <a:xfrm>
            <a:off x="457200" y="1330000"/>
            <a:ext cx="8321040" cy="1550000"/>
          </a:xfrm>
          <a:prstGeom prst="rect">
            <a:avLst/>
          </a:prstGeom>
          <a:solidFill>
            <a:srgbClr val="F7F8FB"/>
          </a:solidFill>
          <a:ln cap="flat" cmpd="sng" w="12700">
            <a:solidFill>
              <a:srgbClr val="DDE1E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" name="Google Shape;38;p4"/>
          <p:cNvSpPr/>
          <p:nvPr/>
        </p:nvSpPr>
        <p:spPr>
          <a:xfrm>
            <a:off x="457200" y="1330000"/>
            <a:ext cx="73152" cy="1550000"/>
          </a:xfrm>
          <a:prstGeom prst="rect">
            <a:avLst/>
          </a:prstGeom>
          <a:solidFill>
            <a:srgbClr val="1428A0"/>
          </a:solidFill>
          <a:ln cap="flat" cmpd="sng" w="12700">
            <a:solidFill>
              <a:srgbClr val="1428A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" name="Google Shape;39;p4"/>
          <p:cNvSpPr/>
          <p:nvPr/>
        </p:nvSpPr>
        <p:spPr>
          <a:xfrm>
            <a:off x="713232" y="1510000"/>
            <a:ext cx="7865008" cy="34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1428A0"/>
              </a:buClr>
              <a:buSzPts val="1500"/>
              <a:buFont typeface="Malgun Gothic"/>
              <a:buNone/>
            </a:pPr>
            <a:r>
              <a:rPr b="1" i="0" lang="en-US" sz="1500" u="none" cap="none" strike="noStrike">
                <a:solidFill>
                  <a:srgbClr val="1428A0"/>
                </a:solidFill>
                <a:latin typeface="Arial"/>
                <a:ea typeface="Arial"/>
                <a:cs typeface="Arial"/>
                <a:sym typeface="Arial"/>
              </a:rPr>
              <a:t>왜 이 프로그램을 만들었는가?</a:t>
            </a:r>
            <a:endParaRPr b="1" i="0" sz="1500" u="none" cap="none" strike="noStrike">
              <a:solidFill>
                <a:srgbClr val="1428A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" name="Google Shape;40;p4"/>
          <p:cNvSpPr/>
          <p:nvPr/>
        </p:nvSpPr>
        <p:spPr>
          <a:xfrm>
            <a:off x="713232" y="1870000"/>
            <a:ext cx="7865008" cy="4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B1020"/>
              </a:buClr>
              <a:buSzPts val="1250"/>
              <a:buFont typeface="Malgun Gothic"/>
              <a:buNone/>
            </a:pPr>
            <a:r>
              <a:rPr b="1" i="0" lang="en-US" sz="1250" u="none" cap="none" strike="noStrike">
                <a:solidFill>
                  <a:srgbClr val="0B1020"/>
                </a:solidFill>
                <a:latin typeface="Arial"/>
                <a:ea typeface="Arial"/>
                <a:cs typeface="Arial"/>
                <a:sym typeface="Arial"/>
              </a:rPr>
              <a:t>삼성닷컴 · 카탈로그에 필요한 정보는 이미 있었지만, 상담 중에 꺼내 쓰기가 번거로웠습니다.</a:t>
            </a:r>
            <a:endParaRPr b="1" i="0" sz="1250" u="none" cap="none" strike="noStrike">
              <a:solidFill>
                <a:srgbClr val="0B102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" name="Google Shape;41;p4"/>
          <p:cNvSpPr/>
          <p:nvPr/>
        </p:nvSpPr>
        <p:spPr>
          <a:xfrm>
            <a:off x="713232" y="2310000"/>
            <a:ext cx="7865008" cy="44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5B6478"/>
              </a:buClr>
              <a:buSzPts val="1100"/>
              <a:buFont typeface="Malgun Gothic"/>
              <a:buNone/>
            </a:pPr>
            <a:r>
              <a:rPr b="0" i="0" lang="en-US" sz="1100" u="none" cap="none" strike="noStrike">
                <a:solidFill>
                  <a:srgbClr val="5B6478"/>
                </a:solidFill>
                <a:latin typeface="Arial"/>
                <a:ea typeface="Arial"/>
                <a:cs typeface="Arial"/>
                <a:sym typeface="Arial"/>
              </a:rPr>
              <a:t>그래서 외부 개발 없이, 팀 내부에서 만들었습니다 </a:t>
            </a:r>
            <a:endParaRPr/>
          </a:p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5B6478"/>
              </a:buClr>
              <a:buSzPts val="1100"/>
              <a:buFont typeface="Malgun Gothic"/>
              <a:buNone/>
            </a:pPr>
            <a:r>
              <a:rPr b="0" i="0" lang="en-US" sz="1100" u="none" cap="none" strike="noStrike">
                <a:solidFill>
                  <a:srgbClr val="5B6478"/>
                </a:solidFill>
                <a:latin typeface="Arial"/>
                <a:ea typeface="Arial"/>
                <a:cs typeface="Arial"/>
                <a:sym typeface="Arial"/>
              </a:rPr>
              <a:t>— 개발비 0원 · 운영비 0원, 공식 자료를 그대로 가져와 화면 하나로 모았습니다.</a:t>
            </a:r>
            <a:endParaRPr b="0" i="0" sz="1100" u="none" cap="none" strike="noStrike">
              <a:solidFill>
                <a:srgbClr val="5B6478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" name="Google Shape;42;p4"/>
          <p:cNvSpPr/>
          <p:nvPr/>
        </p:nvSpPr>
        <p:spPr>
          <a:xfrm>
            <a:off x="457200" y="3050000"/>
            <a:ext cx="8321040" cy="1550000"/>
          </a:xfrm>
          <a:prstGeom prst="rect">
            <a:avLst/>
          </a:prstGeom>
          <a:solidFill>
            <a:srgbClr val="F7F8FB"/>
          </a:solidFill>
          <a:ln cap="flat" cmpd="sng" w="12700">
            <a:solidFill>
              <a:srgbClr val="DDE1E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" name="Google Shape;43;p4"/>
          <p:cNvSpPr/>
          <p:nvPr/>
        </p:nvSpPr>
        <p:spPr>
          <a:xfrm>
            <a:off x="457200" y="3050000"/>
            <a:ext cx="73152" cy="1550000"/>
          </a:xfrm>
          <a:prstGeom prst="rect">
            <a:avLst/>
          </a:prstGeom>
          <a:solidFill>
            <a:srgbClr val="7C2D8F"/>
          </a:solidFill>
          <a:ln cap="flat" cmpd="sng" w="12700">
            <a:solidFill>
              <a:srgbClr val="7C2D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" name="Google Shape;44;p4"/>
          <p:cNvSpPr/>
          <p:nvPr/>
        </p:nvSpPr>
        <p:spPr>
          <a:xfrm>
            <a:off x="713232" y="3230000"/>
            <a:ext cx="7865008" cy="34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7C2D8F"/>
              </a:buClr>
              <a:buSzPts val="1500"/>
              <a:buFont typeface="Malgun Gothic"/>
              <a:buNone/>
            </a:pPr>
            <a:r>
              <a:rPr b="1" i="0" lang="en-US" sz="1500" u="none" cap="none" strike="noStrike">
                <a:solidFill>
                  <a:srgbClr val="7C2D8F"/>
                </a:solidFill>
                <a:latin typeface="Arial"/>
                <a:ea typeface="Arial"/>
                <a:cs typeface="Arial"/>
                <a:sym typeface="Arial"/>
              </a:rPr>
              <a:t>누가 사용하는가?</a:t>
            </a:r>
            <a:endParaRPr b="1" i="0" sz="1500" u="none" cap="none" strike="noStrike">
              <a:solidFill>
                <a:srgbClr val="7C2D8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" name="Google Shape;45;p4"/>
          <p:cNvSpPr/>
          <p:nvPr/>
        </p:nvSpPr>
        <p:spPr>
          <a:xfrm>
            <a:off x="713232" y="3590000"/>
            <a:ext cx="7865008" cy="4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B1020"/>
              </a:buClr>
              <a:buSzPts val="1250"/>
              <a:buFont typeface="Malgun Gothic"/>
              <a:buNone/>
            </a:pPr>
            <a:r>
              <a:rPr b="1" i="0" lang="en-US" sz="1250" u="none" cap="none" strike="noStrike">
                <a:solidFill>
                  <a:srgbClr val="0B1020"/>
                </a:solidFill>
                <a:latin typeface="Arial"/>
                <a:ea typeface="Arial"/>
                <a:cs typeface="Arial"/>
                <a:sym typeface="Arial"/>
              </a:rPr>
              <a:t>매장에서 고객을 직접 응대하는 상담 매니저</a:t>
            </a:r>
            <a:endParaRPr b="1" i="0" sz="1250" u="none" cap="none" strike="noStrike">
              <a:solidFill>
                <a:srgbClr val="0B102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" name="Google Shape;46;p4"/>
          <p:cNvSpPr/>
          <p:nvPr/>
        </p:nvSpPr>
        <p:spPr>
          <a:xfrm>
            <a:off x="713232" y="4030000"/>
            <a:ext cx="7865008" cy="44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5B6478"/>
              </a:buClr>
              <a:buSzPts val="1100"/>
              <a:buFont typeface="Malgun Gothic"/>
              <a:buNone/>
            </a:pPr>
            <a:r>
              <a:rPr b="0" i="0" lang="en-US" sz="1100" u="none" cap="none" strike="noStrike">
                <a:solidFill>
                  <a:srgbClr val="5B6478"/>
                </a:solidFill>
                <a:latin typeface="Arial"/>
                <a:ea typeface="Arial"/>
                <a:cs typeface="Arial"/>
                <a:sym typeface="Arial"/>
              </a:rPr>
              <a:t>경원영업팀 65개 매장 </a:t>
            </a:r>
            <a:endParaRPr/>
          </a:p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5B6478"/>
              </a:buClr>
              <a:buSzPts val="1100"/>
              <a:buFont typeface="Malgun Gothic"/>
              <a:buNone/>
            </a:pPr>
            <a:r>
              <a:rPr b="0" i="0" lang="en-US" sz="1100" u="none" cap="none" strike="noStrike">
                <a:solidFill>
                  <a:srgbClr val="5B6478"/>
                </a:solidFill>
                <a:latin typeface="Arial"/>
                <a:ea typeface="Arial"/>
                <a:cs typeface="Arial"/>
                <a:sym typeface="Arial"/>
              </a:rPr>
              <a:t>— 로그인, 설치, 계정 발급 없이 매장 모바일 · 태블릿 · PC에서 바로 사용 가능합니다.</a:t>
            </a:r>
            <a:endParaRPr b="0" i="0" sz="1100" u="none" cap="none" strike="noStrike">
              <a:solidFill>
                <a:srgbClr val="5B6478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" name="Google Shape;47;p4"/>
          <p:cNvSpPr/>
          <p:nvPr/>
        </p:nvSpPr>
        <p:spPr>
          <a:xfrm>
            <a:off x="7132150" y="310891"/>
            <a:ext cx="2011800" cy="255900"/>
          </a:xfrm>
          <a:prstGeom prst="rect">
            <a:avLst/>
          </a:prstGeom>
          <a:solidFill>
            <a:srgbClr val="1428A0"/>
          </a:solidFill>
          <a:ln cap="flat" cmpd="sng" w="12700">
            <a:solidFill>
              <a:srgbClr val="1428A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" name="Google Shape;48;p4"/>
          <p:cNvSpPr/>
          <p:nvPr/>
        </p:nvSpPr>
        <p:spPr>
          <a:xfrm>
            <a:off x="7172700" y="317335"/>
            <a:ext cx="1971300" cy="255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Malgun Gothic"/>
              <a:buNone/>
            </a:pPr>
            <a:r>
              <a:rPr b="0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세일즈 코파일럿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" name="Google Shape;49;p4"/>
          <p:cNvSpPr/>
          <p:nvPr/>
        </p:nvSpPr>
        <p:spPr>
          <a:xfrm>
            <a:off x="0" y="5065775"/>
            <a:ext cx="9144000" cy="77700"/>
          </a:xfrm>
          <a:prstGeom prst="rect">
            <a:avLst/>
          </a:prstGeom>
          <a:solidFill>
            <a:srgbClr val="1428A0"/>
          </a:solidFill>
          <a:ln cap="flat" cmpd="sng" w="12700">
            <a:solidFill>
              <a:srgbClr val="1428A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" name="Google Shape;50;p4"/>
          <p:cNvSpPr/>
          <p:nvPr/>
        </p:nvSpPr>
        <p:spPr>
          <a:xfrm>
            <a:off x="8549648" y="4841350"/>
            <a:ext cx="475800" cy="255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B6478"/>
              </a:buClr>
              <a:buSzPts val="900"/>
              <a:buFont typeface="Malgun Gothic"/>
              <a:buNone/>
            </a:pPr>
            <a:r>
              <a:rPr b="0" i="0" lang="en-US" sz="900" u="none" cap="none" strike="noStrike">
                <a:solidFill>
                  <a:srgbClr val="5B6478"/>
                </a:solidFill>
                <a:latin typeface="Arial"/>
                <a:ea typeface="Arial"/>
                <a:cs typeface="Arial"/>
                <a:sym typeface="Arial"/>
              </a:rPr>
              <a:t>2/10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3"/>
          <p:cNvSpPr/>
          <p:nvPr/>
        </p:nvSpPr>
        <p:spPr>
          <a:xfrm>
            <a:off x="457200" y="310896"/>
            <a:ext cx="82296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B1020"/>
              </a:buClr>
              <a:buSzPts val="2200"/>
              <a:buFont typeface="Malgun Gothic"/>
              <a:buNone/>
            </a:pPr>
            <a:r>
              <a:rPr b="1" i="0" lang="en-US" sz="2200" u="none" cap="none" strike="noStrike">
                <a:solidFill>
                  <a:srgbClr val="0B1020"/>
                </a:solidFill>
                <a:latin typeface="Arial"/>
                <a:ea typeface="Arial"/>
                <a:cs typeface="Arial"/>
                <a:sym typeface="Arial"/>
              </a:rPr>
              <a:t>상담사의 행동이 바뀌면 지점 실적이 바뀝니다</a:t>
            </a:r>
            <a:endParaRPr b="1" i="0" sz="2200" u="none" cap="none" strike="noStrike">
              <a:solidFill>
                <a:srgbClr val="0B102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" name="Google Shape;57;p3"/>
          <p:cNvSpPr/>
          <p:nvPr/>
        </p:nvSpPr>
        <p:spPr>
          <a:xfrm>
            <a:off x="457200" y="768096"/>
            <a:ext cx="822960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5B6478"/>
              </a:buClr>
              <a:buSzPts val="1250"/>
              <a:buFont typeface="Malgun Gothic"/>
              <a:buNone/>
            </a:pPr>
            <a:r>
              <a:rPr b="0" i="0" lang="en-US" sz="1250" u="none" cap="none" strike="noStrike">
                <a:solidFill>
                  <a:srgbClr val="5B6478"/>
                </a:solidFill>
                <a:latin typeface="Arial"/>
                <a:ea typeface="Arial"/>
                <a:cs typeface="Arial"/>
                <a:sym typeface="Arial"/>
              </a:rPr>
              <a:t>기존에는 이렇게 일했습니다 → 세일즈 코파일럿으로 이렇게 바뀝니다</a:t>
            </a:r>
            <a:endParaRPr b="0" i="0" sz="1250" u="none" cap="none" strike="noStrike">
              <a:solidFill>
                <a:srgbClr val="5B6478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" name="Google Shape;58;p3"/>
          <p:cNvSpPr/>
          <p:nvPr/>
        </p:nvSpPr>
        <p:spPr>
          <a:xfrm>
            <a:off x="457200" y="1330000"/>
            <a:ext cx="3931920" cy="3250000"/>
          </a:xfrm>
          <a:prstGeom prst="rect">
            <a:avLst/>
          </a:prstGeom>
          <a:solidFill>
            <a:srgbClr val="F7F8FB"/>
          </a:solidFill>
          <a:ln cap="flat" cmpd="sng" w="12700">
            <a:solidFill>
              <a:srgbClr val="DDE1E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9" name="Google Shape;59;p3"/>
          <p:cNvSpPr/>
          <p:nvPr/>
        </p:nvSpPr>
        <p:spPr>
          <a:xfrm>
            <a:off x="4754880" y="1330000"/>
            <a:ext cx="3931920" cy="3250000"/>
          </a:xfrm>
          <a:prstGeom prst="rect">
            <a:avLst/>
          </a:prstGeom>
          <a:solidFill>
            <a:srgbClr val="F2F5FF"/>
          </a:solidFill>
          <a:ln cap="flat" cmpd="sng" w="12700">
            <a:solidFill>
              <a:srgbClr val="C3CCE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" name="Google Shape;60;p3"/>
          <p:cNvSpPr/>
          <p:nvPr/>
        </p:nvSpPr>
        <p:spPr>
          <a:xfrm>
            <a:off x="457200" y="1330000"/>
            <a:ext cx="73152" cy="3250000"/>
          </a:xfrm>
          <a:prstGeom prst="rect">
            <a:avLst/>
          </a:prstGeom>
          <a:solidFill>
            <a:srgbClr val="5B6478"/>
          </a:solidFill>
          <a:ln cap="flat" cmpd="sng" w="12700">
            <a:solidFill>
              <a:srgbClr val="5B647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1" name="Google Shape;61;p3"/>
          <p:cNvSpPr/>
          <p:nvPr/>
        </p:nvSpPr>
        <p:spPr>
          <a:xfrm>
            <a:off x="4754880" y="1330000"/>
            <a:ext cx="73152" cy="3250000"/>
          </a:xfrm>
          <a:prstGeom prst="rect">
            <a:avLst/>
          </a:prstGeom>
          <a:solidFill>
            <a:srgbClr val="1428A0"/>
          </a:solidFill>
          <a:ln cap="flat" cmpd="sng" w="12700">
            <a:solidFill>
              <a:srgbClr val="1428A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2" name="Google Shape;62;p3"/>
          <p:cNvSpPr/>
          <p:nvPr/>
        </p:nvSpPr>
        <p:spPr>
          <a:xfrm>
            <a:off x="713232" y="1450000"/>
            <a:ext cx="3400000" cy="38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5B6478"/>
              </a:buClr>
              <a:buSzPts val="1500"/>
              <a:buFont typeface="Malgun Gothic"/>
              <a:buNone/>
            </a:pPr>
            <a:r>
              <a:rPr b="1" i="0" lang="en-US" sz="1500" u="none" cap="none" strike="noStrike">
                <a:solidFill>
                  <a:srgbClr val="5B6478"/>
                </a:solidFill>
                <a:latin typeface="Arial"/>
                <a:ea typeface="Arial"/>
                <a:cs typeface="Arial"/>
                <a:sym typeface="Arial"/>
              </a:rPr>
              <a:t>기존 방식 (As-Is)</a:t>
            </a:r>
            <a:endParaRPr b="1" i="0" sz="1500" u="none" cap="none" strike="noStrike">
              <a:solidFill>
                <a:srgbClr val="5B6478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3" name="Google Shape;63;p3"/>
          <p:cNvSpPr/>
          <p:nvPr/>
        </p:nvSpPr>
        <p:spPr>
          <a:xfrm>
            <a:off x="5010912" y="1450000"/>
            <a:ext cx="3400000" cy="38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1428A0"/>
              </a:buClr>
              <a:buSzPts val="1500"/>
              <a:buFont typeface="Malgun Gothic"/>
              <a:buNone/>
            </a:pPr>
            <a:r>
              <a:rPr b="1" i="0" lang="en-US" sz="1500" u="none" cap="none" strike="noStrike">
                <a:solidFill>
                  <a:srgbClr val="1428A0"/>
                </a:solidFill>
                <a:latin typeface="Arial"/>
                <a:ea typeface="Arial"/>
                <a:cs typeface="Arial"/>
                <a:sym typeface="Arial"/>
              </a:rPr>
              <a:t>AI 도입 후 (To-Be)</a:t>
            </a:r>
            <a:endParaRPr b="1" i="0" sz="1500" u="none" cap="none" strike="noStrike">
              <a:solidFill>
                <a:srgbClr val="1428A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" name="Google Shape;64;p3"/>
          <p:cNvSpPr/>
          <p:nvPr/>
        </p:nvSpPr>
        <p:spPr>
          <a:xfrm>
            <a:off x="713232" y="1950000"/>
            <a:ext cx="1200000" cy="26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F766E"/>
              </a:buClr>
              <a:buSzPts val="1000"/>
              <a:buFont typeface="Malgun Gothic"/>
              <a:buNone/>
            </a:pPr>
            <a:r>
              <a:rPr b="1" i="0" lang="en-US" sz="1000" u="none" cap="none" strike="noStrike">
                <a:solidFill>
                  <a:srgbClr val="0F766E"/>
                </a:solidFill>
                <a:latin typeface="Arial"/>
                <a:ea typeface="Arial"/>
                <a:cs typeface="Arial"/>
                <a:sym typeface="Arial"/>
              </a:rPr>
              <a:t>속도</a:t>
            </a:r>
            <a:endParaRPr b="1" i="0" sz="1000" u="none" cap="none" strike="noStrike">
              <a:solidFill>
                <a:srgbClr val="0F766E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" name="Google Shape;65;p3"/>
          <p:cNvSpPr/>
          <p:nvPr/>
        </p:nvSpPr>
        <p:spPr>
          <a:xfrm>
            <a:off x="713232" y="2230000"/>
            <a:ext cx="3400000" cy="52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B1020"/>
              </a:buClr>
              <a:buSzPts val="1100"/>
              <a:buFont typeface="Malgun Gothic"/>
              <a:buNone/>
            </a:pPr>
            <a:r>
              <a:rPr b="0" i="0" lang="en-US" sz="1100" u="none" cap="none" strike="noStrike">
                <a:solidFill>
                  <a:srgbClr val="0B1020"/>
                </a:solidFill>
                <a:latin typeface="Arial"/>
                <a:ea typeface="Arial"/>
                <a:cs typeface="Arial"/>
                <a:sym typeface="Arial"/>
              </a:rPr>
              <a:t>카탈로그로는 고객이 원하는 조건의 모델을 찾기 어렵다</a:t>
            </a:r>
            <a:endParaRPr b="0" i="0" sz="1100" u="none" cap="none" strike="noStrike">
              <a:solidFill>
                <a:srgbClr val="0B102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" name="Google Shape;66;p3"/>
          <p:cNvSpPr/>
          <p:nvPr/>
        </p:nvSpPr>
        <p:spPr>
          <a:xfrm>
            <a:off x="5010912" y="1950000"/>
            <a:ext cx="1200000" cy="26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F766E"/>
              </a:buClr>
              <a:buSzPts val="1000"/>
              <a:buFont typeface="Malgun Gothic"/>
              <a:buNone/>
            </a:pPr>
            <a:r>
              <a:rPr b="1" i="0" lang="en-US" sz="1000" u="none" cap="none" strike="noStrike">
                <a:solidFill>
                  <a:srgbClr val="0F766E"/>
                </a:solidFill>
                <a:latin typeface="Arial"/>
                <a:ea typeface="Arial"/>
                <a:cs typeface="Arial"/>
                <a:sym typeface="Arial"/>
              </a:rPr>
              <a:t>속도</a:t>
            </a:r>
            <a:endParaRPr b="1" i="0" sz="1000" u="none" cap="none" strike="noStrike">
              <a:solidFill>
                <a:srgbClr val="0F766E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7" name="Google Shape;67;p3"/>
          <p:cNvSpPr/>
          <p:nvPr/>
        </p:nvSpPr>
        <p:spPr>
          <a:xfrm>
            <a:off x="5010912" y="2230000"/>
            <a:ext cx="3400000" cy="52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B1020"/>
              </a:buClr>
              <a:buSzPts val="1100"/>
              <a:buFont typeface="Malgun Gothic"/>
              <a:buNone/>
            </a:pPr>
            <a:r>
              <a:rPr b="0" i="0" lang="en-US" sz="1100" u="none" cap="none" strike="noStrike">
                <a:solidFill>
                  <a:srgbClr val="0B1020"/>
                </a:solidFill>
                <a:latin typeface="Arial"/>
                <a:ea typeface="Arial"/>
                <a:cs typeface="Arial"/>
                <a:sym typeface="Arial"/>
              </a:rPr>
              <a:t>검색창에 조건을 입력하면 바로 확인된다</a:t>
            </a:r>
            <a:endParaRPr b="0" i="0" sz="1100" u="none" cap="none" strike="noStrike">
              <a:solidFill>
                <a:srgbClr val="0B102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" name="Google Shape;68;p3"/>
          <p:cNvSpPr/>
          <p:nvPr/>
        </p:nvSpPr>
        <p:spPr>
          <a:xfrm>
            <a:off x="713232" y="2750000"/>
            <a:ext cx="1200000" cy="26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1428A0"/>
              </a:buClr>
              <a:buSzPts val="1000"/>
              <a:buFont typeface="Malgun Gothic"/>
              <a:buNone/>
            </a:pPr>
            <a:r>
              <a:rPr b="1" i="0" lang="en-US" sz="1000" u="none" cap="none" strike="noStrike">
                <a:solidFill>
                  <a:srgbClr val="1428A0"/>
                </a:solidFill>
                <a:latin typeface="Arial"/>
                <a:ea typeface="Arial"/>
                <a:cs typeface="Arial"/>
                <a:sym typeface="Arial"/>
              </a:rPr>
              <a:t>정확도</a:t>
            </a:r>
            <a:endParaRPr b="1" i="0" sz="1000" u="none" cap="none" strike="noStrike">
              <a:solidFill>
                <a:srgbClr val="1428A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" name="Google Shape;69;p3"/>
          <p:cNvSpPr/>
          <p:nvPr/>
        </p:nvSpPr>
        <p:spPr>
          <a:xfrm>
            <a:off x="713232" y="3030000"/>
            <a:ext cx="3400000" cy="52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B1020"/>
              </a:buClr>
              <a:buSzPts val="1100"/>
              <a:buFont typeface="Malgun Gothic"/>
              <a:buNone/>
            </a:pPr>
            <a:r>
              <a:rPr b="0" i="0" lang="en-US" sz="1100" u="none" cap="none" strike="noStrike">
                <a:solidFill>
                  <a:srgbClr val="0B1020"/>
                </a:solidFill>
                <a:latin typeface="Arial"/>
                <a:ea typeface="Arial"/>
                <a:cs typeface="Arial"/>
                <a:sym typeface="Arial"/>
              </a:rPr>
              <a:t>설치 제약 조건을 몰라 계약 후 설치 당일 취소된다</a:t>
            </a:r>
            <a:endParaRPr b="0" i="0" sz="1100" u="none" cap="none" strike="noStrike">
              <a:solidFill>
                <a:srgbClr val="0B102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" name="Google Shape;70;p3"/>
          <p:cNvSpPr/>
          <p:nvPr/>
        </p:nvSpPr>
        <p:spPr>
          <a:xfrm>
            <a:off x="5010912" y="2750000"/>
            <a:ext cx="1200000" cy="26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1428A0"/>
              </a:buClr>
              <a:buSzPts val="1000"/>
              <a:buFont typeface="Malgun Gothic"/>
              <a:buNone/>
            </a:pPr>
            <a:r>
              <a:rPr b="1" i="0" lang="en-US" sz="1000" u="none" cap="none" strike="noStrike">
                <a:solidFill>
                  <a:srgbClr val="1428A0"/>
                </a:solidFill>
                <a:latin typeface="Arial"/>
                <a:ea typeface="Arial"/>
                <a:cs typeface="Arial"/>
                <a:sym typeface="Arial"/>
              </a:rPr>
              <a:t>정확도</a:t>
            </a:r>
            <a:endParaRPr b="1" i="0" sz="1000" u="none" cap="none" strike="noStrike">
              <a:solidFill>
                <a:srgbClr val="1428A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1" name="Google Shape;71;p3"/>
          <p:cNvSpPr/>
          <p:nvPr/>
        </p:nvSpPr>
        <p:spPr>
          <a:xfrm>
            <a:off x="5010912" y="3030000"/>
            <a:ext cx="3400000" cy="52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0B1020"/>
                </a:solidFill>
                <a:latin typeface="Arial"/>
                <a:ea typeface="Arial"/>
                <a:cs typeface="Arial"/>
                <a:sym typeface="Arial"/>
              </a:rPr>
              <a:t>판매 전 설치 가이드를 30초 만에 확인한다</a:t>
            </a:r>
            <a:endParaRPr b="0" i="0" sz="1100" u="none" cap="none" strike="noStrike">
              <a:solidFill>
                <a:srgbClr val="0B102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2" name="Google Shape;72;p3"/>
          <p:cNvSpPr/>
          <p:nvPr/>
        </p:nvSpPr>
        <p:spPr>
          <a:xfrm>
            <a:off x="713232" y="3550000"/>
            <a:ext cx="1200000" cy="26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7C2D8F"/>
              </a:buClr>
              <a:buSzPts val="1000"/>
              <a:buFont typeface="Malgun Gothic"/>
              <a:buNone/>
            </a:pPr>
            <a:r>
              <a:rPr b="1" i="0" lang="en-US" sz="1000" u="none" cap="none" strike="noStrike">
                <a:solidFill>
                  <a:srgbClr val="7C2D8F"/>
                </a:solidFill>
                <a:latin typeface="Arial"/>
                <a:ea typeface="Arial"/>
                <a:cs typeface="Arial"/>
                <a:sym typeface="Arial"/>
              </a:rPr>
              <a:t>일관성</a:t>
            </a:r>
            <a:endParaRPr b="1" i="0" sz="1000" u="none" cap="none" strike="noStrike">
              <a:solidFill>
                <a:srgbClr val="7C2D8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3" name="Google Shape;73;p3"/>
          <p:cNvSpPr/>
          <p:nvPr/>
        </p:nvSpPr>
        <p:spPr>
          <a:xfrm>
            <a:off x="713232" y="3830000"/>
            <a:ext cx="3400000" cy="52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B1020"/>
              </a:buClr>
              <a:buSzPts val="2500"/>
              <a:buFont typeface="Malgun Gothic"/>
              <a:buNone/>
            </a:pPr>
            <a:r>
              <a:rPr lang="en-US" sz="1100">
                <a:solidFill>
                  <a:srgbClr val="0B1020"/>
                </a:solidFill>
              </a:rPr>
              <a:t>사람마다 답이 달라 경력 편차가 </a:t>
            </a:r>
            <a:endParaRPr sz="1100">
              <a:solidFill>
                <a:srgbClr val="0B1020"/>
              </a:solidFill>
            </a:endParaRPr>
          </a:p>
          <a:p>
            <a:pPr indent="0" lvl="0" marL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B1020"/>
              </a:buClr>
              <a:buSzPts val="2500"/>
              <a:buFont typeface="Malgun Gothic"/>
              <a:buNone/>
            </a:pPr>
            <a:r>
              <a:rPr lang="en-US" sz="1100">
                <a:solidFill>
                  <a:srgbClr val="0B1020"/>
                </a:solidFill>
              </a:rPr>
              <a:t>그대로 응대 품질 편차가 된다</a:t>
            </a:r>
            <a:endParaRPr i="0" sz="1100" u="none" cap="none" strike="noStrike">
              <a:solidFill>
                <a:srgbClr val="0B1020"/>
              </a:solidFill>
            </a:endParaRPr>
          </a:p>
        </p:txBody>
      </p:sp>
      <p:sp>
        <p:nvSpPr>
          <p:cNvPr id="74" name="Google Shape;74;p3"/>
          <p:cNvSpPr/>
          <p:nvPr/>
        </p:nvSpPr>
        <p:spPr>
          <a:xfrm>
            <a:off x="5010912" y="3550000"/>
            <a:ext cx="1200000" cy="26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7C2D8F"/>
              </a:buClr>
              <a:buSzPts val="1000"/>
              <a:buFont typeface="Malgun Gothic"/>
              <a:buNone/>
            </a:pPr>
            <a:r>
              <a:rPr b="1" i="0" lang="en-US" sz="1000" u="none" cap="none" strike="noStrike">
                <a:solidFill>
                  <a:srgbClr val="7C2D8F"/>
                </a:solidFill>
                <a:latin typeface="Arial"/>
                <a:ea typeface="Arial"/>
                <a:cs typeface="Arial"/>
                <a:sym typeface="Arial"/>
              </a:rPr>
              <a:t>일관성</a:t>
            </a:r>
            <a:endParaRPr b="1" i="0" sz="1000" u="none" cap="none" strike="noStrike">
              <a:solidFill>
                <a:srgbClr val="7C2D8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5" name="Google Shape;75;p3"/>
          <p:cNvSpPr/>
          <p:nvPr/>
        </p:nvSpPr>
        <p:spPr>
          <a:xfrm>
            <a:off x="5010912" y="3830000"/>
            <a:ext cx="3675888" cy="52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B1020"/>
              </a:buClr>
              <a:buSzPts val="1100"/>
              <a:buFont typeface="Malgun Gothic"/>
              <a:buNone/>
            </a:pPr>
            <a:r>
              <a:rPr lang="en-US" sz="1100">
                <a:solidFill>
                  <a:srgbClr val="0B1020"/>
                </a:solidFill>
              </a:rPr>
              <a:t>신입사원도 첫날부터 동일한 수준으로 응대한다</a:t>
            </a:r>
            <a:endParaRPr b="0" i="0" sz="1100" u="none" cap="none" strike="noStrike">
              <a:solidFill>
                <a:srgbClr val="0B102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6" name="Google Shape;76;p3"/>
          <p:cNvSpPr/>
          <p:nvPr/>
        </p:nvSpPr>
        <p:spPr>
          <a:xfrm>
            <a:off x="7132150" y="310891"/>
            <a:ext cx="2011800" cy="255900"/>
          </a:xfrm>
          <a:prstGeom prst="rect">
            <a:avLst/>
          </a:prstGeom>
          <a:solidFill>
            <a:srgbClr val="1428A0"/>
          </a:solidFill>
          <a:ln cap="flat" cmpd="sng" w="12700">
            <a:solidFill>
              <a:srgbClr val="1428A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7" name="Google Shape;77;p3"/>
          <p:cNvSpPr/>
          <p:nvPr/>
        </p:nvSpPr>
        <p:spPr>
          <a:xfrm>
            <a:off x="7172700" y="317335"/>
            <a:ext cx="1971300" cy="255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Malgun Gothic"/>
              <a:buNone/>
            </a:pPr>
            <a:r>
              <a:rPr b="0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세일즈 코파일럿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8" name="Google Shape;78;p3"/>
          <p:cNvSpPr/>
          <p:nvPr/>
        </p:nvSpPr>
        <p:spPr>
          <a:xfrm>
            <a:off x="0" y="5065775"/>
            <a:ext cx="9144000" cy="77700"/>
          </a:xfrm>
          <a:prstGeom prst="rect">
            <a:avLst/>
          </a:prstGeom>
          <a:solidFill>
            <a:srgbClr val="1428A0"/>
          </a:solidFill>
          <a:ln cap="flat" cmpd="sng" w="12700">
            <a:solidFill>
              <a:srgbClr val="1428A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9" name="Google Shape;79;p3"/>
          <p:cNvSpPr/>
          <p:nvPr/>
        </p:nvSpPr>
        <p:spPr>
          <a:xfrm>
            <a:off x="8549648" y="4841350"/>
            <a:ext cx="475800" cy="255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B6478"/>
              </a:buClr>
              <a:buSzPts val="900"/>
              <a:buFont typeface="Malgun Gothic"/>
              <a:buNone/>
            </a:pPr>
            <a:r>
              <a:rPr b="0" i="0" lang="en-US" sz="900" u="none" cap="none" strike="noStrike">
                <a:solidFill>
                  <a:srgbClr val="5B6478"/>
                </a:solidFill>
                <a:latin typeface="Arial"/>
                <a:ea typeface="Arial"/>
                <a:cs typeface="Arial"/>
                <a:sym typeface="Arial"/>
              </a:rPr>
              <a:t>3/10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CF5"/>
        </a:solidFill>
      </p:bgPr>
    </p:bg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g3f6c50b3b74_0_0"/>
          <p:cNvSpPr/>
          <p:nvPr/>
        </p:nvSpPr>
        <p:spPr>
          <a:xfrm>
            <a:off x="457200" y="274320"/>
            <a:ext cx="868800" cy="274200"/>
          </a:xfrm>
          <a:prstGeom prst="roundRect">
            <a:avLst>
              <a:gd fmla="val 50000" name="adj"/>
            </a:avLst>
          </a:prstGeom>
          <a:solidFill>
            <a:srgbClr val="0F766E"/>
          </a:solidFill>
          <a:ln cap="flat" cmpd="sng" w="12700">
            <a:solidFill>
              <a:srgbClr val="0F766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" name="Google Shape;86;g3f6c50b3b74_0_0"/>
          <p:cNvSpPr/>
          <p:nvPr/>
        </p:nvSpPr>
        <p:spPr>
          <a:xfrm>
            <a:off x="457200" y="274320"/>
            <a:ext cx="8688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Malgun Gothic"/>
              <a:buNone/>
            </a:pPr>
            <a:r>
              <a:rPr b="1" i="0" lang="en-US" sz="11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속도</a:t>
            </a:r>
            <a:endParaRPr b="0" i="0" sz="1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" name="Google Shape;87;g3f6c50b3b74_0_0"/>
          <p:cNvSpPr/>
          <p:nvPr/>
        </p:nvSpPr>
        <p:spPr>
          <a:xfrm>
            <a:off x="457200" y="621792"/>
            <a:ext cx="82296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B1020"/>
              </a:buClr>
              <a:buSzPts val="2500"/>
              <a:buFont typeface="Malgun Gothic"/>
              <a:buNone/>
            </a:pPr>
            <a:r>
              <a:rPr b="1" i="0" lang="en-US" sz="2500" u="none" cap="none" strike="noStrike">
                <a:solidFill>
                  <a:srgbClr val="0B1020"/>
                </a:solidFill>
                <a:latin typeface="Arial"/>
                <a:ea typeface="Arial"/>
                <a:cs typeface="Arial"/>
                <a:sym typeface="Arial"/>
              </a:rPr>
              <a:t>상담의</a:t>
            </a:r>
            <a:r>
              <a:rPr b="1" lang="en-US" sz="2500">
                <a:solidFill>
                  <a:srgbClr val="0B1020"/>
                </a:solidFill>
              </a:rPr>
              <a:t> 질을 높이고 시간 낭비를 막아주는</a:t>
            </a:r>
            <a:r>
              <a:rPr b="1" i="0" lang="en-US" sz="2500" u="none" cap="none" strike="noStrike">
                <a:solidFill>
                  <a:srgbClr val="0B1020"/>
                </a:solidFill>
                <a:latin typeface="Arial"/>
                <a:ea typeface="Arial"/>
                <a:cs typeface="Arial"/>
                <a:sym typeface="Arial"/>
              </a:rPr>
              <a:t> 모델파인더</a:t>
            </a:r>
            <a:endParaRPr b="1" i="0" sz="2500" u="none" cap="none" strike="noStrike">
              <a:solidFill>
                <a:srgbClr val="0B102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" name="Google Shape;88;g3f6c50b3b74_0_0"/>
          <p:cNvSpPr/>
          <p:nvPr/>
        </p:nvSpPr>
        <p:spPr>
          <a:xfrm>
            <a:off x="457200" y="1078992"/>
            <a:ext cx="822960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5B6478"/>
              </a:buClr>
              <a:buSzPts val="1250"/>
              <a:buFont typeface="Malgun Gothic"/>
              <a:buNone/>
            </a:pPr>
            <a:r>
              <a:rPr b="0" i="0" lang="en-US" sz="1250" u="none" cap="none" strike="noStrike">
                <a:solidFill>
                  <a:srgbClr val="5B6478"/>
                </a:solidFill>
                <a:latin typeface="Arial"/>
                <a:ea typeface="Arial"/>
                <a:cs typeface="Arial"/>
                <a:sym typeface="Arial"/>
              </a:rPr>
              <a:t>시범 기간 두 번째로 많이 열린 화면 — 120건 · 2위</a:t>
            </a:r>
            <a:endParaRPr b="0" i="0" sz="1250" u="none" cap="none" strike="noStrike">
              <a:solidFill>
                <a:srgbClr val="5B6478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9" name="Google Shape;89;g3f6c50b3b74_0_0"/>
          <p:cNvSpPr/>
          <p:nvPr/>
        </p:nvSpPr>
        <p:spPr>
          <a:xfrm>
            <a:off x="4530475" y="1476725"/>
            <a:ext cx="4365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B1020"/>
              </a:buClr>
              <a:buSzPts val="1200"/>
              <a:buFont typeface="Malgun Gothic"/>
              <a:buNone/>
            </a:pPr>
            <a:r>
              <a:rPr b="1" i="0" lang="en-US" sz="1200" u="none" cap="none" strike="noStrike">
                <a:solidFill>
                  <a:srgbClr val="0B1020"/>
                </a:solidFill>
                <a:latin typeface="Arial"/>
                <a:ea typeface="Arial"/>
                <a:cs typeface="Arial"/>
                <a:sym typeface="Arial"/>
              </a:rPr>
              <a:t>키워드 한 줄이면 조건이 겹쳐 좁혀집니다</a:t>
            </a:r>
            <a:endParaRPr b="1" i="0" sz="1200" u="none" cap="none" strike="noStrike">
              <a:solidFill>
                <a:srgbClr val="0B102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B1020"/>
              </a:buClr>
              <a:buSzPts val="1200"/>
              <a:buFont typeface="Malgun Gothic"/>
              <a:buNone/>
            </a:pPr>
            <a:r>
              <a:rPr b="0" i="0" lang="en-US" sz="1200" u="none" cap="none" strike="noStrike">
                <a:solidFill>
                  <a:srgbClr val="0B1020"/>
                </a:solidFill>
                <a:latin typeface="Arial"/>
                <a:ea typeface="Arial"/>
                <a:cs typeface="Arial"/>
                <a:sym typeface="Arial"/>
              </a:rPr>
              <a:t>(무풍 · 공기청정  — 여러 가지 키워드로 한 번에)</a:t>
            </a:r>
            <a:endParaRPr b="0" i="0" sz="1200" u="none" cap="none" strike="noStrike">
              <a:solidFill>
                <a:srgbClr val="0B102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0" name="Google Shape;90;g3f6c50b3b74_0_0"/>
          <p:cNvSpPr/>
          <p:nvPr/>
        </p:nvSpPr>
        <p:spPr>
          <a:xfrm>
            <a:off x="4530475" y="2052800"/>
            <a:ext cx="4365000" cy="1051500"/>
          </a:xfrm>
          <a:prstGeom prst="rect">
            <a:avLst/>
          </a:prstGeom>
          <a:solidFill>
            <a:srgbClr val="F7F8FB"/>
          </a:solidFill>
          <a:ln cap="flat" cmpd="sng" w="12700">
            <a:solidFill>
              <a:srgbClr val="DDE1E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1" name="Google Shape;91;g3f6c50b3b74_0_0"/>
          <p:cNvSpPr/>
          <p:nvPr/>
        </p:nvSpPr>
        <p:spPr>
          <a:xfrm>
            <a:off x="4673328" y="2052800"/>
            <a:ext cx="4127100" cy="1051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5B6478"/>
              </a:buClr>
              <a:buSzPts val="1150"/>
              <a:buFont typeface="Malgun Gothic"/>
              <a:buNone/>
            </a:pPr>
            <a:r>
              <a:rPr b="1" i="0" lang="en-US" sz="1150" u="none" cap="none" strike="noStrike">
                <a:solidFill>
                  <a:srgbClr val="5B6478"/>
                </a:solidFill>
                <a:latin typeface="Arial"/>
                <a:ea typeface="Arial"/>
                <a:cs typeface="Arial"/>
                <a:sym typeface="Arial"/>
              </a:rPr>
              <a:t>카탈로그를 찾는 시간</a:t>
            </a:r>
            <a:endParaRPr b="1" i="0" sz="1150" u="none" cap="none" strike="noStrike">
              <a:solidFill>
                <a:srgbClr val="5B6478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5B6478"/>
              </a:buClr>
              <a:buSzPts val="1150"/>
              <a:buFont typeface="Malgun Gothic"/>
              <a:buNone/>
            </a:pPr>
            <a:r>
              <a:rPr b="0" i="0" lang="en-US" sz="1150" u="none" cap="none" strike="noStrike">
                <a:solidFill>
                  <a:srgbClr val="5B6478"/>
                </a:solidFill>
                <a:latin typeface="Arial"/>
                <a:ea typeface="Arial"/>
                <a:cs typeface="Arial"/>
                <a:sym typeface="Arial"/>
              </a:rPr>
              <a:t>: 모델명·치수·기능을 기억에서 꺼내야 합니다</a:t>
            </a:r>
            <a:endParaRPr b="0" i="0" sz="1150" u="none" cap="none" strike="noStrike">
              <a:solidFill>
                <a:srgbClr val="5B6478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5B6478"/>
              </a:buClr>
              <a:buSzPts val="1150"/>
              <a:buFont typeface="Malgun Gothic"/>
              <a:buNone/>
            </a:pPr>
            <a:r>
              <a:rPr b="1" i="0" lang="en-US" sz="1150" u="none" cap="none" strike="noStrike">
                <a:solidFill>
                  <a:srgbClr val="5B6478"/>
                </a:solidFill>
                <a:latin typeface="Arial"/>
                <a:ea typeface="Arial"/>
                <a:cs typeface="Arial"/>
                <a:sym typeface="Arial"/>
              </a:rPr>
              <a:t>한 줄 조건 검색 시 모델 리스트 즉시 확인 가능</a:t>
            </a:r>
            <a:endParaRPr b="1" i="0" sz="1150" u="none" cap="none" strike="noStrike">
              <a:solidFill>
                <a:srgbClr val="5B6478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2" name="Google Shape;92;g3f6c50b3b74_0_0"/>
          <p:cNvSpPr/>
          <p:nvPr/>
        </p:nvSpPr>
        <p:spPr>
          <a:xfrm>
            <a:off x="4530475" y="3287245"/>
            <a:ext cx="4365000" cy="402300"/>
          </a:xfrm>
          <a:prstGeom prst="rect">
            <a:avLst/>
          </a:prstGeom>
          <a:solidFill>
            <a:srgbClr val="F7F8FB"/>
          </a:solidFill>
          <a:ln cap="flat" cmpd="sng" w="12700">
            <a:solidFill>
              <a:srgbClr val="DDE1E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3" name="Google Shape;93;g3f6c50b3b74_0_0"/>
          <p:cNvSpPr/>
          <p:nvPr/>
        </p:nvSpPr>
        <p:spPr>
          <a:xfrm>
            <a:off x="4641575" y="3287250"/>
            <a:ext cx="563400" cy="402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5B6478"/>
              </a:buClr>
              <a:buSzPts val="950"/>
              <a:buFont typeface="Malgun Gothic"/>
              <a:buNone/>
            </a:pPr>
            <a:r>
              <a:rPr b="1" i="0" lang="en-US" sz="950" u="none" cap="none" strike="noStrike">
                <a:solidFill>
                  <a:srgbClr val="5B6478"/>
                </a:solidFill>
                <a:latin typeface="Arial"/>
                <a:ea typeface="Arial"/>
                <a:cs typeface="Arial"/>
                <a:sym typeface="Arial"/>
              </a:rPr>
              <a:t>매니저</a:t>
            </a:r>
            <a:endParaRPr b="1" i="0" sz="950" u="none" cap="none" strike="noStrike">
              <a:solidFill>
                <a:srgbClr val="5B6478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4" name="Google Shape;94;g3f6c50b3b74_0_0"/>
          <p:cNvSpPr/>
          <p:nvPr/>
        </p:nvSpPr>
        <p:spPr>
          <a:xfrm>
            <a:off x="5205058" y="3287245"/>
            <a:ext cx="3571200" cy="402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B1020"/>
              </a:buClr>
              <a:buSzPts val="900"/>
              <a:buFont typeface="Malgun Gothic"/>
              <a:buNone/>
            </a:pPr>
            <a:r>
              <a:rPr b="0" i="0" lang="en-US" sz="900" u="none" cap="none" strike="noStrike">
                <a:solidFill>
                  <a:srgbClr val="0B1020"/>
                </a:solidFill>
                <a:latin typeface="Arial"/>
                <a:ea typeface="Arial"/>
                <a:cs typeface="Arial"/>
                <a:sym typeface="Arial"/>
              </a:rPr>
              <a:t>고민하며 낭비하던 시간이 줄어 매끄러운 상담 가능</a:t>
            </a:r>
            <a:endParaRPr b="0" i="0" sz="900" u="none" cap="none" strike="noStrike">
              <a:solidFill>
                <a:srgbClr val="0B102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5" name="Google Shape;95;g3f6c50b3b74_0_0"/>
          <p:cNvSpPr/>
          <p:nvPr/>
        </p:nvSpPr>
        <p:spPr>
          <a:xfrm>
            <a:off x="4530475" y="3744448"/>
            <a:ext cx="4365000" cy="512100"/>
          </a:xfrm>
          <a:prstGeom prst="rect">
            <a:avLst/>
          </a:prstGeom>
          <a:solidFill>
            <a:srgbClr val="0F766E"/>
          </a:solidFill>
          <a:ln cap="flat" cmpd="sng" w="12700">
            <a:solidFill>
              <a:srgbClr val="0F766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6" name="Google Shape;96;g3f6c50b3b74_0_0"/>
          <p:cNvSpPr/>
          <p:nvPr/>
        </p:nvSpPr>
        <p:spPr>
          <a:xfrm>
            <a:off x="4641583" y="3744448"/>
            <a:ext cx="515700" cy="512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50"/>
              <a:buFont typeface="Malgun Gothic"/>
              <a:buNone/>
            </a:pPr>
            <a:r>
              <a:rPr b="1" i="0" lang="en-US" sz="9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지점</a:t>
            </a:r>
            <a:endParaRPr b="1" i="0" sz="95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7" name="Google Shape;97;g3f6c50b3b74_0_0"/>
          <p:cNvSpPr/>
          <p:nvPr/>
        </p:nvSpPr>
        <p:spPr>
          <a:xfrm>
            <a:off x="5205058" y="3744448"/>
            <a:ext cx="3571200" cy="512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Malgun Gothic"/>
              <a:buNone/>
            </a:pPr>
            <a:r>
              <a:rPr b="1" i="0" lang="en-US" sz="12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응대 회전율 — 응대 가능 고객 수 증가</a:t>
            </a:r>
            <a:endParaRPr b="1" i="0" sz="12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98" name="Google Shape;98;g3f6c50b3b74_0_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83739" y="1788749"/>
            <a:ext cx="3876000" cy="2422500"/>
          </a:xfrm>
          <a:prstGeom prst="rect">
            <a:avLst/>
          </a:prstGeom>
          <a:noFill/>
          <a:ln cap="flat" cmpd="sng" w="9525">
            <a:solidFill>
              <a:srgbClr val="DDE1EC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99" name="Google Shape;99;g3f6c50b3b74_0_0"/>
          <p:cNvSpPr/>
          <p:nvPr/>
        </p:nvSpPr>
        <p:spPr>
          <a:xfrm>
            <a:off x="7132150" y="310891"/>
            <a:ext cx="2011800" cy="255900"/>
          </a:xfrm>
          <a:prstGeom prst="rect">
            <a:avLst/>
          </a:prstGeom>
          <a:solidFill>
            <a:srgbClr val="1428A0"/>
          </a:solidFill>
          <a:ln cap="flat" cmpd="sng" w="12700">
            <a:solidFill>
              <a:srgbClr val="1428A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0" name="Google Shape;100;g3f6c50b3b74_0_0"/>
          <p:cNvSpPr/>
          <p:nvPr/>
        </p:nvSpPr>
        <p:spPr>
          <a:xfrm>
            <a:off x="7172700" y="317335"/>
            <a:ext cx="1971300" cy="255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Malgun Gothic"/>
              <a:buNone/>
            </a:pPr>
            <a:r>
              <a:rPr b="0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세일즈 코파일럿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1" name="Google Shape;101;g3f6c50b3b74_0_0"/>
          <p:cNvSpPr/>
          <p:nvPr/>
        </p:nvSpPr>
        <p:spPr>
          <a:xfrm>
            <a:off x="0" y="5065775"/>
            <a:ext cx="9144000" cy="77700"/>
          </a:xfrm>
          <a:prstGeom prst="rect">
            <a:avLst/>
          </a:prstGeom>
          <a:solidFill>
            <a:srgbClr val="1428A0"/>
          </a:solidFill>
          <a:ln cap="flat" cmpd="sng" w="12700">
            <a:solidFill>
              <a:srgbClr val="1428A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2" name="Google Shape;102;g3f6c50b3b74_0_0"/>
          <p:cNvSpPr/>
          <p:nvPr/>
        </p:nvSpPr>
        <p:spPr>
          <a:xfrm>
            <a:off x="8549648" y="4841350"/>
            <a:ext cx="475800" cy="255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B6478"/>
              </a:buClr>
              <a:buSzPts val="900"/>
              <a:buFont typeface="Malgun Gothic"/>
              <a:buNone/>
            </a:pPr>
            <a:r>
              <a:rPr b="0" i="0" lang="en-US" sz="900" u="none" cap="none" strike="noStrike">
                <a:solidFill>
                  <a:srgbClr val="5B6478"/>
                </a:solidFill>
                <a:latin typeface="Arial"/>
                <a:ea typeface="Arial"/>
                <a:cs typeface="Arial"/>
                <a:sym typeface="Arial"/>
              </a:rPr>
              <a:t>4/10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CF5"/>
        </a:solidFill>
      </p:bgPr>
    </p:bg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g3f6c50b3b74_0_56"/>
          <p:cNvSpPr/>
          <p:nvPr/>
        </p:nvSpPr>
        <p:spPr>
          <a:xfrm>
            <a:off x="457200" y="274320"/>
            <a:ext cx="868800" cy="274200"/>
          </a:xfrm>
          <a:prstGeom prst="roundRect">
            <a:avLst>
              <a:gd fmla="val 50000" name="adj"/>
            </a:avLst>
          </a:prstGeom>
          <a:solidFill>
            <a:srgbClr val="1428A0"/>
          </a:solidFill>
          <a:ln cap="flat" cmpd="sng" w="12700">
            <a:solidFill>
              <a:srgbClr val="1428A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8" name="Google Shape;108;g3f6c50b3b74_0_56"/>
          <p:cNvSpPr/>
          <p:nvPr/>
        </p:nvSpPr>
        <p:spPr>
          <a:xfrm>
            <a:off x="457200" y="274320"/>
            <a:ext cx="8688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Malgun Gothic"/>
              <a:buNone/>
            </a:pPr>
            <a:r>
              <a:rPr b="1" i="0" lang="en-US" sz="11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정확도</a:t>
            </a:r>
            <a:endParaRPr b="0" i="0" sz="1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9" name="Google Shape;109;g3f6c50b3b74_0_56"/>
          <p:cNvSpPr/>
          <p:nvPr/>
        </p:nvSpPr>
        <p:spPr>
          <a:xfrm>
            <a:off x="457200" y="621792"/>
            <a:ext cx="82296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B1020"/>
              </a:buClr>
              <a:buSzPts val="2500"/>
              <a:buFont typeface="Malgun Gothic"/>
              <a:buNone/>
            </a:pPr>
            <a:r>
              <a:rPr b="1" i="0" lang="en-US" sz="2500" u="none" cap="none" strike="noStrike">
                <a:solidFill>
                  <a:srgbClr val="0B1020"/>
                </a:solidFill>
                <a:latin typeface="Arial"/>
                <a:ea typeface="Arial"/>
                <a:cs typeface="Arial"/>
                <a:sym typeface="Arial"/>
              </a:rPr>
              <a:t>설치 조건을 계약 전에 확인</a:t>
            </a:r>
            <a:endParaRPr b="1" i="0" sz="2500" u="none" cap="none" strike="noStrike">
              <a:solidFill>
                <a:srgbClr val="0B102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0" name="Google Shape;110;g3f6c50b3b74_0_56"/>
          <p:cNvSpPr/>
          <p:nvPr/>
        </p:nvSpPr>
        <p:spPr>
          <a:xfrm>
            <a:off x="457200" y="1078992"/>
            <a:ext cx="822960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5B6478"/>
              </a:buClr>
              <a:buSzPts val="1250"/>
              <a:buFont typeface="Malgun Gothic"/>
              <a:buNone/>
            </a:pPr>
            <a:r>
              <a:rPr b="0" i="0" lang="en-US" sz="1250" u="none" cap="none" strike="noStrike">
                <a:solidFill>
                  <a:srgbClr val="5B6478"/>
                </a:solidFill>
                <a:latin typeface="Arial"/>
                <a:ea typeface="Arial"/>
                <a:cs typeface="Arial"/>
                <a:sym typeface="Arial"/>
              </a:rPr>
              <a:t>시범 기간 가장 많이 열린 화면 — 128건 · 1위</a:t>
            </a:r>
            <a:endParaRPr b="0" i="0" sz="1250" u="none" cap="none" strike="noStrike">
              <a:solidFill>
                <a:srgbClr val="5B6478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1" name="Google Shape;111;g3f6c50b3b74_0_56"/>
          <p:cNvSpPr/>
          <p:nvPr/>
        </p:nvSpPr>
        <p:spPr>
          <a:xfrm>
            <a:off x="4530475" y="1476725"/>
            <a:ext cx="4365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B1020"/>
              </a:buClr>
              <a:buSzPts val="1200"/>
              <a:buFont typeface="Malgun Gothic"/>
              <a:buNone/>
            </a:pPr>
            <a:r>
              <a:rPr b="1" i="0" lang="en-US" sz="1200" u="none" cap="none" strike="noStrike">
                <a:solidFill>
                  <a:srgbClr val="0B1020"/>
                </a:solidFill>
                <a:latin typeface="Arial"/>
                <a:ea typeface="Arial"/>
                <a:cs typeface="Arial"/>
                <a:sym typeface="Arial"/>
              </a:rPr>
              <a:t>한눈에 확인하는 제품별 설치 가이드</a:t>
            </a:r>
            <a:endParaRPr b="1" i="0" sz="1200" u="none" cap="none" strike="noStrike">
              <a:solidFill>
                <a:srgbClr val="0B102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B1020"/>
              </a:buClr>
              <a:buSzPts val="1200"/>
              <a:buFont typeface="Malgun Gothic"/>
              <a:buNone/>
            </a:pPr>
            <a:r>
              <a:rPr b="0" i="0" lang="en-US" sz="1200" u="none" cap="none" strike="noStrike">
                <a:solidFill>
                  <a:srgbClr val="0B1020"/>
                </a:solidFill>
                <a:latin typeface="Arial"/>
                <a:ea typeface="Arial"/>
                <a:cs typeface="Arial"/>
                <a:sym typeface="Arial"/>
              </a:rPr>
              <a:t>(21개 카테고리 · 전기 · 배수 · 이격 · 문 폭 사이즈)</a:t>
            </a:r>
            <a:endParaRPr b="0" i="0" sz="1200" u="none" cap="none" strike="noStrike">
              <a:solidFill>
                <a:srgbClr val="0B102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2" name="Google Shape;112;g3f6c50b3b74_0_56"/>
          <p:cNvSpPr/>
          <p:nvPr/>
        </p:nvSpPr>
        <p:spPr>
          <a:xfrm>
            <a:off x="4530475" y="2052800"/>
            <a:ext cx="4365000" cy="1051500"/>
          </a:xfrm>
          <a:prstGeom prst="rect">
            <a:avLst/>
          </a:prstGeom>
          <a:solidFill>
            <a:srgbClr val="F7F8FB"/>
          </a:solidFill>
          <a:ln cap="flat" cmpd="sng" w="12700">
            <a:solidFill>
              <a:srgbClr val="DDE1E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3" name="Google Shape;113;g3f6c50b3b74_0_56"/>
          <p:cNvSpPr/>
          <p:nvPr/>
        </p:nvSpPr>
        <p:spPr>
          <a:xfrm>
            <a:off x="4673328" y="2052800"/>
            <a:ext cx="4127100" cy="1051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5B6478"/>
              </a:buClr>
              <a:buSzPts val="1150"/>
              <a:buFont typeface="Malgun Gothic"/>
              <a:buNone/>
            </a:pPr>
            <a:r>
              <a:rPr b="1" i="0" lang="en-US" sz="1150" u="none" cap="none" strike="noStrike">
                <a:solidFill>
                  <a:srgbClr val="5B6478"/>
                </a:solidFill>
                <a:latin typeface="Arial"/>
                <a:ea typeface="Arial"/>
                <a:cs typeface="Arial"/>
                <a:sym typeface="Arial"/>
              </a:rPr>
              <a:t>설치 불가 시 손실</a:t>
            </a:r>
            <a:endParaRPr b="1" i="0" sz="1150" u="none" cap="none" strike="noStrike">
              <a:solidFill>
                <a:srgbClr val="5B6478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5B6478"/>
              </a:buClr>
              <a:buSzPts val="1150"/>
              <a:buFont typeface="Malgun Gothic"/>
              <a:buNone/>
            </a:pPr>
            <a:r>
              <a:rPr b="0" i="0" lang="en-US" sz="1150" u="none" cap="none" strike="noStrike">
                <a:solidFill>
                  <a:srgbClr val="5B6478"/>
                </a:solidFill>
                <a:latin typeface="Arial"/>
                <a:ea typeface="Arial"/>
                <a:cs typeface="Arial"/>
                <a:sym typeface="Arial"/>
              </a:rPr>
              <a:t>: 기사 재방문 비용, 일정 재조정 시간, 반품 손해 비용 등</a:t>
            </a:r>
            <a:endParaRPr b="0" i="0" sz="1150" u="none" cap="none" strike="noStrike">
              <a:solidFill>
                <a:srgbClr val="5B6478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5B6478"/>
              </a:buClr>
              <a:buSzPts val="1150"/>
              <a:buFont typeface="Malgun Gothic"/>
              <a:buNone/>
            </a:pPr>
            <a:r>
              <a:rPr b="1" i="0" lang="en-US" sz="1150" u="none" cap="none" strike="noStrike">
                <a:solidFill>
                  <a:srgbClr val="5B6478"/>
                </a:solidFill>
                <a:latin typeface="Arial"/>
                <a:ea typeface="Arial"/>
                <a:cs typeface="Arial"/>
                <a:sym typeface="Arial"/>
              </a:rPr>
              <a:t>판매 전 30초</a:t>
            </a:r>
            <a:r>
              <a:rPr b="1" lang="en-US" sz="1150">
                <a:solidFill>
                  <a:srgbClr val="5B6478"/>
                </a:solidFill>
              </a:rPr>
              <a:t> 확인이면 그 비용을 만회합니다</a:t>
            </a:r>
            <a:endParaRPr b="1" i="0" sz="1150" u="none" cap="none" strike="noStrike">
              <a:solidFill>
                <a:srgbClr val="5B6478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4" name="Google Shape;114;g3f6c50b3b74_0_56"/>
          <p:cNvSpPr/>
          <p:nvPr/>
        </p:nvSpPr>
        <p:spPr>
          <a:xfrm>
            <a:off x="4530475" y="3287245"/>
            <a:ext cx="4365000" cy="402300"/>
          </a:xfrm>
          <a:prstGeom prst="rect">
            <a:avLst/>
          </a:prstGeom>
          <a:solidFill>
            <a:srgbClr val="F7F8FB"/>
          </a:solidFill>
          <a:ln cap="flat" cmpd="sng" w="12700">
            <a:solidFill>
              <a:srgbClr val="DDE1E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5" name="Google Shape;115;g3f6c50b3b74_0_56"/>
          <p:cNvSpPr/>
          <p:nvPr/>
        </p:nvSpPr>
        <p:spPr>
          <a:xfrm>
            <a:off x="4641575" y="3287250"/>
            <a:ext cx="563400" cy="402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5B6478"/>
              </a:buClr>
              <a:buSzPts val="950"/>
              <a:buFont typeface="Malgun Gothic"/>
              <a:buNone/>
            </a:pPr>
            <a:r>
              <a:rPr b="1" i="0" lang="en-US" sz="950" u="none" cap="none" strike="noStrike">
                <a:solidFill>
                  <a:srgbClr val="5B6478"/>
                </a:solidFill>
                <a:latin typeface="Arial"/>
                <a:ea typeface="Arial"/>
                <a:cs typeface="Arial"/>
                <a:sym typeface="Arial"/>
              </a:rPr>
              <a:t>매니저</a:t>
            </a:r>
            <a:endParaRPr b="1" i="0" sz="950" u="none" cap="none" strike="noStrike">
              <a:solidFill>
                <a:srgbClr val="5B6478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6" name="Google Shape;116;g3f6c50b3b74_0_56"/>
          <p:cNvSpPr/>
          <p:nvPr/>
        </p:nvSpPr>
        <p:spPr>
          <a:xfrm>
            <a:off x="5205058" y="3287245"/>
            <a:ext cx="3571200" cy="402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B1020"/>
              </a:buClr>
              <a:buSzPts val="900"/>
              <a:buFont typeface="Malgun Gothic"/>
              <a:buNone/>
            </a:pPr>
            <a:r>
              <a:rPr b="0" i="0" lang="en-US" sz="900" u="none" cap="none" strike="noStrike">
                <a:solidFill>
                  <a:srgbClr val="0B1020"/>
                </a:solidFill>
                <a:latin typeface="Arial"/>
                <a:ea typeface="Arial"/>
                <a:cs typeface="Arial"/>
                <a:sym typeface="Arial"/>
              </a:rPr>
              <a:t>설치 조건을 확인함으로</a:t>
            </a:r>
            <a:r>
              <a:rPr lang="en-US" sz="900">
                <a:solidFill>
                  <a:srgbClr val="0B1020"/>
                </a:solidFill>
              </a:rPr>
              <a:t>써</a:t>
            </a:r>
            <a:r>
              <a:rPr b="0" i="0" lang="en-US" sz="900" u="none" cap="none" strike="noStrike">
                <a:solidFill>
                  <a:srgbClr val="0B1020"/>
                </a:solidFill>
                <a:latin typeface="Arial"/>
                <a:ea typeface="Arial"/>
                <a:cs typeface="Arial"/>
                <a:sym typeface="Arial"/>
              </a:rPr>
              <a:t> 설치 불가로 인한 취소 확률을 낮춤</a:t>
            </a:r>
            <a:endParaRPr b="0" i="0" sz="900" u="none" cap="none" strike="noStrike">
              <a:solidFill>
                <a:srgbClr val="0B102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7" name="Google Shape;117;g3f6c50b3b74_0_56"/>
          <p:cNvSpPr/>
          <p:nvPr/>
        </p:nvSpPr>
        <p:spPr>
          <a:xfrm>
            <a:off x="4530475" y="3744448"/>
            <a:ext cx="4365000" cy="512100"/>
          </a:xfrm>
          <a:prstGeom prst="rect">
            <a:avLst/>
          </a:prstGeom>
          <a:solidFill>
            <a:srgbClr val="1428A0"/>
          </a:solidFill>
          <a:ln cap="flat" cmpd="sng" w="12700">
            <a:solidFill>
              <a:srgbClr val="1428A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8" name="Google Shape;118;g3f6c50b3b74_0_56"/>
          <p:cNvSpPr/>
          <p:nvPr/>
        </p:nvSpPr>
        <p:spPr>
          <a:xfrm>
            <a:off x="4641583" y="3744448"/>
            <a:ext cx="515700" cy="512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50"/>
              <a:buFont typeface="Malgun Gothic"/>
              <a:buNone/>
            </a:pPr>
            <a:r>
              <a:rPr b="1" i="0" lang="en-US" sz="9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지점</a:t>
            </a:r>
            <a:endParaRPr b="1" i="0" sz="95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g3f6c50b3b74_0_56"/>
          <p:cNvSpPr/>
          <p:nvPr/>
        </p:nvSpPr>
        <p:spPr>
          <a:xfrm>
            <a:off x="5205058" y="3744448"/>
            <a:ext cx="3571200" cy="512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Malgun Gothic"/>
              <a:buNone/>
            </a:pPr>
            <a:r>
              <a:rPr b="1" i="0" lang="en-US" sz="12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설치 재방문 · 일정 재조정 · 설치 불가 취소 감소</a:t>
            </a:r>
            <a:endParaRPr b="1" i="0" sz="12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0" name="Google Shape;120;g3f6c50b3b74_0_5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3652" y="1502849"/>
            <a:ext cx="1538087" cy="2994300"/>
          </a:xfrm>
          <a:prstGeom prst="rect">
            <a:avLst/>
          </a:prstGeom>
          <a:noFill/>
          <a:ln cap="flat" cmpd="sng" w="9525">
            <a:solidFill>
              <a:srgbClr val="DDE1EC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121" name="Google Shape;121;g3f6c50b3b74_0_5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481739" y="1502849"/>
            <a:ext cx="1538087" cy="2994300"/>
          </a:xfrm>
          <a:prstGeom prst="rect">
            <a:avLst/>
          </a:prstGeom>
          <a:noFill/>
          <a:ln cap="flat" cmpd="sng" w="9525">
            <a:solidFill>
              <a:srgbClr val="DDE1EC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22" name="Google Shape;122;g3f6c50b3b74_0_56"/>
          <p:cNvSpPr/>
          <p:nvPr/>
        </p:nvSpPr>
        <p:spPr>
          <a:xfrm>
            <a:off x="7132150" y="310891"/>
            <a:ext cx="2011800" cy="255900"/>
          </a:xfrm>
          <a:prstGeom prst="rect">
            <a:avLst/>
          </a:prstGeom>
          <a:solidFill>
            <a:srgbClr val="1428A0"/>
          </a:solidFill>
          <a:ln cap="flat" cmpd="sng" w="12700">
            <a:solidFill>
              <a:srgbClr val="1428A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3" name="Google Shape;123;g3f6c50b3b74_0_56"/>
          <p:cNvSpPr/>
          <p:nvPr/>
        </p:nvSpPr>
        <p:spPr>
          <a:xfrm>
            <a:off x="7172700" y="317335"/>
            <a:ext cx="1971300" cy="255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Malgun Gothic"/>
              <a:buNone/>
            </a:pPr>
            <a:r>
              <a:rPr b="0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세일즈 코파일럿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4" name="Google Shape;124;g3f6c50b3b74_0_56"/>
          <p:cNvSpPr/>
          <p:nvPr/>
        </p:nvSpPr>
        <p:spPr>
          <a:xfrm>
            <a:off x="0" y="5065775"/>
            <a:ext cx="9144000" cy="77700"/>
          </a:xfrm>
          <a:prstGeom prst="rect">
            <a:avLst/>
          </a:prstGeom>
          <a:solidFill>
            <a:srgbClr val="1428A0"/>
          </a:solidFill>
          <a:ln cap="flat" cmpd="sng" w="12700">
            <a:solidFill>
              <a:srgbClr val="1428A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5" name="Google Shape;125;g3f6c50b3b74_0_56"/>
          <p:cNvSpPr/>
          <p:nvPr/>
        </p:nvSpPr>
        <p:spPr>
          <a:xfrm>
            <a:off x="8549648" y="4841350"/>
            <a:ext cx="475800" cy="255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B6478"/>
              </a:buClr>
              <a:buSzPts val="900"/>
              <a:buFont typeface="Malgun Gothic"/>
              <a:buNone/>
            </a:pPr>
            <a:r>
              <a:rPr b="0" i="0" lang="en-US" sz="900" u="none" cap="none" strike="noStrike">
                <a:solidFill>
                  <a:srgbClr val="5B6478"/>
                </a:solidFill>
                <a:latin typeface="Arial"/>
                <a:ea typeface="Arial"/>
                <a:cs typeface="Arial"/>
                <a:sym typeface="Arial"/>
              </a:rPr>
              <a:t>5/10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CF5"/>
        </a:solidFill>
      </p:bgPr>
    </p:bg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5"/>
          <p:cNvSpPr/>
          <p:nvPr/>
        </p:nvSpPr>
        <p:spPr>
          <a:xfrm>
            <a:off x="457200" y="274320"/>
            <a:ext cx="868800" cy="274200"/>
          </a:xfrm>
          <a:prstGeom prst="roundRect">
            <a:avLst>
              <a:gd fmla="val 50000" name="adj"/>
            </a:avLst>
          </a:prstGeom>
          <a:solidFill>
            <a:srgbClr val="7C2D8F"/>
          </a:solidFill>
          <a:ln cap="flat" cmpd="sng" w="12700">
            <a:solidFill>
              <a:srgbClr val="7C2D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1" name="Google Shape;131;p5"/>
          <p:cNvSpPr/>
          <p:nvPr/>
        </p:nvSpPr>
        <p:spPr>
          <a:xfrm>
            <a:off x="457200" y="274320"/>
            <a:ext cx="8688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Malgun Gothic"/>
              <a:buNone/>
            </a:pPr>
            <a:r>
              <a:rPr b="1" i="0" lang="en-US" sz="11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일관성</a:t>
            </a:r>
            <a:endParaRPr b="0" i="0" sz="1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2" name="Google Shape;132;p5"/>
          <p:cNvSpPr/>
          <p:nvPr/>
        </p:nvSpPr>
        <p:spPr>
          <a:xfrm>
            <a:off x="457200" y="621792"/>
            <a:ext cx="82296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B1020"/>
              </a:buClr>
              <a:buSzPts val="2500"/>
              <a:buFont typeface="Malgun Gothic"/>
              <a:buNone/>
            </a:pPr>
            <a:r>
              <a:rPr b="1" i="0" lang="en-US" sz="2500" u="none" cap="none" strike="noStrike">
                <a:solidFill>
                  <a:srgbClr val="0B1020"/>
                </a:solidFill>
                <a:latin typeface="Arial"/>
                <a:ea typeface="Arial"/>
                <a:cs typeface="Arial"/>
                <a:sym typeface="Arial"/>
              </a:rPr>
              <a:t>누가 응대해도 같은 답이 나온다</a:t>
            </a:r>
            <a:endParaRPr b="1" i="0" sz="2500" u="none" cap="none" strike="noStrike">
              <a:solidFill>
                <a:srgbClr val="0B102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3" name="Google Shape;133;p5"/>
          <p:cNvSpPr/>
          <p:nvPr/>
        </p:nvSpPr>
        <p:spPr>
          <a:xfrm>
            <a:off x="457200" y="1078992"/>
            <a:ext cx="822960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5B6478"/>
              </a:buClr>
              <a:buSzPts val="1250"/>
              <a:buFont typeface="Malgun Gothic"/>
              <a:buNone/>
            </a:pPr>
            <a:r>
              <a:rPr lang="en-US" sz="1250">
                <a:solidFill>
                  <a:srgbClr val="5B6478"/>
                </a:solidFill>
              </a:rPr>
              <a:t>지점장이 일일이 확인할 수 없던 정보 편차가 사라집니다</a:t>
            </a:r>
            <a:endParaRPr b="0" i="0" sz="1250" u="none" cap="none" strike="noStrike">
              <a:solidFill>
                <a:srgbClr val="5B6478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4" name="Google Shape;134;p5"/>
          <p:cNvSpPr/>
          <p:nvPr/>
        </p:nvSpPr>
        <p:spPr>
          <a:xfrm>
            <a:off x="4530475" y="1476725"/>
            <a:ext cx="4365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B1020"/>
              </a:buClr>
              <a:buSzPts val="1200"/>
              <a:buFont typeface="Malgun Gothic"/>
              <a:buNone/>
            </a:pPr>
            <a:r>
              <a:rPr b="1" i="0" lang="en-US" sz="1200" u="none" cap="none" strike="noStrike">
                <a:solidFill>
                  <a:srgbClr val="0B1020"/>
                </a:solidFill>
                <a:latin typeface="Arial"/>
                <a:ea typeface="Arial"/>
                <a:cs typeface="Arial"/>
                <a:sym typeface="Arial"/>
              </a:rPr>
              <a:t>어느 매장에서 사용하더라도 동일한 화면</a:t>
            </a:r>
            <a:endParaRPr b="1" i="0" sz="1200" u="none" cap="none" strike="noStrike">
              <a:solidFill>
                <a:srgbClr val="0B102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B1020"/>
              </a:buClr>
              <a:buSzPts val="1200"/>
              <a:buFont typeface="Malgun Gothic"/>
              <a:buNone/>
            </a:pPr>
            <a:r>
              <a:rPr b="0" i="0" lang="en-US" sz="1200" u="none" cap="none" strike="noStrike">
                <a:solidFill>
                  <a:srgbClr val="0B1020"/>
                </a:solidFill>
                <a:latin typeface="Arial"/>
                <a:ea typeface="Arial"/>
                <a:cs typeface="Arial"/>
                <a:sym typeface="Arial"/>
              </a:rPr>
              <a:t>(</a:t>
            </a:r>
            <a:r>
              <a:rPr lang="en-US" sz="1200">
                <a:solidFill>
                  <a:srgbClr val="0B1020"/>
                </a:solidFill>
              </a:rPr>
              <a:t>제품 상세검색</a:t>
            </a:r>
            <a:r>
              <a:rPr b="0" i="0" lang="en-US" sz="1200" u="none" cap="none" strike="noStrike">
                <a:solidFill>
                  <a:srgbClr val="0B1020"/>
                </a:solidFill>
                <a:latin typeface="Arial"/>
                <a:ea typeface="Arial"/>
                <a:cs typeface="Arial"/>
                <a:sym typeface="Arial"/>
              </a:rPr>
              <a:t> · 설치환경 · 타사비교 · AS · </a:t>
            </a:r>
            <a:r>
              <a:rPr lang="en-US" sz="1200">
                <a:solidFill>
                  <a:srgbClr val="0B1020"/>
                </a:solidFill>
              </a:rPr>
              <a:t>AI</a:t>
            </a:r>
            <a:r>
              <a:rPr b="0" i="0" lang="en-US" sz="1200" u="none" cap="none" strike="noStrike">
                <a:solidFill>
                  <a:srgbClr val="0B1020"/>
                </a:solidFill>
                <a:latin typeface="Arial"/>
                <a:ea typeface="Arial"/>
                <a:cs typeface="Arial"/>
                <a:sym typeface="Arial"/>
              </a:rPr>
              <a:t>구독 케어)</a:t>
            </a:r>
            <a:endParaRPr b="0" i="0" sz="1200" u="none" cap="none" strike="noStrike">
              <a:solidFill>
                <a:srgbClr val="0B102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5" name="Google Shape;135;p5"/>
          <p:cNvSpPr/>
          <p:nvPr/>
        </p:nvSpPr>
        <p:spPr>
          <a:xfrm>
            <a:off x="4530475" y="2052800"/>
            <a:ext cx="4365000" cy="1051500"/>
          </a:xfrm>
          <a:prstGeom prst="rect">
            <a:avLst/>
          </a:prstGeom>
          <a:solidFill>
            <a:srgbClr val="F7F8FB"/>
          </a:solidFill>
          <a:ln cap="flat" cmpd="sng" w="12700">
            <a:solidFill>
              <a:srgbClr val="DDE1E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6" name="Google Shape;136;p5"/>
          <p:cNvSpPr/>
          <p:nvPr/>
        </p:nvSpPr>
        <p:spPr>
          <a:xfrm>
            <a:off x="4673328" y="2052800"/>
            <a:ext cx="4127100" cy="1051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5B6478"/>
              </a:buClr>
              <a:buSzPts val="1150"/>
              <a:buFont typeface="Malgun Gothic"/>
              <a:buNone/>
            </a:pPr>
            <a:r>
              <a:rPr b="1" i="0" lang="en-US" sz="1150" u="none" cap="none" strike="noStrike">
                <a:solidFill>
                  <a:srgbClr val="5B6478"/>
                </a:solidFill>
                <a:latin typeface="Arial"/>
                <a:ea typeface="Arial"/>
                <a:cs typeface="Arial"/>
                <a:sym typeface="Arial"/>
              </a:rPr>
              <a:t>사람마다 답이 다르면</a:t>
            </a:r>
            <a:endParaRPr b="1" i="0" sz="1150" u="none" cap="none" strike="noStrike">
              <a:solidFill>
                <a:srgbClr val="5B6478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5B6478"/>
              </a:buClr>
              <a:buSzPts val="1150"/>
              <a:buFont typeface="Malgun Gothic"/>
              <a:buNone/>
            </a:pPr>
            <a:r>
              <a:rPr b="0" i="0" lang="en-US" sz="1150" u="none" cap="none" strike="noStrike">
                <a:solidFill>
                  <a:srgbClr val="5B6478"/>
                </a:solidFill>
                <a:latin typeface="Arial"/>
                <a:ea typeface="Arial"/>
                <a:cs typeface="Arial"/>
                <a:sym typeface="Arial"/>
              </a:rPr>
              <a:t>: 경력 편차가 곧 응대 품질 편차가 됩니다</a:t>
            </a:r>
            <a:endParaRPr b="1" i="0" sz="1150" u="none" cap="none" strike="noStrike">
              <a:solidFill>
                <a:srgbClr val="5B6478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7" name="Google Shape;137;p5"/>
          <p:cNvSpPr/>
          <p:nvPr/>
        </p:nvSpPr>
        <p:spPr>
          <a:xfrm>
            <a:off x="4530475" y="3287245"/>
            <a:ext cx="4365000" cy="402300"/>
          </a:xfrm>
          <a:prstGeom prst="rect">
            <a:avLst/>
          </a:prstGeom>
          <a:solidFill>
            <a:srgbClr val="F7F8FB"/>
          </a:solidFill>
          <a:ln cap="flat" cmpd="sng" w="12700">
            <a:solidFill>
              <a:srgbClr val="DDE1E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8" name="Google Shape;138;p5"/>
          <p:cNvSpPr/>
          <p:nvPr/>
        </p:nvSpPr>
        <p:spPr>
          <a:xfrm>
            <a:off x="4641575" y="3287250"/>
            <a:ext cx="563400" cy="402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5B6478"/>
              </a:buClr>
              <a:buSzPts val="950"/>
              <a:buFont typeface="Malgun Gothic"/>
              <a:buNone/>
            </a:pPr>
            <a:r>
              <a:rPr b="1" i="0" lang="en-US" sz="950" u="none" cap="none" strike="noStrike">
                <a:solidFill>
                  <a:srgbClr val="5B6478"/>
                </a:solidFill>
                <a:latin typeface="Arial"/>
                <a:ea typeface="Arial"/>
                <a:cs typeface="Arial"/>
                <a:sym typeface="Arial"/>
              </a:rPr>
              <a:t>매니저</a:t>
            </a:r>
            <a:endParaRPr b="1" i="0" sz="950" u="none" cap="none" strike="noStrike">
              <a:solidFill>
                <a:srgbClr val="5B6478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9" name="Google Shape;139;p5"/>
          <p:cNvSpPr/>
          <p:nvPr/>
        </p:nvSpPr>
        <p:spPr>
          <a:xfrm>
            <a:off x="5205058" y="3287245"/>
            <a:ext cx="3571200" cy="402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B1020"/>
              </a:buClr>
              <a:buSzPts val="900"/>
              <a:buFont typeface="Malgun Gothic"/>
              <a:buNone/>
            </a:pPr>
            <a:r>
              <a:rPr b="0" i="0" lang="en-US" sz="900" u="none" cap="none" strike="noStrike">
                <a:solidFill>
                  <a:srgbClr val="0B1020"/>
                </a:solidFill>
                <a:latin typeface="Arial"/>
                <a:ea typeface="Arial"/>
                <a:cs typeface="Arial"/>
                <a:sym typeface="Arial"/>
              </a:rPr>
              <a:t>외워서 답하지 않고, 같은 화면을 보고 응대합니다</a:t>
            </a:r>
            <a:endParaRPr b="0" i="0" sz="900" u="none" cap="none" strike="noStrike">
              <a:solidFill>
                <a:srgbClr val="0B102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0" name="Google Shape;140;p5"/>
          <p:cNvSpPr/>
          <p:nvPr/>
        </p:nvSpPr>
        <p:spPr>
          <a:xfrm>
            <a:off x="4530475" y="3744448"/>
            <a:ext cx="4365000" cy="512100"/>
          </a:xfrm>
          <a:prstGeom prst="rect">
            <a:avLst/>
          </a:prstGeom>
          <a:solidFill>
            <a:srgbClr val="7C2D8F"/>
          </a:solidFill>
          <a:ln cap="flat" cmpd="sng" w="12700">
            <a:solidFill>
              <a:srgbClr val="7C2D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1" name="Google Shape;141;p5"/>
          <p:cNvSpPr/>
          <p:nvPr/>
        </p:nvSpPr>
        <p:spPr>
          <a:xfrm>
            <a:off x="4641583" y="3744448"/>
            <a:ext cx="515700" cy="512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50"/>
              <a:buFont typeface="Malgun Gothic"/>
              <a:buNone/>
            </a:pPr>
            <a:r>
              <a:rPr b="1" i="0" lang="en-US" sz="9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지점</a:t>
            </a:r>
            <a:endParaRPr b="1" i="0" sz="95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2" name="Google Shape;142;p5"/>
          <p:cNvSpPr/>
          <p:nvPr/>
        </p:nvSpPr>
        <p:spPr>
          <a:xfrm>
            <a:off x="5205058" y="3744448"/>
            <a:ext cx="3571200" cy="512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Malgun Gothic"/>
              <a:buNone/>
            </a:pPr>
            <a:r>
              <a:rPr b="1" i="0" lang="en-US" sz="12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신입사원</a:t>
            </a:r>
            <a:r>
              <a:rPr b="1" lang="en-US" sz="1200">
                <a:solidFill>
                  <a:srgbClr val="FFFFFF"/>
                </a:solidFill>
              </a:rPr>
              <a:t>도</a:t>
            </a:r>
            <a:r>
              <a:rPr b="1" i="0" lang="en-US" sz="12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첫날부터 </a:t>
            </a:r>
            <a:r>
              <a:rPr b="1" lang="en-US" sz="1200">
                <a:solidFill>
                  <a:srgbClr val="FFFFFF"/>
                </a:solidFill>
              </a:rPr>
              <a:t>동일한</a:t>
            </a:r>
            <a:r>
              <a:rPr b="1" i="0" lang="en-US" sz="12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수준으로 응대</a:t>
            </a:r>
            <a:endParaRPr b="1" i="0" sz="12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43" name="Google Shape;143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83739" y="1788749"/>
            <a:ext cx="3876000" cy="2422500"/>
          </a:xfrm>
          <a:prstGeom prst="rect">
            <a:avLst/>
          </a:prstGeom>
          <a:noFill/>
          <a:ln cap="flat" cmpd="sng" w="9525">
            <a:solidFill>
              <a:srgbClr val="DDE1EC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44" name="Google Shape;144;p5"/>
          <p:cNvSpPr/>
          <p:nvPr/>
        </p:nvSpPr>
        <p:spPr>
          <a:xfrm>
            <a:off x="7132150" y="310891"/>
            <a:ext cx="2011800" cy="255900"/>
          </a:xfrm>
          <a:prstGeom prst="rect">
            <a:avLst/>
          </a:prstGeom>
          <a:solidFill>
            <a:srgbClr val="1428A0"/>
          </a:solidFill>
          <a:ln cap="flat" cmpd="sng" w="12700">
            <a:solidFill>
              <a:srgbClr val="1428A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5" name="Google Shape;145;p5"/>
          <p:cNvSpPr/>
          <p:nvPr/>
        </p:nvSpPr>
        <p:spPr>
          <a:xfrm>
            <a:off x="7172700" y="317335"/>
            <a:ext cx="1971300" cy="255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Malgun Gothic"/>
              <a:buNone/>
            </a:pPr>
            <a:r>
              <a:rPr b="0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세일즈 코파일럿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6" name="Google Shape;146;p5"/>
          <p:cNvSpPr/>
          <p:nvPr/>
        </p:nvSpPr>
        <p:spPr>
          <a:xfrm>
            <a:off x="0" y="5065775"/>
            <a:ext cx="9144000" cy="77700"/>
          </a:xfrm>
          <a:prstGeom prst="rect">
            <a:avLst/>
          </a:prstGeom>
          <a:solidFill>
            <a:srgbClr val="1428A0"/>
          </a:solidFill>
          <a:ln cap="flat" cmpd="sng" w="12700">
            <a:solidFill>
              <a:srgbClr val="1428A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7" name="Google Shape;147;p5"/>
          <p:cNvSpPr/>
          <p:nvPr/>
        </p:nvSpPr>
        <p:spPr>
          <a:xfrm>
            <a:off x="8549648" y="4841350"/>
            <a:ext cx="475800" cy="255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B6478"/>
              </a:buClr>
              <a:buSzPts val="900"/>
              <a:buFont typeface="Malgun Gothic"/>
              <a:buNone/>
            </a:pPr>
            <a:r>
              <a:rPr b="0" i="0" lang="en-US" sz="900" u="none" cap="none" strike="noStrike">
                <a:solidFill>
                  <a:srgbClr val="5B6478"/>
                </a:solidFill>
                <a:latin typeface="Arial"/>
                <a:ea typeface="Arial"/>
                <a:cs typeface="Arial"/>
                <a:sym typeface="Arial"/>
              </a:rPr>
              <a:t>6/10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2"/>
          <p:cNvSpPr/>
          <p:nvPr/>
        </p:nvSpPr>
        <p:spPr>
          <a:xfrm>
            <a:off x="457200" y="310896"/>
            <a:ext cx="82296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B1020"/>
              </a:buClr>
              <a:buSzPts val="2500"/>
              <a:buFont typeface="Malgun Gothic"/>
              <a:buNone/>
            </a:pPr>
            <a:r>
              <a:rPr b="1" i="0" lang="en-US" sz="2500" u="none" cap="none" strike="noStrike">
                <a:solidFill>
                  <a:srgbClr val="0B1020"/>
                </a:solidFill>
                <a:latin typeface="Arial"/>
                <a:ea typeface="Arial"/>
                <a:cs typeface="Arial"/>
                <a:sym typeface="Arial"/>
              </a:rPr>
              <a:t>개발 중인 프로그램</a:t>
            </a:r>
            <a:endParaRPr b="1" i="0" sz="2500" u="none" cap="none" strike="noStrike">
              <a:solidFill>
                <a:srgbClr val="0B102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3" name="Google Shape;153;p2"/>
          <p:cNvSpPr/>
          <p:nvPr/>
        </p:nvSpPr>
        <p:spPr>
          <a:xfrm>
            <a:off x="457200" y="768096"/>
            <a:ext cx="822960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5B6478"/>
              </a:buClr>
              <a:buSzPts val="1250"/>
              <a:buFont typeface="Malgun Gothic"/>
              <a:buNone/>
            </a:pPr>
            <a:r>
              <a:rPr b="0" i="0" lang="en-US" sz="1250" u="none" cap="none" strike="noStrike">
                <a:solidFill>
                  <a:srgbClr val="5B6478"/>
                </a:solidFill>
                <a:latin typeface="Arial"/>
                <a:ea typeface="Arial"/>
                <a:cs typeface="Arial"/>
                <a:sym typeface="Arial"/>
              </a:rPr>
              <a:t>「개발 중인 서비스」에서 지금 확인 가능합니다</a:t>
            </a:r>
            <a:endParaRPr b="0" i="0" sz="1250" u="none" cap="none" strike="noStrike">
              <a:solidFill>
                <a:srgbClr val="5B6478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4" name="Google Shape;154;p2"/>
          <p:cNvSpPr/>
          <p:nvPr/>
        </p:nvSpPr>
        <p:spPr>
          <a:xfrm>
            <a:off x="457200" y="1330000"/>
            <a:ext cx="3931920" cy="1900000"/>
          </a:xfrm>
          <a:prstGeom prst="rect">
            <a:avLst/>
          </a:prstGeom>
          <a:solidFill>
            <a:srgbClr val="F7F8FB"/>
          </a:solidFill>
          <a:ln cap="flat" cmpd="sng" w="12700">
            <a:solidFill>
              <a:srgbClr val="DDE1E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5" name="Google Shape;155;p2"/>
          <p:cNvSpPr/>
          <p:nvPr/>
        </p:nvSpPr>
        <p:spPr>
          <a:xfrm>
            <a:off x="457200" y="1330000"/>
            <a:ext cx="73152" cy="1900000"/>
          </a:xfrm>
          <a:prstGeom prst="rect">
            <a:avLst/>
          </a:prstGeom>
          <a:solidFill>
            <a:srgbClr val="1428A0"/>
          </a:solidFill>
          <a:ln cap="flat" cmpd="sng" w="12700">
            <a:solidFill>
              <a:srgbClr val="1428A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6" name="Google Shape;156;p2"/>
          <p:cNvSpPr/>
          <p:nvPr/>
        </p:nvSpPr>
        <p:spPr>
          <a:xfrm>
            <a:off x="713232" y="1500000"/>
            <a:ext cx="2655888" cy="34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1428A0"/>
              </a:buClr>
              <a:buSzPts val="1500"/>
              <a:buFont typeface="Malgun Gothic"/>
              <a:buNone/>
            </a:pPr>
            <a:r>
              <a:rPr b="1" i="0" lang="en-US" sz="1500" u="none" cap="none" strike="noStrike">
                <a:solidFill>
                  <a:srgbClr val="1428A0"/>
                </a:solidFill>
                <a:latin typeface="Arial"/>
                <a:ea typeface="Arial"/>
                <a:cs typeface="Arial"/>
                <a:sym typeface="Arial"/>
              </a:rPr>
              <a:t>가전 배치 시뮬레이터</a:t>
            </a:r>
            <a:endParaRPr b="1" i="0" sz="1500" u="none" cap="none" strike="noStrike">
              <a:solidFill>
                <a:srgbClr val="1428A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7" name="Google Shape;157;p2"/>
          <p:cNvSpPr/>
          <p:nvPr/>
        </p:nvSpPr>
        <p:spPr>
          <a:xfrm>
            <a:off x="3489120" y="1520000"/>
            <a:ext cx="700000" cy="290000"/>
          </a:xfrm>
          <a:prstGeom prst="roundRect">
            <a:avLst>
              <a:gd fmla="val 16667" name="adj"/>
            </a:avLst>
          </a:prstGeom>
          <a:solidFill>
            <a:srgbClr val="FEF3C7"/>
          </a:solidFill>
          <a:ln cap="flat" cmpd="sng" w="12700">
            <a:solidFill>
              <a:srgbClr val="FEF3C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8" name="Google Shape;158;p2"/>
          <p:cNvSpPr/>
          <p:nvPr/>
        </p:nvSpPr>
        <p:spPr>
          <a:xfrm>
            <a:off x="3489120" y="1520000"/>
            <a:ext cx="700000" cy="29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92400E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Arial"/>
                <a:ea typeface="Arial"/>
                <a:cs typeface="Arial"/>
                <a:sym typeface="Arial"/>
              </a:rPr>
              <a:t>개발중</a:t>
            </a:r>
            <a:endParaRPr b="1" i="0" sz="900" u="none" cap="none" strike="noStrike">
              <a:solidFill>
                <a:srgbClr val="92400E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9" name="Google Shape;159;p2"/>
          <p:cNvSpPr/>
          <p:nvPr/>
        </p:nvSpPr>
        <p:spPr>
          <a:xfrm>
            <a:off x="713232" y="1890000"/>
            <a:ext cx="3475888" cy="62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B1020"/>
              </a:buClr>
              <a:buSzPts val="1100"/>
              <a:buFont typeface="Malgun Gothic"/>
              <a:buNone/>
            </a:pPr>
            <a:r>
              <a:rPr b="0" i="0" lang="en-US" sz="1100" u="none" cap="none" strike="noStrike">
                <a:solidFill>
                  <a:srgbClr val="0B1020"/>
                </a:solidFill>
                <a:latin typeface="Arial"/>
                <a:ea typeface="Arial"/>
                <a:cs typeface="Arial"/>
                <a:sym typeface="Arial"/>
              </a:rPr>
              <a:t>구매할 가전을 고르면 도면에 맞춰 배치를 추천 </a:t>
            </a:r>
            <a:endParaRPr/>
          </a:p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B1020"/>
              </a:buClr>
              <a:buSzPts val="1100"/>
              <a:buFont typeface="Malgun Gothic"/>
              <a:buNone/>
            </a:pPr>
            <a:r>
              <a:rPr b="0" i="0" lang="en-US" sz="1100" u="none" cap="none" strike="noStrike">
                <a:solidFill>
                  <a:srgbClr val="0B1020"/>
                </a:solidFill>
                <a:latin typeface="Arial"/>
                <a:ea typeface="Arial"/>
                <a:cs typeface="Arial"/>
                <a:sym typeface="Arial"/>
              </a:rPr>
              <a:t>— 이격 거리·간섭·방 이탈까지 판정</a:t>
            </a:r>
            <a:endParaRPr b="0" i="0" sz="1100" u="none" cap="none" strike="noStrike">
              <a:solidFill>
                <a:srgbClr val="0B102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0" name="Google Shape;160;p2"/>
          <p:cNvSpPr/>
          <p:nvPr/>
        </p:nvSpPr>
        <p:spPr>
          <a:xfrm>
            <a:off x="713232" y="2560000"/>
            <a:ext cx="3475888" cy="5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5B6478"/>
              </a:buClr>
              <a:buSzPts val="1050"/>
              <a:buFont typeface="Malgun Gothic"/>
              <a:buNone/>
            </a:pPr>
            <a:r>
              <a:rPr b="0" i="0" lang="en-US" sz="1050" u="none" cap="none" strike="noStrike">
                <a:solidFill>
                  <a:srgbClr val="5B6478"/>
                </a:solidFill>
                <a:latin typeface="Arial"/>
                <a:ea typeface="Arial"/>
                <a:cs typeface="Arial"/>
                <a:sym typeface="Arial"/>
              </a:rPr>
              <a:t>카탈로그 실측 7</a:t>
            </a:r>
            <a:r>
              <a:rPr lang="en-US" sz="1050">
                <a:solidFill>
                  <a:srgbClr val="5B6478"/>
                </a:solidFill>
              </a:rPr>
              <a:t>1</a:t>
            </a:r>
            <a:r>
              <a:rPr b="0" i="0" lang="en-US" sz="1050" u="none" cap="none" strike="noStrike">
                <a:solidFill>
                  <a:srgbClr val="5B6478"/>
                </a:solidFill>
                <a:latin typeface="Arial"/>
                <a:ea typeface="Arial"/>
                <a:cs typeface="Arial"/>
                <a:sym typeface="Arial"/>
              </a:rPr>
              <a:t>개 사이즈 · 아파트 도면 15</a:t>
            </a:r>
            <a:r>
              <a:rPr lang="en-US" sz="1050">
                <a:solidFill>
                  <a:srgbClr val="5B6478"/>
                </a:solidFill>
              </a:rPr>
              <a:t>8</a:t>
            </a:r>
            <a:r>
              <a:rPr b="0" i="0" lang="en-US" sz="1050" u="none" cap="none" strike="noStrike">
                <a:solidFill>
                  <a:srgbClr val="5B6478"/>
                </a:solidFill>
                <a:latin typeface="Arial"/>
                <a:ea typeface="Arial"/>
                <a:cs typeface="Arial"/>
                <a:sym typeface="Arial"/>
              </a:rPr>
              <a:t>개 단지 </a:t>
            </a:r>
            <a:r>
              <a:rPr lang="en-US" sz="1050">
                <a:solidFill>
                  <a:srgbClr val="5B6478"/>
                </a:solidFill>
              </a:rPr>
              <a:t>855</a:t>
            </a:r>
            <a:r>
              <a:rPr b="0" i="0" lang="en-US" sz="1050" u="none" cap="none" strike="noStrike">
                <a:solidFill>
                  <a:srgbClr val="5B6478"/>
                </a:solidFill>
                <a:latin typeface="Arial"/>
                <a:ea typeface="Arial"/>
                <a:cs typeface="Arial"/>
                <a:sym typeface="Arial"/>
              </a:rPr>
              <a:t>장 · 3D 보기</a:t>
            </a:r>
            <a:endParaRPr b="0" i="0" sz="1050" u="none" cap="none" strike="noStrike">
              <a:solidFill>
                <a:srgbClr val="5B6478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1" name="Google Shape;161;p2"/>
          <p:cNvSpPr/>
          <p:nvPr/>
        </p:nvSpPr>
        <p:spPr>
          <a:xfrm>
            <a:off x="4754880" y="1330000"/>
            <a:ext cx="3931920" cy="1900000"/>
          </a:xfrm>
          <a:prstGeom prst="rect">
            <a:avLst/>
          </a:prstGeom>
          <a:solidFill>
            <a:srgbClr val="F7F8FB"/>
          </a:solidFill>
          <a:ln cap="flat" cmpd="sng" w="12700">
            <a:solidFill>
              <a:srgbClr val="DDE1E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2" name="Google Shape;162;p2"/>
          <p:cNvSpPr/>
          <p:nvPr/>
        </p:nvSpPr>
        <p:spPr>
          <a:xfrm>
            <a:off x="4754880" y="1330000"/>
            <a:ext cx="73152" cy="1900000"/>
          </a:xfrm>
          <a:prstGeom prst="rect">
            <a:avLst/>
          </a:prstGeom>
          <a:solidFill>
            <a:srgbClr val="0F766E"/>
          </a:solidFill>
          <a:ln cap="flat" cmpd="sng" w="12700">
            <a:solidFill>
              <a:srgbClr val="0F766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3" name="Google Shape;163;p2"/>
          <p:cNvSpPr/>
          <p:nvPr/>
        </p:nvSpPr>
        <p:spPr>
          <a:xfrm>
            <a:off x="5010912" y="1500000"/>
            <a:ext cx="2655888" cy="34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F766E"/>
              </a:buClr>
              <a:buSzPts val="1500"/>
              <a:buFont typeface="Malgun Gothic"/>
              <a:buNone/>
            </a:pPr>
            <a:r>
              <a:rPr b="1" i="0" lang="en-US" sz="1500" u="none" cap="none" strike="noStrike">
                <a:solidFill>
                  <a:srgbClr val="0F766E"/>
                </a:solidFill>
                <a:latin typeface="Arial"/>
                <a:ea typeface="Arial"/>
                <a:cs typeface="Arial"/>
                <a:sym typeface="Arial"/>
              </a:rPr>
              <a:t>통신 요금제 상담 도구</a:t>
            </a:r>
            <a:endParaRPr b="1" i="0" sz="1500" u="none" cap="none" strike="noStrike">
              <a:solidFill>
                <a:srgbClr val="0F766E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4" name="Google Shape;164;p2"/>
          <p:cNvSpPr/>
          <p:nvPr/>
        </p:nvSpPr>
        <p:spPr>
          <a:xfrm>
            <a:off x="7786800" y="1520000"/>
            <a:ext cx="700000" cy="290000"/>
          </a:xfrm>
          <a:prstGeom prst="roundRect">
            <a:avLst>
              <a:gd fmla="val 16667" name="adj"/>
            </a:avLst>
          </a:prstGeom>
          <a:solidFill>
            <a:srgbClr val="FEF3C7"/>
          </a:solidFill>
          <a:ln cap="flat" cmpd="sng" w="12700">
            <a:solidFill>
              <a:srgbClr val="FEF3C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5" name="Google Shape;165;p2"/>
          <p:cNvSpPr/>
          <p:nvPr/>
        </p:nvSpPr>
        <p:spPr>
          <a:xfrm>
            <a:off x="7786800" y="1520000"/>
            <a:ext cx="700000" cy="29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92400E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Arial"/>
                <a:ea typeface="Arial"/>
                <a:cs typeface="Arial"/>
                <a:sym typeface="Arial"/>
              </a:rPr>
              <a:t>개발중</a:t>
            </a:r>
            <a:endParaRPr b="1" i="0" sz="900" u="none" cap="none" strike="noStrike">
              <a:solidFill>
                <a:srgbClr val="92400E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6" name="Google Shape;166;p2"/>
          <p:cNvSpPr/>
          <p:nvPr/>
        </p:nvSpPr>
        <p:spPr>
          <a:xfrm>
            <a:off x="5010912" y="1890000"/>
            <a:ext cx="3475888" cy="62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B1020"/>
              </a:buClr>
              <a:buSzPts val="1100"/>
              <a:buFont typeface="Malgun Gothic"/>
              <a:buNone/>
            </a:pPr>
            <a:r>
              <a:rPr b="0" i="0" lang="en-US" sz="1100" u="none" cap="none" strike="noStrike">
                <a:solidFill>
                  <a:srgbClr val="0B1020"/>
                </a:solidFill>
                <a:latin typeface="Arial"/>
                <a:ea typeface="Arial"/>
                <a:cs typeface="Arial"/>
                <a:sym typeface="Arial"/>
              </a:rPr>
              <a:t>3사 요금제 349건 · 부가서비스 542건 · 결합 27건 · 단말 출고가 · 제휴카드 40장</a:t>
            </a:r>
            <a:endParaRPr b="0" i="0" sz="1100" u="none" cap="none" strike="noStrike">
              <a:solidFill>
                <a:srgbClr val="0B102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7" name="Google Shape;167;p2"/>
          <p:cNvSpPr/>
          <p:nvPr/>
        </p:nvSpPr>
        <p:spPr>
          <a:xfrm>
            <a:off x="5010912" y="2560000"/>
            <a:ext cx="3475888" cy="5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5B6478"/>
              </a:buClr>
              <a:buSzPts val="1050"/>
              <a:buFont typeface="Malgun Gothic"/>
              <a:buNone/>
            </a:pPr>
            <a:r>
              <a:rPr b="0" i="0" lang="en-US" sz="1050" u="none" cap="none" strike="noStrike">
                <a:solidFill>
                  <a:srgbClr val="5B6478"/>
                </a:solidFill>
                <a:latin typeface="Arial"/>
                <a:ea typeface="Arial"/>
                <a:cs typeface="Arial"/>
                <a:sym typeface="Arial"/>
              </a:rPr>
              <a:t>휴대폰 월 납부금액과 할부 기간 총액까지 계산</a:t>
            </a:r>
            <a:endParaRPr b="0" i="0" sz="1050" u="none" cap="none" strike="noStrike">
              <a:solidFill>
                <a:srgbClr val="5B6478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8" name="Google Shape;168;p2"/>
          <p:cNvSpPr/>
          <p:nvPr/>
        </p:nvSpPr>
        <p:spPr>
          <a:xfrm>
            <a:off x="457200" y="3420000"/>
            <a:ext cx="8321040" cy="1150000"/>
          </a:xfrm>
          <a:prstGeom prst="rect">
            <a:avLst/>
          </a:prstGeom>
          <a:solidFill>
            <a:srgbClr val="F7F8FB"/>
          </a:solidFill>
          <a:ln cap="flat" cmpd="sng" w="12700">
            <a:solidFill>
              <a:srgbClr val="DDE1E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9" name="Google Shape;169;p2"/>
          <p:cNvSpPr/>
          <p:nvPr/>
        </p:nvSpPr>
        <p:spPr>
          <a:xfrm>
            <a:off x="457200" y="3420000"/>
            <a:ext cx="73152" cy="1150000"/>
          </a:xfrm>
          <a:prstGeom prst="rect">
            <a:avLst/>
          </a:prstGeom>
          <a:solidFill>
            <a:srgbClr val="7C2D8F"/>
          </a:solidFill>
          <a:ln cap="flat" cmpd="sng" w="12700">
            <a:solidFill>
              <a:srgbClr val="7C2D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0" name="Google Shape;170;p2"/>
          <p:cNvSpPr/>
          <p:nvPr/>
        </p:nvSpPr>
        <p:spPr>
          <a:xfrm>
            <a:off x="713232" y="3570000"/>
            <a:ext cx="7865008" cy="3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7C2D8F"/>
              </a:buClr>
              <a:buSzPts val="1300"/>
              <a:buFont typeface="Malgun Gothic"/>
              <a:buNone/>
            </a:pPr>
            <a:r>
              <a:rPr b="1" i="0" lang="en-US" sz="1300" u="none" cap="none" strike="noStrike">
                <a:solidFill>
                  <a:srgbClr val="7C2D8F"/>
                </a:solidFill>
                <a:latin typeface="Arial"/>
                <a:ea typeface="Arial"/>
                <a:cs typeface="Arial"/>
                <a:sym typeface="Arial"/>
              </a:rPr>
              <a:t>다음 단계</a:t>
            </a:r>
            <a:endParaRPr b="1" i="0" sz="1300" u="none" cap="none" strike="noStrike">
              <a:solidFill>
                <a:srgbClr val="7C2D8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1" name="Google Shape;171;p2"/>
          <p:cNvSpPr/>
          <p:nvPr/>
        </p:nvSpPr>
        <p:spPr>
          <a:xfrm>
            <a:off x="713232" y="3890000"/>
            <a:ext cx="7865008" cy="32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B1020"/>
              </a:buClr>
              <a:buSzPts val="1100"/>
              <a:buFont typeface="Malgun Gothic"/>
              <a:buNone/>
            </a:pPr>
            <a:r>
              <a:rPr b="0" i="0" lang="en-US" sz="1100" u="none" cap="none" strike="noStrike">
                <a:solidFill>
                  <a:srgbClr val="0B1020"/>
                </a:solidFill>
                <a:latin typeface="Arial"/>
                <a:ea typeface="Arial"/>
                <a:cs typeface="Arial"/>
                <a:sym typeface="Arial"/>
              </a:rPr>
              <a:t>아파트 도면 확대 — 도면 추가 확보 시 배치 적중률 향상 예정 (단지 목록 3,829곳 적용 완료)</a:t>
            </a:r>
            <a:endParaRPr b="0" i="0" sz="1100" u="none" cap="none" strike="noStrike">
              <a:solidFill>
                <a:srgbClr val="0B102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2" name="Google Shape;172;p2"/>
          <p:cNvSpPr/>
          <p:nvPr/>
        </p:nvSpPr>
        <p:spPr>
          <a:xfrm>
            <a:off x="713232" y="4220000"/>
            <a:ext cx="7865008" cy="32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B1020"/>
              </a:buClr>
              <a:buSzPts val="1100"/>
              <a:buFont typeface="Malgun Gothic"/>
              <a:buNone/>
            </a:pPr>
            <a:r>
              <a:rPr b="0" i="0" lang="en-US" sz="1100" u="none" cap="none" strike="noStrike">
                <a:solidFill>
                  <a:srgbClr val="0B1020"/>
                </a:solidFill>
                <a:latin typeface="Arial"/>
                <a:ea typeface="Arial"/>
                <a:cs typeface="Arial"/>
                <a:sym typeface="Arial"/>
              </a:rPr>
              <a:t>도면 3D 완성 후 배치 시뮬레이터 개선 — 우리 집에 설치된 모습을 직접 보여드리면 성공률이 올라갑니다</a:t>
            </a:r>
            <a:endParaRPr b="0" i="0" sz="1100" u="none" cap="none" strike="noStrike">
              <a:solidFill>
                <a:srgbClr val="0B102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3" name="Google Shape;173;p2"/>
          <p:cNvSpPr/>
          <p:nvPr/>
        </p:nvSpPr>
        <p:spPr>
          <a:xfrm>
            <a:off x="7132150" y="310891"/>
            <a:ext cx="2011800" cy="255900"/>
          </a:xfrm>
          <a:prstGeom prst="rect">
            <a:avLst/>
          </a:prstGeom>
          <a:solidFill>
            <a:srgbClr val="1428A0"/>
          </a:solidFill>
          <a:ln cap="flat" cmpd="sng" w="12700">
            <a:solidFill>
              <a:srgbClr val="1428A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4" name="Google Shape;174;p2"/>
          <p:cNvSpPr/>
          <p:nvPr/>
        </p:nvSpPr>
        <p:spPr>
          <a:xfrm>
            <a:off x="7172700" y="317335"/>
            <a:ext cx="1971300" cy="255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Malgun Gothic"/>
              <a:buNone/>
            </a:pPr>
            <a:r>
              <a:rPr b="0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세일즈 코파일럿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5" name="Google Shape;175;p2"/>
          <p:cNvSpPr/>
          <p:nvPr/>
        </p:nvSpPr>
        <p:spPr>
          <a:xfrm>
            <a:off x="0" y="5065775"/>
            <a:ext cx="9144000" cy="77700"/>
          </a:xfrm>
          <a:prstGeom prst="rect">
            <a:avLst/>
          </a:prstGeom>
          <a:solidFill>
            <a:srgbClr val="1428A0"/>
          </a:solidFill>
          <a:ln cap="flat" cmpd="sng" w="12700">
            <a:solidFill>
              <a:srgbClr val="1428A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6" name="Google Shape;176;p2"/>
          <p:cNvSpPr/>
          <p:nvPr/>
        </p:nvSpPr>
        <p:spPr>
          <a:xfrm>
            <a:off x="8473800" y="4841350"/>
            <a:ext cx="551700" cy="255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B6478"/>
              </a:buClr>
              <a:buSzPts val="900"/>
              <a:buFont typeface="Malgun Gothic"/>
              <a:buNone/>
            </a:pPr>
            <a:r>
              <a:rPr b="0" i="0" lang="en-US" sz="900" u="none" cap="none" strike="noStrike">
                <a:solidFill>
                  <a:srgbClr val="5B6478"/>
                </a:solidFill>
                <a:latin typeface="Arial"/>
                <a:ea typeface="Arial"/>
                <a:cs typeface="Arial"/>
                <a:sym typeface="Arial"/>
              </a:rPr>
              <a:t>7/10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p14"/>
          <p:cNvSpPr/>
          <p:nvPr/>
        </p:nvSpPr>
        <p:spPr>
          <a:xfrm>
            <a:off x="457200" y="310896"/>
            <a:ext cx="82296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B1020"/>
              </a:buClr>
              <a:buSzPts val="2500"/>
              <a:buFont typeface="Malgun Gothic"/>
              <a:buNone/>
            </a:pPr>
            <a:r>
              <a:rPr b="1" i="0" lang="en-US" sz="2500" u="none" cap="none" strike="noStrike">
                <a:solidFill>
                  <a:srgbClr val="0B1020"/>
                </a:solidFill>
                <a:latin typeface="Arial"/>
                <a:ea typeface="Arial"/>
                <a:cs typeface="Arial"/>
                <a:sym typeface="Arial"/>
              </a:rPr>
              <a:t>시범운영 결과</a:t>
            </a:r>
            <a:endParaRPr b="0" i="0" sz="25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3" name="Google Shape;183;p14"/>
          <p:cNvSpPr/>
          <p:nvPr/>
        </p:nvSpPr>
        <p:spPr>
          <a:xfrm>
            <a:off x="457200" y="768096"/>
            <a:ext cx="822960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B6478"/>
              </a:buClr>
              <a:buSzPts val="1250"/>
              <a:buFont typeface="Malgun Gothic"/>
              <a:buNone/>
            </a:pPr>
            <a:r>
              <a:rPr b="0" i="0" lang="en-US" sz="1250" u="none" cap="none" strike="noStrike">
                <a:solidFill>
                  <a:srgbClr val="5B6478"/>
                </a:solidFill>
                <a:latin typeface="Arial"/>
                <a:ea typeface="Arial"/>
                <a:cs typeface="Arial"/>
                <a:sym typeface="Arial"/>
              </a:rPr>
              <a:t>2026-07-29 ~ 08-10 · 10개 매장 · 863건 (아래는 상위 9개) — 한 기능만 쓰인 것이 아닙니다</a:t>
            </a:r>
            <a:endParaRPr b="0" i="0" sz="12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4" name="Google Shape;184;p14"/>
          <p:cNvSpPr/>
          <p:nvPr/>
        </p:nvSpPr>
        <p:spPr>
          <a:xfrm>
            <a:off x="5623560" y="1280160"/>
            <a:ext cx="1508760" cy="777240"/>
          </a:xfrm>
          <a:prstGeom prst="rect">
            <a:avLst/>
          </a:prstGeom>
          <a:solidFill>
            <a:srgbClr val="F7F8FB"/>
          </a:solidFill>
          <a:ln cap="flat" cmpd="sng" w="12700">
            <a:solidFill>
              <a:srgbClr val="DDE1E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5" name="Google Shape;185;p14"/>
          <p:cNvSpPr/>
          <p:nvPr/>
        </p:nvSpPr>
        <p:spPr>
          <a:xfrm>
            <a:off x="5623560" y="1335024"/>
            <a:ext cx="150876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428A0"/>
              </a:buClr>
              <a:buSzPts val="2300"/>
              <a:buFont typeface="Malgun Gothic"/>
              <a:buNone/>
            </a:pPr>
            <a:r>
              <a:rPr b="1" i="0" lang="en-US" sz="2300" u="none" cap="none" strike="noStrike">
                <a:solidFill>
                  <a:srgbClr val="1428A0"/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  <a:endParaRPr b="0" i="0" sz="23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6" name="Google Shape;186;p14"/>
          <p:cNvSpPr/>
          <p:nvPr/>
        </p:nvSpPr>
        <p:spPr>
          <a:xfrm>
            <a:off x="5623560" y="1755648"/>
            <a:ext cx="15087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B6478"/>
              </a:buClr>
              <a:buSzPts val="1050"/>
              <a:buFont typeface="Malgun Gothic"/>
              <a:buNone/>
            </a:pPr>
            <a:r>
              <a:rPr b="0" i="0" lang="en-US" sz="1050" u="none" cap="none" strike="noStrike">
                <a:solidFill>
                  <a:srgbClr val="5B6478"/>
                </a:solidFill>
                <a:latin typeface="Arial"/>
                <a:ea typeface="Arial"/>
                <a:cs typeface="Arial"/>
                <a:sym typeface="Arial"/>
              </a:rPr>
              <a:t>개 매장</a:t>
            </a:r>
            <a:endParaRPr b="0" i="0" sz="10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7" name="Google Shape;187;p14"/>
          <p:cNvSpPr/>
          <p:nvPr/>
        </p:nvSpPr>
        <p:spPr>
          <a:xfrm>
            <a:off x="7223760" y="1280160"/>
            <a:ext cx="1508760" cy="777240"/>
          </a:xfrm>
          <a:prstGeom prst="rect">
            <a:avLst/>
          </a:prstGeom>
          <a:solidFill>
            <a:srgbClr val="F7F8FB"/>
          </a:solidFill>
          <a:ln cap="flat" cmpd="sng" w="12700">
            <a:solidFill>
              <a:srgbClr val="DDE1E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8" name="Google Shape;188;p14"/>
          <p:cNvSpPr/>
          <p:nvPr/>
        </p:nvSpPr>
        <p:spPr>
          <a:xfrm>
            <a:off x="7223760" y="1335024"/>
            <a:ext cx="150876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428A0"/>
              </a:buClr>
              <a:buSzPts val="2300"/>
              <a:buFont typeface="Malgun Gothic"/>
              <a:buNone/>
            </a:pPr>
            <a:r>
              <a:rPr b="1" i="0" lang="en-US" sz="2300" u="none" cap="none" strike="noStrike">
                <a:solidFill>
                  <a:srgbClr val="1428A0"/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  <a:endParaRPr b="0" i="0" sz="23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9" name="Google Shape;189;p14"/>
          <p:cNvSpPr/>
          <p:nvPr/>
        </p:nvSpPr>
        <p:spPr>
          <a:xfrm>
            <a:off x="7223760" y="1755648"/>
            <a:ext cx="15087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B6478"/>
              </a:buClr>
              <a:buSzPts val="1050"/>
              <a:buFont typeface="Malgun Gothic"/>
              <a:buNone/>
            </a:pPr>
            <a:r>
              <a:rPr b="0" i="0" lang="en-US" sz="1050" u="none" cap="none" strike="noStrike">
                <a:solidFill>
                  <a:srgbClr val="5B6478"/>
                </a:solidFill>
                <a:latin typeface="Arial"/>
                <a:ea typeface="Arial"/>
                <a:cs typeface="Arial"/>
                <a:sym typeface="Arial"/>
              </a:rPr>
              <a:t>일</a:t>
            </a:r>
            <a:endParaRPr b="0" i="0" sz="10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0" name="Google Shape;190;p14"/>
          <p:cNvSpPr/>
          <p:nvPr/>
        </p:nvSpPr>
        <p:spPr>
          <a:xfrm>
            <a:off x="5623560" y="2148840"/>
            <a:ext cx="1508760" cy="777240"/>
          </a:xfrm>
          <a:prstGeom prst="rect">
            <a:avLst/>
          </a:prstGeom>
          <a:solidFill>
            <a:srgbClr val="F7F8FB"/>
          </a:solidFill>
          <a:ln cap="flat" cmpd="sng" w="12700">
            <a:solidFill>
              <a:srgbClr val="DDE1E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1" name="Google Shape;191;p14"/>
          <p:cNvSpPr/>
          <p:nvPr/>
        </p:nvSpPr>
        <p:spPr>
          <a:xfrm>
            <a:off x="5623560" y="2203704"/>
            <a:ext cx="150876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428A0"/>
              </a:buClr>
              <a:buSzPts val="2300"/>
              <a:buFont typeface="Malgun Gothic"/>
              <a:buNone/>
            </a:pPr>
            <a:r>
              <a:rPr b="1" i="0" lang="en-US" sz="2300" u="none" cap="none" strike="noStrike">
                <a:solidFill>
                  <a:srgbClr val="1428A0"/>
                </a:solidFill>
                <a:latin typeface="Arial"/>
                <a:ea typeface="Arial"/>
                <a:cs typeface="Arial"/>
                <a:sym typeface="Arial"/>
              </a:rPr>
              <a:t>863</a:t>
            </a:r>
            <a:endParaRPr b="0" i="0" sz="23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14"/>
          <p:cNvSpPr/>
          <p:nvPr/>
        </p:nvSpPr>
        <p:spPr>
          <a:xfrm>
            <a:off x="5623560" y="2624328"/>
            <a:ext cx="15087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B6478"/>
              </a:buClr>
              <a:buSzPts val="1050"/>
              <a:buFont typeface="Malgun Gothic"/>
              <a:buNone/>
            </a:pPr>
            <a:r>
              <a:rPr b="0" i="0" lang="en-US" sz="1050" u="none" cap="none" strike="noStrike">
                <a:solidFill>
                  <a:srgbClr val="5B6478"/>
                </a:solidFill>
                <a:latin typeface="Arial"/>
                <a:ea typeface="Arial"/>
                <a:cs typeface="Arial"/>
                <a:sym typeface="Arial"/>
              </a:rPr>
              <a:t>건 실사용</a:t>
            </a:r>
            <a:endParaRPr b="0" i="0" sz="10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3" name="Google Shape;193;p14"/>
          <p:cNvSpPr/>
          <p:nvPr/>
        </p:nvSpPr>
        <p:spPr>
          <a:xfrm>
            <a:off x="7223760" y="2148840"/>
            <a:ext cx="1508760" cy="777240"/>
          </a:xfrm>
          <a:prstGeom prst="rect">
            <a:avLst/>
          </a:prstGeom>
          <a:solidFill>
            <a:srgbClr val="F7F8FB"/>
          </a:solidFill>
          <a:ln cap="flat" cmpd="sng" w="12700">
            <a:solidFill>
              <a:srgbClr val="DDE1E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14"/>
          <p:cNvSpPr/>
          <p:nvPr/>
        </p:nvSpPr>
        <p:spPr>
          <a:xfrm>
            <a:off x="7223760" y="2203704"/>
            <a:ext cx="150876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428A0"/>
              </a:buClr>
              <a:buSzPts val="2300"/>
              <a:buFont typeface="Malgun Gothic"/>
              <a:buNone/>
            </a:pPr>
            <a:r>
              <a:rPr b="1" i="0" lang="en-US" sz="2300" u="none" cap="none" strike="noStrike">
                <a:solidFill>
                  <a:srgbClr val="1428A0"/>
                </a:solidFill>
                <a:latin typeface="Arial"/>
                <a:ea typeface="Arial"/>
                <a:cs typeface="Arial"/>
                <a:sym typeface="Arial"/>
              </a:rPr>
              <a:t>66</a:t>
            </a:r>
            <a:endParaRPr b="0" i="0" sz="23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14"/>
          <p:cNvSpPr/>
          <p:nvPr/>
        </p:nvSpPr>
        <p:spPr>
          <a:xfrm>
            <a:off x="7223760" y="2624328"/>
            <a:ext cx="15087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B6478"/>
              </a:buClr>
              <a:buSzPts val="1050"/>
              <a:buFont typeface="Malgun Gothic"/>
              <a:buNone/>
            </a:pPr>
            <a:r>
              <a:rPr b="0" i="0" lang="en-US" sz="1050" u="none" cap="none" strike="noStrike">
                <a:solidFill>
                  <a:srgbClr val="5B6478"/>
                </a:solidFill>
                <a:latin typeface="Arial"/>
                <a:ea typeface="Arial"/>
                <a:cs typeface="Arial"/>
                <a:sym typeface="Arial"/>
              </a:rPr>
              <a:t>건/일</a:t>
            </a:r>
            <a:endParaRPr b="0" i="0" sz="10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14"/>
          <p:cNvSpPr/>
          <p:nvPr/>
        </p:nvSpPr>
        <p:spPr>
          <a:xfrm>
            <a:off x="457200" y="1280160"/>
            <a:ext cx="201168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B1020"/>
              </a:buClr>
              <a:buSzPts val="1100"/>
              <a:buFont typeface="Malgun Gothic"/>
              <a:buNone/>
            </a:pPr>
            <a:r>
              <a:rPr b="1" i="0" lang="en-US" sz="1100" u="none" cap="none" strike="noStrike">
                <a:solidFill>
                  <a:srgbClr val="0B1020"/>
                </a:solidFill>
                <a:latin typeface="Arial"/>
                <a:ea typeface="Arial"/>
                <a:cs typeface="Arial"/>
                <a:sym typeface="Arial"/>
              </a:rPr>
              <a:t>설치환경 가이드</a:t>
            </a:r>
            <a:endParaRPr b="1" i="0" sz="1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7" name="Google Shape;197;p14"/>
          <p:cNvSpPr/>
          <p:nvPr/>
        </p:nvSpPr>
        <p:spPr>
          <a:xfrm>
            <a:off x="2514600" y="1362456"/>
            <a:ext cx="2286000" cy="164592"/>
          </a:xfrm>
          <a:prstGeom prst="rect">
            <a:avLst/>
          </a:prstGeom>
          <a:solidFill>
            <a:srgbClr val="1428A0"/>
          </a:solidFill>
          <a:ln cap="flat" cmpd="sng" w="12700">
            <a:solidFill>
              <a:srgbClr val="1428A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8" name="Google Shape;198;p14"/>
          <p:cNvSpPr/>
          <p:nvPr/>
        </p:nvSpPr>
        <p:spPr>
          <a:xfrm>
            <a:off x="4846320" y="1280160"/>
            <a:ext cx="64008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B6478"/>
              </a:buClr>
              <a:buSzPts val="1000"/>
              <a:buFont typeface="Malgun Gothic"/>
              <a:buNone/>
            </a:pPr>
            <a:r>
              <a:rPr b="0" i="0" lang="en-US" sz="1000" u="none" cap="none" strike="noStrike">
                <a:solidFill>
                  <a:srgbClr val="5B6478"/>
                </a:solidFill>
                <a:latin typeface="Arial"/>
                <a:ea typeface="Arial"/>
                <a:cs typeface="Arial"/>
                <a:sym typeface="Arial"/>
              </a:rPr>
              <a:t>128</a:t>
            </a:r>
            <a:endParaRPr b="0" i="0" sz="1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9" name="Google Shape;199;p14"/>
          <p:cNvSpPr/>
          <p:nvPr/>
        </p:nvSpPr>
        <p:spPr>
          <a:xfrm>
            <a:off x="457200" y="1645920"/>
            <a:ext cx="201168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B1020"/>
              </a:buClr>
              <a:buSzPts val="1100"/>
              <a:buFont typeface="Malgun Gothic"/>
              <a:buNone/>
            </a:pPr>
            <a:r>
              <a:rPr b="1" i="0" lang="en-US" sz="1100" u="none" cap="none" strike="noStrike">
                <a:solidFill>
                  <a:srgbClr val="0B1020"/>
                </a:solidFill>
                <a:latin typeface="Arial"/>
                <a:ea typeface="Arial"/>
                <a:cs typeface="Arial"/>
                <a:sym typeface="Arial"/>
              </a:rPr>
              <a:t>모델파인더</a:t>
            </a:r>
            <a:endParaRPr b="1" i="0" sz="1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0" name="Google Shape;200;p14"/>
          <p:cNvSpPr/>
          <p:nvPr/>
        </p:nvSpPr>
        <p:spPr>
          <a:xfrm>
            <a:off x="2514600" y="1728216"/>
            <a:ext cx="2143125" cy="164592"/>
          </a:xfrm>
          <a:prstGeom prst="rect">
            <a:avLst/>
          </a:prstGeom>
          <a:solidFill>
            <a:srgbClr val="1428A0"/>
          </a:solidFill>
          <a:ln cap="flat" cmpd="sng" w="12700">
            <a:solidFill>
              <a:srgbClr val="1428A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" name="Google Shape;201;p14"/>
          <p:cNvSpPr/>
          <p:nvPr/>
        </p:nvSpPr>
        <p:spPr>
          <a:xfrm>
            <a:off x="4703445" y="1645920"/>
            <a:ext cx="64008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B6478"/>
              </a:buClr>
              <a:buSzPts val="1000"/>
              <a:buFont typeface="Malgun Gothic"/>
              <a:buNone/>
            </a:pPr>
            <a:r>
              <a:rPr b="0" i="0" lang="en-US" sz="1000" u="none" cap="none" strike="noStrike">
                <a:solidFill>
                  <a:srgbClr val="5B6478"/>
                </a:solidFill>
                <a:latin typeface="Arial"/>
                <a:ea typeface="Arial"/>
                <a:cs typeface="Arial"/>
                <a:sym typeface="Arial"/>
              </a:rPr>
              <a:t>120</a:t>
            </a:r>
            <a:endParaRPr b="0" i="0" sz="1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2" name="Google Shape;202;p14"/>
          <p:cNvSpPr/>
          <p:nvPr/>
        </p:nvSpPr>
        <p:spPr>
          <a:xfrm>
            <a:off x="457200" y="2011680"/>
            <a:ext cx="201168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B1020"/>
              </a:buClr>
              <a:buSzPts val="1100"/>
              <a:buFont typeface="Malgun Gothic"/>
              <a:buNone/>
            </a:pPr>
            <a:r>
              <a:rPr b="1" i="0" lang="en-US" sz="1100" u="none" cap="none" strike="noStrike">
                <a:solidFill>
                  <a:srgbClr val="0B1020"/>
                </a:solidFill>
                <a:latin typeface="Arial"/>
                <a:ea typeface="Arial"/>
                <a:cs typeface="Arial"/>
                <a:sym typeface="Arial"/>
              </a:rPr>
              <a:t>타사비교</a:t>
            </a:r>
            <a:endParaRPr b="1" i="0" sz="1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3" name="Google Shape;203;p14"/>
          <p:cNvSpPr/>
          <p:nvPr/>
        </p:nvSpPr>
        <p:spPr>
          <a:xfrm>
            <a:off x="2514600" y="2093976"/>
            <a:ext cx="1821656" cy="164592"/>
          </a:xfrm>
          <a:prstGeom prst="rect">
            <a:avLst/>
          </a:prstGeom>
          <a:solidFill>
            <a:srgbClr val="1428A0"/>
          </a:solidFill>
          <a:ln cap="flat" cmpd="sng" w="12700">
            <a:solidFill>
              <a:srgbClr val="1428A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4" name="Google Shape;204;p14"/>
          <p:cNvSpPr/>
          <p:nvPr/>
        </p:nvSpPr>
        <p:spPr>
          <a:xfrm>
            <a:off x="4381976" y="2011680"/>
            <a:ext cx="64008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B6478"/>
              </a:buClr>
              <a:buSzPts val="1000"/>
              <a:buFont typeface="Malgun Gothic"/>
              <a:buNone/>
            </a:pPr>
            <a:r>
              <a:rPr b="0" i="0" lang="en-US" sz="1000" u="none" cap="none" strike="noStrike">
                <a:solidFill>
                  <a:srgbClr val="5B6478"/>
                </a:solidFill>
                <a:latin typeface="Arial"/>
                <a:ea typeface="Arial"/>
                <a:cs typeface="Arial"/>
                <a:sym typeface="Arial"/>
              </a:rPr>
              <a:t>102</a:t>
            </a:r>
            <a:endParaRPr b="0" i="0" sz="1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5" name="Google Shape;205;p14"/>
          <p:cNvSpPr/>
          <p:nvPr/>
        </p:nvSpPr>
        <p:spPr>
          <a:xfrm>
            <a:off x="457200" y="2377440"/>
            <a:ext cx="201168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B1020"/>
              </a:buClr>
              <a:buSzPts val="1100"/>
              <a:buFont typeface="Malgun Gothic"/>
              <a:buNone/>
            </a:pPr>
            <a:r>
              <a:rPr b="0" i="0" lang="en-US" sz="1100" u="none" cap="none" strike="noStrike">
                <a:solidFill>
                  <a:srgbClr val="0B1020"/>
                </a:solidFill>
                <a:latin typeface="Arial"/>
                <a:ea typeface="Arial"/>
                <a:cs typeface="Arial"/>
                <a:sym typeface="Arial"/>
              </a:rPr>
              <a:t>컨시어지</a:t>
            </a:r>
            <a:endParaRPr b="0" i="0" sz="1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6" name="Google Shape;206;p14"/>
          <p:cNvSpPr/>
          <p:nvPr/>
        </p:nvSpPr>
        <p:spPr>
          <a:xfrm>
            <a:off x="2514600" y="2459736"/>
            <a:ext cx="1714500" cy="164592"/>
          </a:xfrm>
          <a:prstGeom prst="rect">
            <a:avLst/>
          </a:prstGeom>
          <a:solidFill>
            <a:srgbClr val="2B44D0"/>
          </a:solidFill>
          <a:ln cap="flat" cmpd="sng" w="12700">
            <a:solidFill>
              <a:srgbClr val="2B44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7" name="Google Shape;207;p14"/>
          <p:cNvSpPr/>
          <p:nvPr/>
        </p:nvSpPr>
        <p:spPr>
          <a:xfrm>
            <a:off x="4274820" y="2377440"/>
            <a:ext cx="64008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B6478"/>
              </a:buClr>
              <a:buSzPts val="1000"/>
              <a:buFont typeface="Malgun Gothic"/>
              <a:buNone/>
            </a:pPr>
            <a:r>
              <a:rPr b="0" i="0" lang="en-US" sz="1000" u="none" cap="none" strike="noStrike">
                <a:solidFill>
                  <a:srgbClr val="5B6478"/>
                </a:solidFill>
                <a:latin typeface="Arial"/>
                <a:ea typeface="Arial"/>
                <a:cs typeface="Arial"/>
                <a:sym typeface="Arial"/>
              </a:rPr>
              <a:t>96</a:t>
            </a:r>
            <a:endParaRPr b="0" i="0" sz="1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8" name="Google Shape;208;p14"/>
          <p:cNvSpPr/>
          <p:nvPr/>
        </p:nvSpPr>
        <p:spPr>
          <a:xfrm>
            <a:off x="457200" y="2743200"/>
            <a:ext cx="201168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B1020"/>
              </a:buClr>
              <a:buSzPts val="1100"/>
              <a:buFont typeface="Malgun Gothic"/>
              <a:buNone/>
            </a:pPr>
            <a:r>
              <a:rPr b="0" i="0" lang="en-US" sz="1100" u="none" cap="none" strike="noStrike">
                <a:solidFill>
                  <a:srgbClr val="0B1020"/>
                </a:solidFill>
                <a:latin typeface="Arial"/>
                <a:ea typeface="Arial"/>
                <a:cs typeface="Arial"/>
                <a:sym typeface="Arial"/>
              </a:rPr>
              <a:t>허브 검색·건의</a:t>
            </a:r>
            <a:endParaRPr b="0" i="0" sz="1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9" name="Google Shape;209;p14"/>
          <p:cNvSpPr/>
          <p:nvPr/>
        </p:nvSpPr>
        <p:spPr>
          <a:xfrm>
            <a:off x="2514600" y="2825496"/>
            <a:ext cx="1696641" cy="164592"/>
          </a:xfrm>
          <a:prstGeom prst="rect">
            <a:avLst/>
          </a:prstGeom>
          <a:solidFill>
            <a:srgbClr val="2B44D0"/>
          </a:solidFill>
          <a:ln cap="flat" cmpd="sng" w="12700">
            <a:solidFill>
              <a:srgbClr val="2B44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0" name="Google Shape;210;p14"/>
          <p:cNvSpPr/>
          <p:nvPr/>
        </p:nvSpPr>
        <p:spPr>
          <a:xfrm>
            <a:off x="4256961" y="2743200"/>
            <a:ext cx="64008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B6478"/>
              </a:buClr>
              <a:buSzPts val="1000"/>
              <a:buFont typeface="Malgun Gothic"/>
              <a:buNone/>
            </a:pPr>
            <a:r>
              <a:rPr b="0" i="0" lang="en-US" sz="1000" u="none" cap="none" strike="noStrike">
                <a:solidFill>
                  <a:srgbClr val="5B6478"/>
                </a:solidFill>
                <a:latin typeface="Arial"/>
                <a:ea typeface="Arial"/>
                <a:cs typeface="Arial"/>
                <a:sym typeface="Arial"/>
              </a:rPr>
              <a:t>95</a:t>
            </a:r>
            <a:endParaRPr b="0" i="0" sz="1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1" name="Google Shape;211;p14"/>
          <p:cNvSpPr/>
          <p:nvPr/>
        </p:nvSpPr>
        <p:spPr>
          <a:xfrm>
            <a:off x="457200" y="3108960"/>
            <a:ext cx="201168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B1020"/>
              </a:buClr>
              <a:buSzPts val="1100"/>
              <a:buFont typeface="Malgun Gothic"/>
              <a:buNone/>
            </a:pPr>
            <a:r>
              <a:rPr b="0" i="0" lang="en-US" sz="1100" u="none" cap="none" strike="noStrike">
                <a:solidFill>
                  <a:srgbClr val="0B1020"/>
                </a:solidFill>
                <a:latin typeface="Arial"/>
                <a:ea typeface="Arial"/>
                <a:cs typeface="Arial"/>
                <a:sym typeface="Arial"/>
              </a:rPr>
              <a:t>레벨업 챌린지</a:t>
            </a:r>
            <a:endParaRPr b="0" i="0" sz="1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2" name="Google Shape;212;p14"/>
          <p:cNvSpPr/>
          <p:nvPr/>
        </p:nvSpPr>
        <p:spPr>
          <a:xfrm>
            <a:off x="2514600" y="3191256"/>
            <a:ext cx="1607344" cy="164592"/>
          </a:xfrm>
          <a:prstGeom prst="rect">
            <a:avLst/>
          </a:prstGeom>
          <a:solidFill>
            <a:srgbClr val="2B44D0"/>
          </a:solidFill>
          <a:ln cap="flat" cmpd="sng" w="12700">
            <a:solidFill>
              <a:srgbClr val="2B44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3" name="Google Shape;213;p14"/>
          <p:cNvSpPr/>
          <p:nvPr/>
        </p:nvSpPr>
        <p:spPr>
          <a:xfrm>
            <a:off x="4167664" y="3108960"/>
            <a:ext cx="64008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B6478"/>
              </a:buClr>
              <a:buSzPts val="1000"/>
              <a:buFont typeface="Malgun Gothic"/>
              <a:buNone/>
            </a:pPr>
            <a:r>
              <a:rPr b="0" i="0" lang="en-US" sz="1000" u="none" cap="none" strike="noStrike">
                <a:solidFill>
                  <a:srgbClr val="5B6478"/>
                </a:solidFill>
                <a:latin typeface="Arial"/>
                <a:ea typeface="Arial"/>
                <a:cs typeface="Arial"/>
                <a:sym typeface="Arial"/>
              </a:rPr>
              <a:t>90</a:t>
            </a:r>
            <a:endParaRPr b="0" i="0" sz="1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4" name="Google Shape;214;p14"/>
          <p:cNvSpPr/>
          <p:nvPr/>
        </p:nvSpPr>
        <p:spPr>
          <a:xfrm>
            <a:off x="457200" y="3474720"/>
            <a:ext cx="201168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B1020"/>
              </a:buClr>
              <a:buSzPts val="1100"/>
              <a:buFont typeface="Malgun Gothic"/>
              <a:buNone/>
            </a:pPr>
            <a:r>
              <a:rPr b="0" i="0" lang="en-US" sz="1100" u="none" cap="none" strike="noStrike">
                <a:solidFill>
                  <a:srgbClr val="0B1020"/>
                </a:solidFill>
                <a:latin typeface="Arial"/>
                <a:ea typeface="Arial"/>
                <a:cs typeface="Arial"/>
                <a:sym typeface="Arial"/>
              </a:rPr>
              <a:t>AI구독 케어</a:t>
            </a:r>
            <a:endParaRPr b="0" i="0" sz="1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5" name="Google Shape;215;p14"/>
          <p:cNvSpPr/>
          <p:nvPr/>
        </p:nvSpPr>
        <p:spPr>
          <a:xfrm>
            <a:off x="2514600" y="3557016"/>
            <a:ext cx="1553766" cy="164592"/>
          </a:xfrm>
          <a:prstGeom prst="rect">
            <a:avLst/>
          </a:prstGeom>
          <a:solidFill>
            <a:srgbClr val="2B44D0"/>
          </a:solidFill>
          <a:ln cap="flat" cmpd="sng" w="12700">
            <a:solidFill>
              <a:srgbClr val="2B44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6" name="Google Shape;216;p14"/>
          <p:cNvSpPr/>
          <p:nvPr/>
        </p:nvSpPr>
        <p:spPr>
          <a:xfrm>
            <a:off x="4114086" y="3474720"/>
            <a:ext cx="64008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B6478"/>
              </a:buClr>
              <a:buSzPts val="1000"/>
              <a:buFont typeface="Malgun Gothic"/>
              <a:buNone/>
            </a:pPr>
            <a:r>
              <a:rPr b="0" i="0" lang="en-US" sz="1000" u="none" cap="none" strike="noStrike">
                <a:solidFill>
                  <a:srgbClr val="5B6478"/>
                </a:solidFill>
                <a:latin typeface="Arial"/>
                <a:ea typeface="Arial"/>
                <a:cs typeface="Arial"/>
                <a:sym typeface="Arial"/>
              </a:rPr>
              <a:t>87</a:t>
            </a:r>
            <a:endParaRPr b="0" i="0" sz="1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7" name="Google Shape;217;p14"/>
          <p:cNvSpPr/>
          <p:nvPr/>
        </p:nvSpPr>
        <p:spPr>
          <a:xfrm>
            <a:off x="457200" y="3840480"/>
            <a:ext cx="201168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B1020"/>
              </a:buClr>
              <a:buSzPts val="1100"/>
              <a:buFont typeface="Malgun Gothic"/>
              <a:buNone/>
            </a:pPr>
            <a:r>
              <a:rPr b="0" i="0" lang="en-US" sz="1100" u="none" cap="none" strike="noStrike">
                <a:solidFill>
                  <a:srgbClr val="0B1020"/>
                </a:solidFill>
                <a:latin typeface="Arial"/>
                <a:ea typeface="Arial"/>
                <a:cs typeface="Arial"/>
                <a:sym typeface="Arial"/>
              </a:rPr>
              <a:t>쿠폰</a:t>
            </a:r>
            <a:endParaRPr b="0" i="0" sz="1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8" name="Google Shape;218;p14"/>
          <p:cNvSpPr/>
          <p:nvPr/>
        </p:nvSpPr>
        <p:spPr>
          <a:xfrm>
            <a:off x="2514600" y="3922776"/>
            <a:ext cx="1089422" cy="164592"/>
          </a:xfrm>
          <a:prstGeom prst="rect">
            <a:avLst/>
          </a:prstGeom>
          <a:solidFill>
            <a:srgbClr val="2B44D0"/>
          </a:solidFill>
          <a:ln cap="flat" cmpd="sng" w="12700">
            <a:solidFill>
              <a:srgbClr val="2B44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9" name="Google Shape;219;p14"/>
          <p:cNvSpPr/>
          <p:nvPr/>
        </p:nvSpPr>
        <p:spPr>
          <a:xfrm>
            <a:off x="3649742" y="3840480"/>
            <a:ext cx="64008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B6478"/>
              </a:buClr>
              <a:buSzPts val="1000"/>
              <a:buFont typeface="Malgun Gothic"/>
              <a:buNone/>
            </a:pPr>
            <a:r>
              <a:rPr b="0" i="0" lang="en-US" sz="1000" u="none" cap="none" strike="noStrike">
                <a:solidFill>
                  <a:srgbClr val="5B6478"/>
                </a:solidFill>
                <a:latin typeface="Arial"/>
                <a:ea typeface="Arial"/>
                <a:cs typeface="Arial"/>
                <a:sym typeface="Arial"/>
              </a:rPr>
              <a:t>61</a:t>
            </a:r>
            <a:endParaRPr b="0" i="0" sz="1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0" name="Google Shape;220;p14"/>
          <p:cNvSpPr/>
          <p:nvPr/>
        </p:nvSpPr>
        <p:spPr>
          <a:xfrm>
            <a:off x="457200" y="4206240"/>
            <a:ext cx="201168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B1020"/>
              </a:buClr>
              <a:buSzPts val="1100"/>
              <a:buFont typeface="Malgun Gothic"/>
              <a:buNone/>
            </a:pPr>
            <a:r>
              <a:rPr b="0" i="0" lang="en-US" sz="1100" u="none" cap="none" strike="noStrike">
                <a:solidFill>
                  <a:srgbClr val="0B1020"/>
                </a:solidFill>
                <a:latin typeface="Arial"/>
                <a:ea typeface="Arial"/>
                <a:cs typeface="Arial"/>
                <a:sym typeface="Arial"/>
              </a:rPr>
              <a:t>배치 시뮬레이터</a:t>
            </a:r>
            <a:endParaRPr b="0" i="0" sz="1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1" name="Google Shape;221;p14"/>
          <p:cNvSpPr/>
          <p:nvPr/>
        </p:nvSpPr>
        <p:spPr>
          <a:xfrm>
            <a:off x="2514600" y="4288536"/>
            <a:ext cx="875109" cy="164592"/>
          </a:xfrm>
          <a:prstGeom prst="rect">
            <a:avLst/>
          </a:prstGeom>
          <a:solidFill>
            <a:srgbClr val="2B44D0"/>
          </a:solidFill>
          <a:ln cap="flat" cmpd="sng" w="12700">
            <a:solidFill>
              <a:srgbClr val="2B44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2" name="Google Shape;222;p14"/>
          <p:cNvSpPr/>
          <p:nvPr/>
        </p:nvSpPr>
        <p:spPr>
          <a:xfrm>
            <a:off x="3435429" y="4206240"/>
            <a:ext cx="64008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B6478"/>
              </a:buClr>
              <a:buSzPts val="1000"/>
              <a:buFont typeface="Malgun Gothic"/>
              <a:buNone/>
            </a:pPr>
            <a:r>
              <a:rPr b="0" i="0" lang="en-US" sz="1000" u="none" cap="none" strike="noStrike">
                <a:solidFill>
                  <a:srgbClr val="5B6478"/>
                </a:solidFill>
                <a:latin typeface="Arial"/>
                <a:ea typeface="Arial"/>
                <a:cs typeface="Arial"/>
                <a:sym typeface="Arial"/>
              </a:rPr>
              <a:t>49</a:t>
            </a:r>
            <a:endParaRPr b="0" i="0" sz="1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3" name="Google Shape;223;p14"/>
          <p:cNvSpPr/>
          <p:nvPr/>
        </p:nvSpPr>
        <p:spPr>
          <a:xfrm>
            <a:off x="5623560" y="3127248"/>
            <a:ext cx="3154680" cy="1417320"/>
          </a:xfrm>
          <a:prstGeom prst="rect">
            <a:avLst/>
          </a:prstGeom>
          <a:solidFill>
            <a:srgbClr val="1428A0"/>
          </a:solidFill>
          <a:ln cap="flat" cmpd="sng" w="12700">
            <a:solidFill>
              <a:srgbClr val="1428A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4" name="Google Shape;224;p14"/>
          <p:cNvSpPr/>
          <p:nvPr/>
        </p:nvSpPr>
        <p:spPr>
          <a:xfrm>
            <a:off x="5788152" y="3127248"/>
            <a:ext cx="2834640" cy="1417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Malgun Gothic"/>
              <a:buNone/>
            </a:pPr>
            <a:r>
              <a:rPr b="0" i="0" lang="en-US" sz="11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상위 세 가지 모두 상담 중 고객 앞에서 바로 쓰는 기능입니다.</a:t>
            </a:r>
            <a:endParaRPr/>
          </a:p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Malgun Gothic"/>
              <a:buNone/>
            </a:pPr>
            <a:r>
              <a:t/>
            </a:r>
            <a:endParaRPr b="0" i="0" sz="1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Malgun Gothic"/>
              <a:buNone/>
            </a:pPr>
            <a:r>
              <a:rPr b="0" i="0" lang="en-US" sz="11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구경한 것이 아니라,</a:t>
            </a:r>
            <a:endParaRPr b="0" i="0" sz="1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Malgun Gothic"/>
              <a:buNone/>
            </a:pPr>
            <a:r>
              <a:rPr b="0" i="0" lang="en-US" sz="11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상담에 실제로 썼다는 뜻입니다.</a:t>
            </a:r>
            <a:endParaRPr b="0" i="0" sz="1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5" name="Google Shape;225;p14"/>
          <p:cNvSpPr/>
          <p:nvPr/>
        </p:nvSpPr>
        <p:spPr>
          <a:xfrm>
            <a:off x="457200" y="4617720"/>
            <a:ext cx="8321040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B6478"/>
              </a:buClr>
              <a:buSzPts val="1000"/>
              <a:buFont typeface="Malgun Gothic"/>
              <a:buNone/>
            </a:pPr>
            <a:r>
              <a:rPr b="0" i="0" lang="en-US" sz="1000" u="none" cap="none" strike="noStrike">
                <a:solidFill>
                  <a:srgbClr val="5B6478"/>
                </a:solidFill>
                <a:latin typeface="Arial"/>
                <a:ea typeface="Arial"/>
                <a:cs typeface="Arial"/>
                <a:sym typeface="Arial"/>
              </a:rPr>
              <a:t>※ 사용 로그 자체가 현장 니즈 데이터입니다 — 무엇을 교육할지, 무엇을 보강할지의 근거가 됩니다.</a:t>
            </a:r>
            <a:endParaRPr b="0" i="0" sz="1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6" name="Google Shape;226;p14"/>
          <p:cNvSpPr/>
          <p:nvPr/>
        </p:nvSpPr>
        <p:spPr>
          <a:xfrm>
            <a:off x="7132150" y="310891"/>
            <a:ext cx="2011800" cy="255900"/>
          </a:xfrm>
          <a:prstGeom prst="rect">
            <a:avLst/>
          </a:prstGeom>
          <a:solidFill>
            <a:srgbClr val="1428A0"/>
          </a:solidFill>
          <a:ln cap="flat" cmpd="sng" w="12700">
            <a:solidFill>
              <a:srgbClr val="1428A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7" name="Google Shape;227;p14"/>
          <p:cNvSpPr/>
          <p:nvPr/>
        </p:nvSpPr>
        <p:spPr>
          <a:xfrm>
            <a:off x="7172700" y="317335"/>
            <a:ext cx="1971300" cy="255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Malgun Gothic"/>
              <a:buNone/>
            </a:pPr>
            <a:r>
              <a:rPr b="0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세일즈 코파일럿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8" name="Google Shape;228;p14"/>
          <p:cNvSpPr/>
          <p:nvPr/>
        </p:nvSpPr>
        <p:spPr>
          <a:xfrm>
            <a:off x="0" y="5065775"/>
            <a:ext cx="9144000" cy="77700"/>
          </a:xfrm>
          <a:prstGeom prst="rect">
            <a:avLst/>
          </a:prstGeom>
          <a:solidFill>
            <a:srgbClr val="1428A0"/>
          </a:solidFill>
          <a:ln cap="flat" cmpd="sng" w="12700">
            <a:solidFill>
              <a:srgbClr val="1428A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9" name="Google Shape;229;p14"/>
          <p:cNvSpPr/>
          <p:nvPr/>
        </p:nvSpPr>
        <p:spPr>
          <a:xfrm>
            <a:off x="8473800" y="4841350"/>
            <a:ext cx="551700" cy="255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B6478"/>
              </a:buClr>
              <a:buSzPts val="900"/>
              <a:buFont typeface="Malgun Gothic"/>
              <a:buNone/>
            </a:pPr>
            <a:r>
              <a:rPr b="0" i="0" lang="en-US" sz="900" u="none" cap="none" strike="noStrike">
                <a:solidFill>
                  <a:srgbClr val="5B6478"/>
                </a:solidFill>
                <a:latin typeface="Arial"/>
                <a:ea typeface="Arial"/>
                <a:cs typeface="Arial"/>
                <a:sym typeface="Arial"/>
              </a:rPr>
              <a:t>8/10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4" name="Shape 2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Google Shape;235;p17"/>
          <p:cNvSpPr/>
          <p:nvPr/>
        </p:nvSpPr>
        <p:spPr>
          <a:xfrm>
            <a:off x="457200" y="310896"/>
            <a:ext cx="82296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B1020"/>
              </a:buClr>
              <a:buSzPts val="2500"/>
              <a:buFont typeface="Malgun Gothic"/>
              <a:buNone/>
            </a:pPr>
            <a:r>
              <a:rPr b="1" i="0" lang="en-US" sz="2500" u="none" cap="none" strike="noStrike">
                <a:solidFill>
                  <a:srgbClr val="0B1020"/>
                </a:solidFill>
                <a:latin typeface="Arial"/>
                <a:ea typeface="Arial"/>
                <a:cs typeface="Arial"/>
                <a:sym typeface="Arial"/>
              </a:rPr>
              <a:t>경원영업팀 65개 매장 도입 시 기대효과</a:t>
            </a:r>
            <a:endParaRPr b="0" i="0" sz="25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6" name="Google Shape;236;p17"/>
          <p:cNvSpPr/>
          <p:nvPr/>
        </p:nvSpPr>
        <p:spPr>
          <a:xfrm>
            <a:off x="457200" y="768096"/>
            <a:ext cx="822960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B6478"/>
              </a:buClr>
              <a:buSzPts val="1250"/>
              <a:buFont typeface="Malgun Gothic"/>
              <a:buNone/>
            </a:pPr>
            <a:r>
              <a:rPr b="0" i="0" lang="en-US" sz="1250" u="none" cap="none" strike="noStrike">
                <a:solidFill>
                  <a:srgbClr val="5B6478"/>
                </a:solidFill>
                <a:latin typeface="Arial"/>
                <a:ea typeface="Arial"/>
                <a:cs typeface="Arial"/>
                <a:sym typeface="Arial"/>
              </a:rPr>
              <a:t>실측값과 가정값을 구분 — 가정값은 회사 기준으로 바꿔 넣으시면 그대로 답이 나옵니다</a:t>
            </a:r>
            <a:endParaRPr b="0" i="0" sz="12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7" name="Google Shape;237;p17"/>
          <p:cNvSpPr/>
          <p:nvPr/>
        </p:nvSpPr>
        <p:spPr>
          <a:xfrm>
            <a:off x="365760" y="1188720"/>
            <a:ext cx="4114800" cy="2011680"/>
          </a:xfrm>
          <a:prstGeom prst="rect">
            <a:avLst/>
          </a:prstGeom>
          <a:solidFill>
            <a:srgbClr val="F7F8FB"/>
          </a:solidFill>
          <a:ln cap="flat" cmpd="sng" w="12700">
            <a:solidFill>
              <a:srgbClr val="DDE1E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8" name="Google Shape;238;p17"/>
          <p:cNvSpPr/>
          <p:nvPr/>
        </p:nvSpPr>
        <p:spPr>
          <a:xfrm>
            <a:off x="365760" y="1188720"/>
            <a:ext cx="4114800" cy="54864"/>
          </a:xfrm>
          <a:prstGeom prst="rect">
            <a:avLst/>
          </a:prstGeom>
          <a:solidFill>
            <a:srgbClr val="0F766E"/>
          </a:solidFill>
          <a:ln cap="flat" cmpd="sng" w="12700">
            <a:solidFill>
              <a:srgbClr val="0F766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9" name="Google Shape;239;p17"/>
          <p:cNvSpPr/>
          <p:nvPr/>
        </p:nvSpPr>
        <p:spPr>
          <a:xfrm>
            <a:off x="530352" y="1298448"/>
            <a:ext cx="37947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F766E"/>
              </a:buClr>
              <a:buSzPts val="1250"/>
              <a:buFont typeface="Malgun Gothic"/>
              <a:buNone/>
            </a:pPr>
            <a:r>
              <a:rPr b="1" i="0" lang="en-US" sz="1250" u="none" cap="none" strike="noStrike">
                <a:solidFill>
                  <a:srgbClr val="0F766E"/>
                </a:solidFill>
                <a:latin typeface="Arial"/>
                <a:ea typeface="Arial"/>
                <a:cs typeface="Arial"/>
                <a:sym typeface="Arial"/>
              </a:rPr>
              <a:t>시간 — 현장이 돌려받는 시간</a:t>
            </a:r>
            <a:endParaRPr b="0" i="0" sz="12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0" name="Google Shape;240;p17"/>
          <p:cNvSpPr/>
          <p:nvPr/>
        </p:nvSpPr>
        <p:spPr>
          <a:xfrm>
            <a:off x="530352" y="1627632"/>
            <a:ext cx="457200" cy="192024"/>
          </a:xfrm>
          <a:prstGeom prst="roundRect">
            <a:avLst>
              <a:gd fmla="val 50000" name="adj"/>
            </a:avLst>
          </a:prstGeom>
          <a:solidFill>
            <a:srgbClr val="166534"/>
          </a:solidFill>
          <a:ln cap="flat" cmpd="sng" w="12700">
            <a:solidFill>
              <a:srgbClr val="16653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1" name="Google Shape;241;p17"/>
          <p:cNvSpPr/>
          <p:nvPr/>
        </p:nvSpPr>
        <p:spPr>
          <a:xfrm>
            <a:off x="530352" y="1627632"/>
            <a:ext cx="457200" cy="19202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Malgun Gothic"/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실측</a:t>
            </a:r>
            <a:endParaRPr b="0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2" name="Google Shape;242;p17"/>
          <p:cNvSpPr/>
          <p:nvPr/>
        </p:nvSpPr>
        <p:spPr>
          <a:xfrm>
            <a:off x="1078992" y="1609344"/>
            <a:ext cx="32004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B1020"/>
              </a:buClr>
              <a:buSzPts val="1150"/>
              <a:buFont typeface="Malgun Gothic"/>
              <a:buNone/>
            </a:pPr>
            <a:r>
              <a:rPr b="0" i="0" lang="en-US" sz="1150" u="none" cap="none" strike="noStrike">
                <a:solidFill>
                  <a:srgbClr val="0B1020"/>
                </a:solidFill>
                <a:latin typeface="Arial"/>
                <a:ea typeface="Arial"/>
                <a:cs typeface="Arial"/>
                <a:sym typeface="Arial"/>
              </a:rPr>
              <a:t>매장당 하루 6.6건 사용</a:t>
            </a:r>
            <a:endParaRPr b="0" i="0" sz="11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3" name="Google Shape;243;p17"/>
          <p:cNvSpPr/>
          <p:nvPr/>
        </p:nvSpPr>
        <p:spPr>
          <a:xfrm>
            <a:off x="1078992" y="1810512"/>
            <a:ext cx="3200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B6478"/>
              </a:buClr>
              <a:buSzPts val="850"/>
              <a:buFont typeface="Malgun Gothic"/>
              <a:buNone/>
            </a:pPr>
            <a:r>
              <a:rPr b="0" i="0" lang="en-US" sz="850" u="none" cap="none" strike="noStrike">
                <a:solidFill>
                  <a:srgbClr val="5B6478"/>
                </a:solidFill>
                <a:latin typeface="Arial"/>
                <a:ea typeface="Arial"/>
                <a:cs typeface="Arial"/>
                <a:sym typeface="Arial"/>
              </a:rPr>
              <a:t>863건 ÷ 10매장 ÷ 13일</a:t>
            </a:r>
            <a:endParaRPr b="0" i="0" sz="8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4" name="Google Shape;244;p17"/>
          <p:cNvSpPr/>
          <p:nvPr/>
        </p:nvSpPr>
        <p:spPr>
          <a:xfrm>
            <a:off x="530352" y="2011680"/>
            <a:ext cx="457200" cy="192024"/>
          </a:xfrm>
          <a:prstGeom prst="roundRect">
            <a:avLst>
              <a:gd fmla="val 50000" name="adj"/>
            </a:avLst>
          </a:prstGeom>
          <a:solidFill>
            <a:srgbClr val="B45309"/>
          </a:solidFill>
          <a:ln cap="flat" cmpd="sng" w="12700">
            <a:solidFill>
              <a:srgbClr val="B4530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5" name="Google Shape;245;p17"/>
          <p:cNvSpPr/>
          <p:nvPr/>
        </p:nvSpPr>
        <p:spPr>
          <a:xfrm>
            <a:off x="530352" y="2011680"/>
            <a:ext cx="457200" cy="19202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Malgun Gothic"/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가정</a:t>
            </a:r>
            <a:endParaRPr b="0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6" name="Google Shape;246;p17"/>
          <p:cNvSpPr/>
          <p:nvPr/>
        </p:nvSpPr>
        <p:spPr>
          <a:xfrm>
            <a:off x="1078992" y="1993392"/>
            <a:ext cx="32004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B1020"/>
              </a:buClr>
              <a:buSzPts val="1150"/>
              <a:buFont typeface="Malgun Gothic"/>
              <a:buNone/>
            </a:pPr>
            <a:r>
              <a:rPr b="0" i="0" lang="en-US" sz="1150" u="none" cap="none" strike="noStrike">
                <a:solidFill>
                  <a:srgbClr val="0B1020"/>
                </a:solidFill>
                <a:latin typeface="Arial"/>
                <a:ea typeface="Arial"/>
                <a:cs typeface="Arial"/>
                <a:sym typeface="Arial"/>
              </a:rPr>
              <a:t>1건당 찾는 시간 3분 절감</a:t>
            </a:r>
            <a:endParaRPr b="0" i="0" sz="11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7" name="Google Shape;247;p17"/>
          <p:cNvSpPr/>
          <p:nvPr/>
        </p:nvSpPr>
        <p:spPr>
          <a:xfrm>
            <a:off x="1078992" y="2194560"/>
            <a:ext cx="3200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B6478"/>
              </a:buClr>
              <a:buSzPts val="850"/>
              <a:buFont typeface="Malgun Gothic"/>
              <a:buNone/>
            </a:pPr>
            <a:r>
              <a:rPr b="0" i="0" lang="en-US" sz="850" u="none" cap="none" strike="noStrike">
                <a:solidFill>
                  <a:srgbClr val="5B6478"/>
                </a:solidFill>
                <a:latin typeface="Arial"/>
                <a:ea typeface="Arial"/>
                <a:cs typeface="Arial"/>
                <a:sym typeface="Arial"/>
              </a:rPr>
              <a:t>상담사 진술 "찾는 시간이 단축된다"</a:t>
            </a:r>
            <a:endParaRPr b="0" i="0" sz="8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8" name="Google Shape;248;p17"/>
          <p:cNvSpPr/>
          <p:nvPr/>
        </p:nvSpPr>
        <p:spPr>
          <a:xfrm>
            <a:off x="530352" y="2395728"/>
            <a:ext cx="457200" cy="192024"/>
          </a:xfrm>
          <a:prstGeom prst="roundRect">
            <a:avLst>
              <a:gd fmla="val 50000" name="adj"/>
            </a:avLst>
          </a:prstGeom>
          <a:solidFill>
            <a:srgbClr val="1428A0"/>
          </a:solidFill>
          <a:ln cap="flat" cmpd="sng" w="12700">
            <a:solidFill>
              <a:srgbClr val="1428A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9" name="Google Shape;249;p17"/>
          <p:cNvSpPr/>
          <p:nvPr/>
        </p:nvSpPr>
        <p:spPr>
          <a:xfrm>
            <a:off x="530352" y="2395728"/>
            <a:ext cx="457200" cy="19202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Malgun Gothic"/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계산</a:t>
            </a:r>
            <a:endParaRPr b="0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0" name="Google Shape;250;p17"/>
          <p:cNvSpPr/>
          <p:nvPr/>
        </p:nvSpPr>
        <p:spPr>
          <a:xfrm>
            <a:off x="1078992" y="2377440"/>
            <a:ext cx="32004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428A0"/>
              </a:buClr>
              <a:buSzPts val="1150"/>
              <a:buFont typeface="Malgun Gothic"/>
              <a:buNone/>
            </a:pPr>
            <a:r>
              <a:rPr b="1" i="0" lang="en-US" sz="1150" u="none" cap="none" strike="noStrike">
                <a:solidFill>
                  <a:srgbClr val="1428A0"/>
                </a:solidFill>
                <a:latin typeface="Arial"/>
                <a:ea typeface="Arial"/>
                <a:cs typeface="Arial"/>
                <a:sym typeface="Arial"/>
              </a:rPr>
              <a:t>65개 매장 월 약 </a:t>
            </a:r>
            <a:r>
              <a:rPr b="1" lang="en-US" sz="1150">
                <a:solidFill>
                  <a:srgbClr val="FF0000"/>
                </a:solidFill>
              </a:rPr>
              <a:t>647</a:t>
            </a:r>
            <a:r>
              <a:rPr b="1" i="0" lang="en-US" sz="1150" u="none" cap="none" strike="noStrike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시간</a:t>
            </a:r>
            <a:r>
              <a:rPr b="1" i="0" lang="en-US" sz="1150" u="none" cap="none" strike="noStrike">
                <a:solidFill>
                  <a:srgbClr val="1428A0"/>
                </a:solidFill>
                <a:latin typeface="Arial"/>
                <a:ea typeface="Arial"/>
                <a:cs typeface="Arial"/>
                <a:sym typeface="Arial"/>
              </a:rPr>
              <a:t> 확보</a:t>
            </a:r>
            <a:endParaRPr b="0" i="0" sz="11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1" name="Google Shape;251;p17"/>
          <p:cNvSpPr/>
          <p:nvPr/>
        </p:nvSpPr>
        <p:spPr>
          <a:xfrm>
            <a:off x="1078992" y="2578608"/>
            <a:ext cx="3200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B6478"/>
              </a:buClr>
              <a:buSzPts val="850"/>
              <a:buFont typeface="Malgun Gothic"/>
              <a:buNone/>
            </a:pPr>
            <a:r>
              <a:rPr b="0" i="0" lang="en-US" sz="850" u="none" cap="none" strike="noStrike">
                <a:solidFill>
                  <a:srgbClr val="5B6478"/>
                </a:solidFill>
                <a:latin typeface="Arial"/>
                <a:ea typeface="Arial"/>
                <a:cs typeface="Arial"/>
                <a:sym typeface="Arial"/>
              </a:rPr>
              <a:t>6.6건 × 3분 × </a:t>
            </a:r>
            <a:r>
              <a:rPr lang="en-US" sz="850">
                <a:solidFill>
                  <a:srgbClr val="5B6478"/>
                </a:solidFill>
              </a:rPr>
              <a:t>평균30</a:t>
            </a:r>
            <a:r>
              <a:rPr b="0" i="0" lang="en-US" sz="850" u="none" cap="none" strike="noStrike">
                <a:solidFill>
                  <a:srgbClr val="5B6478"/>
                </a:solidFill>
                <a:latin typeface="Arial"/>
                <a:ea typeface="Arial"/>
                <a:cs typeface="Arial"/>
                <a:sym typeface="Arial"/>
              </a:rPr>
              <a:t>영업일 × 65매장</a:t>
            </a:r>
            <a:endParaRPr b="0" i="0" sz="8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2" name="Google Shape;252;p17"/>
          <p:cNvSpPr/>
          <p:nvPr/>
        </p:nvSpPr>
        <p:spPr>
          <a:xfrm>
            <a:off x="530352" y="2779776"/>
            <a:ext cx="457200" cy="192024"/>
          </a:xfrm>
          <a:prstGeom prst="roundRect">
            <a:avLst>
              <a:gd fmla="val 50000" name="adj"/>
            </a:avLst>
          </a:prstGeom>
          <a:solidFill>
            <a:srgbClr val="1428A0"/>
          </a:solidFill>
          <a:ln cap="flat" cmpd="sng" w="12700">
            <a:solidFill>
              <a:srgbClr val="1428A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3" name="Google Shape;253;p17"/>
          <p:cNvSpPr/>
          <p:nvPr/>
        </p:nvSpPr>
        <p:spPr>
          <a:xfrm>
            <a:off x="530352" y="2779776"/>
            <a:ext cx="457200" cy="19202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Malgun Gothic"/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계산</a:t>
            </a:r>
            <a:endParaRPr b="0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4" name="Google Shape;254;p17"/>
          <p:cNvSpPr/>
          <p:nvPr/>
        </p:nvSpPr>
        <p:spPr>
          <a:xfrm>
            <a:off x="1078992" y="2761488"/>
            <a:ext cx="32004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428A0"/>
              </a:buClr>
              <a:buSzPts val="1150"/>
              <a:buFont typeface="Malgun Gothic"/>
              <a:buNone/>
            </a:pPr>
            <a:r>
              <a:rPr b="1" i="0" lang="en-US" sz="1150" u="none" cap="none" strike="noStrike">
                <a:solidFill>
                  <a:srgbClr val="1428A0"/>
                </a:solidFill>
                <a:latin typeface="Arial"/>
                <a:ea typeface="Arial"/>
                <a:cs typeface="Arial"/>
                <a:sym typeface="Arial"/>
              </a:rPr>
              <a:t>연 약 </a:t>
            </a:r>
            <a:r>
              <a:rPr b="1" lang="en-US" sz="1150">
                <a:solidFill>
                  <a:srgbClr val="1428A0"/>
                </a:solidFill>
              </a:rPr>
              <a:t>7,8</a:t>
            </a:r>
            <a:r>
              <a:rPr b="1" i="0" lang="en-US" sz="1150" u="none" cap="none" strike="noStrike">
                <a:solidFill>
                  <a:srgbClr val="1428A0"/>
                </a:solidFill>
                <a:latin typeface="Arial"/>
                <a:ea typeface="Arial"/>
                <a:cs typeface="Arial"/>
                <a:sym typeface="Arial"/>
              </a:rPr>
              <a:t>00시간 = 상담사 </a:t>
            </a:r>
            <a:r>
              <a:rPr b="1" i="0" lang="en-US" sz="1150" u="none" cap="none" strike="noStrike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3.</a:t>
            </a:r>
            <a:r>
              <a:rPr b="1" lang="en-US" sz="1150">
                <a:solidFill>
                  <a:srgbClr val="FF0000"/>
                </a:solidFill>
              </a:rPr>
              <a:t>7</a:t>
            </a:r>
            <a:r>
              <a:rPr b="1" i="0" lang="en-US" sz="1150" u="none" cap="none" strike="noStrike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명분 </a:t>
            </a:r>
            <a:r>
              <a:rPr b="1" i="0" lang="en-US" sz="115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응대 여력 확보</a:t>
            </a:r>
            <a:endParaRPr b="0" i="0" sz="11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5" name="Google Shape;255;p17"/>
          <p:cNvSpPr/>
          <p:nvPr/>
        </p:nvSpPr>
        <p:spPr>
          <a:xfrm>
            <a:off x="1078992" y="2962656"/>
            <a:ext cx="3200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B6478"/>
              </a:buClr>
              <a:buSzPts val="850"/>
              <a:buFont typeface="Malgun Gothic"/>
              <a:buNone/>
            </a:pPr>
            <a:r>
              <a:rPr b="0" i="0" lang="en-US" sz="850" u="none" cap="none" strike="noStrike">
                <a:solidFill>
                  <a:srgbClr val="5B6478"/>
                </a:solidFill>
                <a:latin typeface="Arial"/>
                <a:ea typeface="Arial"/>
                <a:cs typeface="Arial"/>
                <a:sym typeface="Arial"/>
              </a:rPr>
              <a:t>월 근무 176시간(22일 × 8시간) 기준 환산</a:t>
            </a:r>
            <a:endParaRPr b="0" i="0" sz="8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6" name="Google Shape;256;p17"/>
          <p:cNvSpPr/>
          <p:nvPr/>
        </p:nvSpPr>
        <p:spPr>
          <a:xfrm>
            <a:off x="4663440" y="1188720"/>
            <a:ext cx="4114800" cy="2011680"/>
          </a:xfrm>
          <a:prstGeom prst="rect">
            <a:avLst/>
          </a:prstGeom>
          <a:solidFill>
            <a:srgbClr val="F7F8FB"/>
          </a:solidFill>
          <a:ln cap="flat" cmpd="sng" w="12700">
            <a:solidFill>
              <a:srgbClr val="DDE1E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7" name="Google Shape;257;p17"/>
          <p:cNvSpPr/>
          <p:nvPr/>
        </p:nvSpPr>
        <p:spPr>
          <a:xfrm>
            <a:off x="4663440" y="1188720"/>
            <a:ext cx="4114800" cy="54864"/>
          </a:xfrm>
          <a:prstGeom prst="rect">
            <a:avLst/>
          </a:prstGeom>
          <a:solidFill>
            <a:srgbClr val="1428A0"/>
          </a:solidFill>
          <a:ln cap="flat" cmpd="sng" w="12700">
            <a:solidFill>
              <a:srgbClr val="1428A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8" name="Google Shape;258;p17"/>
          <p:cNvSpPr/>
          <p:nvPr/>
        </p:nvSpPr>
        <p:spPr>
          <a:xfrm>
            <a:off x="4828032" y="1298448"/>
            <a:ext cx="37947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428A0"/>
              </a:buClr>
              <a:buSzPts val="1250"/>
              <a:buFont typeface="Malgun Gothic"/>
              <a:buNone/>
            </a:pPr>
            <a:r>
              <a:rPr b="1" i="0" lang="en-US" sz="1250" u="none" cap="none" strike="noStrike">
                <a:solidFill>
                  <a:srgbClr val="1428A0"/>
                </a:solidFill>
                <a:latin typeface="Arial"/>
                <a:ea typeface="Arial"/>
                <a:cs typeface="Arial"/>
                <a:sym typeface="Arial"/>
              </a:rPr>
              <a:t>비용 — 회사가 안 쓰게 되는 돈</a:t>
            </a:r>
            <a:endParaRPr b="0" i="0" sz="12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9" name="Google Shape;259;p17"/>
          <p:cNvSpPr/>
          <p:nvPr/>
        </p:nvSpPr>
        <p:spPr>
          <a:xfrm>
            <a:off x="4828032" y="1627632"/>
            <a:ext cx="457200" cy="192024"/>
          </a:xfrm>
          <a:prstGeom prst="roundRect">
            <a:avLst>
              <a:gd fmla="val 50000" name="adj"/>
            </a:avLst>
          </a:prstGeom>
          <a:solidFill>
            <a:srgbClr val="166534"/>
          </a:solidFill>
          <a:ln cap="flat" cmpd="sng" w="12700">
            <a:solidFill>
              <a:srgbClr val="16653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0" name="Google Shape;260;p17"/>
          <p:cNvSpPr/>
          <p:nvPr/>
        </p:nvSpPr>
        <p:spPr>
          <a:xfrm>
            <a:off x="4828032" y="1627632"/>
            <a:ext cx="457200" cy="19202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Malgun Gothic"/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실측</a:t>
            </a:r>
            <a:endParaRPr b="0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1" name="Google Shape;261;p17"/>
          <p:cNvSpPr/>
          <p:nvPr/>
        </p:nvSpPr>
        <p:spPr>
          <a:xfrm>
            <a:off x="5376672" y="1609344"/>
            <a:ext cx="32004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B1020"/>
              </a:buClr>
              <a:buSzPts val="1150"/>
              <a:buFont typeface="Malgun Gothic"/>
              <a:buNone/>
            </a:pPr>
            <a:r>
              <a:rPr b="0" i="0" lang="en-US" sz="1150" u="none" cap="none" strike="noStrike">
                <a:solidFill>
                  <a:srgbClr val="0B1020"/>
                </a:solidFill>
                <a:latin typeface="Arial"/>
                <a:ea typeface="Arial"/>
                <a:cs typeface="Arial"/>
                <a:sym typeface="Arial"/>
              </a:rPr>
              <a:t>설치환경 가이드 128건 · 1위</a:t>
            </a:r>
            <a:endParaRPr b="0" i="0" sz="11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2" name="Google Shape;262;p17"/>
          <p:cNvSpPr/>
          <p:nvPr/>
        </p:nvSpPr>
        <p:spPr>
          <a:xfrm>
            <a:off x="5376672" y="1810512"/>
            <a:ext cx="3200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B6478"/>
              </a:buClr>
              <a:buSzPts val="850"/>
              <a:buFont typeface="Malgun Gothic"/>
              <a:buNone/>
            </a:pPr>
            <a:r>
              <a:rPr b="0" i="0" lang="en-US" sz="850" u="none" cap="none" strike="noStrike">
                <a:solidFill>
                  <a:srgbClr val="5B6478"/>
                </a:solidFill>
                <a:latin typeface="Arial"/>
                <a:ea typeface="Arial"/>
                <a:cs typeface="Arial"/>
                <a:sym typeface="Arial"/>
              </a:rPr>
              <a:t>계약 전에 설치 조건을 확인한 횟수</a:t>
            </a:r>
            <a:endParaRPr b="0" i="0" sz="8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3" name="Google Shape;263;p17"/>
          <p:cNvSpPr/>
          <p:nvPr/>
        </p:nvSpPr>
        <p:spPr>
          <a:xfrm>
            <a:off x="4828032" y="2011680"/>
            <a:ext cx="457200" cy="192024"/>
          </a:xfrm>
          <a:prstGeom prst="roundRect">
            <a:avLst>
              <a:gd fmla="val 50000" name="adj"/>
            </a:avLst>
          </a:prstGeom>
          <a:solidFill>
            <a:srgbClr val="B45309"/>
          </a:solidFill>
          <a:ln cap="flat" cmpd="sng" w="12700">
            <a:solidFill>
              <a:srgbClr val="B4530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4" name="Google Shape;264;p17"/>
          <p:cNvSpPr/>
          <p:nvPr/>
        </p:nvSpPr>
        <p:spPr>
          <a:xfrm>
            <a:off x="4828032" y="2011680"/>
            <a:ext cx="457200" cy="19202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Malgun Gothic"/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가정</a:t>
            </a:r>
            <a:endParaRPr b="0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5" name="Google Shape;265;p17"/>
          <p:cNvSpPr/>
          <p:nvPr/>
        </p:nvSpPr>
        <p:spPr>
          <a:xfrm>
            <a:off x="5376672" y="1993392"/>
            <a:ext cx="32004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B1020"/>
              </a:buClr>
              <a:buSzPts val="1150"/>
              <a:buFont typeface="Malgun Gothic"/>
              <a:buNone/>
            </a:pPr>
            <a:r>
              <a:rPr b="0" i="0" lang="en-US" sz="1150" u="none" cap="none" strike="noStrike">
                <a:solidFill>
                  <a:srgbClr val="0B1020"/>
                </a:solidFill>
                <a:latin typeface="Arial"/>
                <a:ea typeface="Arial"/>
                <a:cs typeface="Arial"/>
                <a:sym typeface="Arial"/>
              </a:rPr>
              <a:t>설치 재방문 1건당 비용</a:t>
            </a:r>
            <a:endParaRPr b="0" i="0" sz="11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6" name="Google Shape;266;p17"/>
          <p:cNvSpPr/>
          <p:nvPr/>
        </p:nvSpPr>
        <p:spPr>
          <a:xfrm>
            <a:off x="5376672" y="2194560"/>
            <a:ext cx="3200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B6478"/>
              </a:buClr>
              <a:buSzPts val="850"/>
              <a:buFont typeface="Malgun Gothic"/>
              <a:buNone/>
            </a:pPr>
            <a:r>
              <a:rPr b="0" i="0" lang="en-US" sz="850" u="none" cap="none" strike="noStrike">
                <a:solidFill>
                  <a:srgbClr val="5B6478"/>
                </a:solidFill>
                <a:latin typeface="Arial"/>
                <a:ea typeface="Arial"/>
                <a:cs typeface="Arial"/>
                <a:sym typeface="Arial"/>
              </a:rPr>
              <a:t>기사 출동 + 일정 재조정 + 응대 (사내 기준 </a:t>
            </a:r>
            <a:r>
              <a:rPr lang="en-US" sz="850">
                <a:solidFill>
                  <a:srgbClr val="5B6478"/>
                </a:solidFill>
              </a:rPr>
              <a:t>적용</a:t>
            </a:r>
            <a:r>
              <a:rPr b="0" i="0" lang="en-US" sz="850" u="none" cap="none" strike="noStrike">
                <a:solidFill>
                  <a:srgbClr val="5B6478"/>
                </a:solidFill>
                <a:latin typeface="Arial"/>
                <a:ea typeface="Arial"/>
                <a:cs typeface="Arial"/>
                <a:sym typeface="Arial"/>
              </a:rPr>
              <a:t>)</a:t>
            </a:r>
            <a:endParaRPr b="0" i="0" sz="8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7" name="Google Shape;267;p17"/>
          <p:cNvSpPr/>
          <p:nvPr/>
        </p:nvSpPr>
        <p:spPr>
          <a:xfrm>
            <a:off x="4828032" y="2395728"/>
            <a:ext cx="457200" cy="192024"/>
          </a:xfrm>
          <a:prstGeom prst="roundRect">
            <a:avLst>
              <a:gd fmla="val 50000" name="adj"/>
            </a:avLst>
          </a:prstGeom>
          <a:solidFill>
            <a:srgbClr val="1428A0"/>
          </a:solidFill>
          <a:ln cap="flat" cmpd="sng" w="12700">
            <a:solidFill>
              <a:srgbClr val="1428A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8" name="Google Shape;268;p17"/>
          <p:cNvSpPr/>
          <p:nvPr/>
        </p:nvSpPr>
        <p:spPr>
          <a:xfrm>
            <a:off x="4828032" y="2395728"/>
            <a:ext cx="457200" cy="19202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Malgun Gothic"/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계산</a:t>
            </a:r>
            <a:endParaRPr b="0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9" name="Google Shape;269;p17"/>
          <p:cNvSpPr/>
          <p:nvPr/>
        </p:nvSpPr>
        <p:spPr>
          <a:xfrm>
            <a:off x="5376672" y="2377440"/>
            <a:ext cx="32004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428A0"/>
              </a:buClr>
              <a:buSzPts val="1150"/>
              <a:buFont typeface="Malgun Gothic"/>
              <a:buNone/>
            </a:pPr>
            <a:r>
              <a:rPr b="1" i="0" lang="en-US" sz="1150" u="none" cap="none" strike="noStrike">
                <a:solidFill>
                  <a:srgbClr val="1428A0"/>
                </a:solidFill>
                <a:latin typeface="Arial"/>
                <a:ea typeface="Arial"/>
                <a:cs typeface="Arial"/>
                <a:sym typeface="Arial"/>
              </a:rPr>
              <a:t>매장당 월 1건이면 연 780건</a:t>
            </a:r>
            <a:endParaRPr b="0" i="0" sz="11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0" name="Google Shape;270;p17"/>
          <p:cNvSpPr/>
          <p:nvPr/>
        </p:nvSpPr>
        <p:spPr>
          <a:xfrm>
            <a:off x="5376672" y="2578608"/>
            <a:ext cx="3200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B6478"/>
              </a:buClr>
              <a:buSzPts val="850"/>
              <a:buFont typeface="Malgun Gothic"/>
              <a:buNone/>
            </a:pPr>
            <a:r>
              <a:rPr b="0" i="0" lang="en-US" sz="850" u="none" cap="none" strike="noStrike">
                <a:solidFill>
                  <a:srgbClr val="5B6478"/>
                </a:solidFill>
                <a:latin typeface="Arial"/>
                <a:ea typeface="Arial"/>
                <a:cs typeface="Arial"/>
                <a:sym typeface="Arial"/>
              </a:rPr>
              <a:t>65매장 × 12개월</a:t>
            </a:r>
            <a:endParaRPr b="0" i="0" sz="8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1" name="Google Shape;271;p17"/>
          <p:cNvSpPr/>
          <p:nvPr/>
        </p:nvSpPr>
        <p:spPr>
          <a:xfrm>
            <a:off x="4828032" y="2779776"/>
            <a:ext cx="457200" cy="192024"/>
          </a:xfrm>
          <a:prstGeom prst="roundRect">
            <a:avLst>
              <a:gd fmla="val 50000" name="adj"/>
            </a:avLst>
          </a:prstGeom>
          <a:solidFill>
            <a:srgbClr val="1428A0"/>
          </a:solidFill>
          <a:ln cap="flat" cmpd="sng" w="12700">
            <a:solidFill>
              <a:srgbClr val="1428A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2" name="Google Shape;272;p17"/>
          <p:cNvSpPr/>
          <p:nvPr/>
        </p:nvSpPr>
        <p:spPr>
          <a:xfrm>
            <a:off x="4828032" y="2779776"/>
            <a:ext cx="457200" cy="19202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Malgun Gothic"/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계산</a:t>
            </a:r>
            <a:endParaRPr b="0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3" name="Google Shape;273;p17"/>
          <p:cNvSpPr/>
          <p:nvPr/>
        </p:nvSpPr>
        <p:spPr>
          <a:xfrm>
            <a:off x="5376672" y="2761488"/>
            <a:ext cx="32004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428A0"/>
              </a:buClr>
              <a:buSzPts val="1150"/>
              <a:buFont typeface="Malgun Gothic"/>
              <a:buNone/>
            </a:pPr>
            <a:r>
              <a:rPr b="1" i="0" lang="en-US" sz="1150" u="none" cap="none" strike="noStrike">
                <a:solidFill>
                  <a:srgbClr val="1428A0"/>
                </a:solidFill>
                <a:latin typeface="Arial"/>
                <a:ea typeface="Arial"/>
                <a:cs typeface="Arial"/>
                <a:sym typeface="Arial"/>
              </a:rPr>
              <a:t>취소 1건 = 계약 금액 전액 손실</a:t>
            </a:r>
            <a:endParaRPr b="0" i="0" sz="11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4" name="Google Shape;274;p17"/>
          <p:cNvSpPr/>
          <p:nvPr/>
        </p:nvSpPr>
        <p:spPr>
          <a:xfrm>
            <a:off x="5376672" y="2962656"/>
            <a:ext cx="3200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B6478"/>
              </a:buClr>
              <a:buSzPts val="850"/>
              <a:buFont typeface="Malgun Gothic"/>
              <a:buNone/>
            </a:pPr>
            <a:r>
              <a:rPr b="0" i="0" lang="en-US" sz="850" u="none" cap="none" strike="noStrike">
                <a:solidFill>
                  <a:srgbClr val="5B6478"/>
                </a:solidFill>
                <a:latin typeface="Arial"/>
                <a:ea typeface="Arial"/>
                <a:cs typeface="Arial"/>
                <a:sym typeface="Arial"/>
              </a:rPr>
              <a:t>한 건을 막으면 그 금액을 그대로 지킵니다</a:t>
            </a:r>
            <a:endParaRPr b="0" i="0" sz="8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5" name="Google Shape;275;p17"/>
          <p:cNvSpPr/>
          <p:nvPr/>
        </p:nvSpPr>
        <p:spPr>
          <a:xfrm>
            <a:off x="365760" y="3291840"/>
            <a:ext cx="8412480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B1020"/>
              </a:buClr>
              <a:buSzPts val="1100"/>
              <a:buFont typeface="Malgun Gothic"/>
              <a:buNone/>
            </a:pPr>
            <a:r>
              <a:rPr b="1" i="0" lang="en-US" sz="1100" u="none" cap="none" strike="noStrike">
                <a:solidFill>
                  <a:srgbClr val="0B1020"/>
                </a:solidFill>
                <a:latin typeface="Arial"/>
                <a:ea typeface="Arial"/>
                <a:cs typeface="Arial"/>
                <a:sym typeface="Arial"/>
              </a:rPr>
              <a:t>가정을 바꿔도 결과는 동일합니다</a:t>
            </a:r>
            <a:endParaRPr b="0" i="0" sz="1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6" name="Google Shape;276;p17"/>
          <p:cNvSpPr/>
          <p:nvPr/>
        </p:nvSpPr>
        <p:spPr>
          <a:xfrm>
            <a:off x="365760" y="3566160"/>
            <a:ext cx="2651760" cy="713232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DDE1E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7" name="Google Shape;277;p17"/>
          <p:cNvSpPr/>
          <p:nvPr/>
        </p:nvSpPr>
        <p:spPr>
          <a:xfrm>
            <a:off x="502920" y="3611880"/>
            <a:ext cx="237744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B6478"/>
              </a:buClr>
              <a:buSzPts val="1000"/>
              <a:buFont typeface="Malgun Gothic"/>
              <a:buNone/>
            </a:pPr>
            <a:r>
              <a:rPr b="0" i="0" lang="en-US" sz="1000" u="none" cap="none" strike="noStrike">
                <a:solidFill>
                  <a:srgbClr val="5B6478"/>
                </a:solidFill>
                <a:latin typeface="Arial"/>
                <a:ea typeface="Arial"/>
                <a:cs typeface="Arial"/>
                <a:sym typeface="Arial"/>
              </a:rPr>
              <a:t>보수적 2분</a:t>
            </a:r>
            <a:endParaRPr b="0" i="0" sz="1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8" name="Google Shape;278;p17"/>
          <p:cNvSpPr/>
          <p:nvPr/>
        </p:nvSpPr>
        <p:spPr>
          <a:xfrm>
            <a:off x="502920" y="3813048"/>
            <a:ext cx="12344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B1020"/>
              </a:buClr>
              <a:buSzPts val="1500"/>
              <a:buFont typeface="Malgun Gothic"/>
              <a:buNone/>
            </a:pPr>
            <a:r>
              <a:rPr b="1" i="0" lang="en-US" sz="1500" u="none" cap="none" strike="noStrike">
                <a:solidFill>
                  <a:srgbClr val="0B1020"/>
                </a:solidFill>
                <a:latin typeface="Arial"/>
                <a:ea typeface="Arial"/>
                <a:cs typeface="Arial"/>
                <a:sym typeface="Arial"/>
              </a:rPr>
              <a:t>월 </a:t>
            </a:r>
            <a:r>
              <a:rPr b="1" lang="en-US" sz="1500">
                <a:solidFill>
                  <a:srgbClr val="0B1020"/>
                </a:solidFill>
              </a:rPr>
              <a:t>432</a:t>
            </a:r>
            <a:r>
              <a:rPr b="1" i="0" lang="en-US" sz="1500" u="none" cap="none" strike="noStrike">
                <a:solidFill>
                  <a:srgbClr val="0B1020"/>
                </a:solidFill>
                <a:latin typeface="Arial"/>
                <a:ea typeface="Arial"/>
                <a:cs typeface="Arial"/>
                <a:sym typeface="Arial"/>
              </a:rPr>
              <a:t>시간</a:t>
            </a:r>
            <a:endParaRPr b="0" i="0" sz="15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9" name="Google Shape;279;p17"/>
          <p:cNvSpPr/>
          <p:nvPr/>
        </p:nvSpPr>
        <p:spPr>
          <a:xfrm>
            <a:off x="1737360" y="3840480"/>
            <a:ext cx="11430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B6478"/>
              </a:buClr>
              <a:buSzPts val="1100"/>
              <a:buFont typeface="Malgun Gothic"/>
              <a:buNone/>
            </a:pPr>
            <a:r>
              <a:rPr b="0" i="0" lang="en-US" sz="1100" u="none" cap="none" strike="noStrike">
                <a:solidFill>
                  <a:srgbClr val="5B6478"/>
                </a:solidFill>
                <a:latin typeface="Arial"/>
                <a:ea typeface="Arial"/>
                <a:cs typeface="Arial"/>
                <a:sym typeface="Arial"/>
              </a:rPr>
              <a:t>연 </a:t>
            </a:r>
            <a:r>
              <a:rPr lang="en-US" sz="1100">
                <a:solidFill>
                  <a:srgbClr val="5B6478"/>
                </a:solidFill>
              </a:rPr>
              <a:t>5</a:t>
            </a:r>
            <a:r>
              <a:rPr b="0" i="0" lang="en-US" sz="1100" u="none" cap="none" strike="noStrike">
                <a:solidFill>
                  <a:srgbClr val="5B6478"/>
                </a:solidFill>
                <a:latin typeface="Arial"/>
                <a:ea typeface="Arial"/>
                <a:cs typeface="Arial"/>
                <a:sym typeface="Arial"/>
              </a:rPr>
              <a:t>,</a:t>
            </a:r>
            <a:r>
              <a:rPr lang="en-US" sz="1100">
                <a:solidFill>
                  <a:srgbClr val="5B6478"/>
                </a:solidFill>
              </a:rPr>
              <a:t>2</a:t>
            </a:r>
            <a:r>
              <a:rPr b="0" i="0" lang="en-US" sz="1100" u="none" cap="none" strike="noStrike">
                <a:solidFill>
                  <a:srgbClr val="5B6478"/>
                </a:solidFill>
                <a:latin typeface="Arial"/>
                <a:ea typeface="Arial"/>
                <a:cs typeface="Arial"/>
                <a:sym typeface="Arial"/>
              </a:rPr>
              <a:t>00시간</a:t>
            </a:r>
            <a:endParaRPr b="0" i="0" sz="1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0" name="Google Shape;280;p17"/>
          <p:cNvSpPr/>
          <p:nvPr/>
        </p:nvSpPr>
        <p:spPr>
          <a:xfrm>
            <a:off x="3200400" y="3566160"/>
            <a:ext cx="2651760" cy="713232"/>
          </a:xfrm>
          <a:prstGeom prst="rect">
            <a:avLst/>
          </a:prstGeom>
          <a:solidFill>
            <a:srgbClr val="0F766E"/>
          </a:solidFill>
          <a:ln cap="flat" cmpd="sng" w="12700">
            <a:solidFill>
              <a:srgbClr val="0F766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1" name="Google Shape;281;p17"/>
          <p:cNvSpPr/>
          <p:nvPr/>
        </p:nvSpPr>
        <p:spPr>
          <a:xfrm>
            <a:off x="3337560" y="3611880"/>
            <a:ext cx="237744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7E7E3"/>
              </a:buClr>
              <a:buSzPts val="1000"/>
              <a:buFont typeface="Malgun Gothic"/>
              <a:buNone/>
            </a:pPr>
            <a:r>
              <a:rPr b="0" i="0" lang="en-US" sz="1000" u="none" cap="none" strike="noStrike">
                <a:solidFill>
                  <a:srgbClr val="C7E7E3"/>
                </a:solidFill>
                <a:latin typeface="Arial"/>
                <a:ea typeface="Arial"/>
                <a:cs typeface="Arial"/>
                <a:sym typeface="Arial"/>
              </a:rPr>
              <a:t>기준 3분</a:t>
            </a:r>
            <a:endParaRPr b="0" i="0" sz="1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2" name="Google Shape;282;p17"/>
          <p:cNvSpPr/>
          <p:nvPr/>
        </p:nvSpPr>
        <p:spPr>
          <a:xfrm>
            <a:off x="3337560" y="3813048"/>
            <a:ext cx="12344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00"/>
              <a:buFont typeface="Malgun Gothic"/>
              <a:buNone/>
            </a:pPr>
            <a:r>
              <a:rPr b="1" i="0" lang="en-US" sz="15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월 </a:t>
            </a:r>
            <a:r>
              <a:rPr b="1" lang="en-US" sz="1500">
                <a:solidFill>
                  <a:srgbClr val="FFFFFF"/>
                </a:solidFill>
              </a:rPr>
              <a:t>647</a:t>
            </a:r>
            <a:r>
              <a:rPr b="1" i="0" lang="en-US" sz="15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시간</a:t>
            </a:r>
            <a:endParaRPr b="0" i="0" sz="15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3" name="Google Shape;283;p17"/>
          <p:cNvSpPr/>
          <p:nvPr/>
        </p:nvSpPr>
        <p:spPr>
          <a:xfrm>
            <a:off x="4572000" y="3840480"/>
            <a:ext cx="11430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7E7E3"/>
              </a:buClr>
              <a:buSzPts val="1100"/>
              <a:buFont typeface="Malgun Gothic"/>
              <a:buNone/>
            </a:pPr>
            <a:r>
              <a:rPr b="0" i="0" lang="en-US" sz="1100" u="none" cap="none" strike="noStrike">
                <a:solidFill>
                  <a:srgbClr val="C7E7E3"/>
                </a:solidFill>
                <a:latin typeface="Arial"/>
                <a:ea typeface="Arial"/>
                <a:cs typeface="Arial"/>
                <a:sym typeface="Arial"/>
              </a:rPr>
              <a:t>연 </a:t>
            </a:r>
            <a:r>
              <a:rPr lang="en-US" sz="1100">
                <a:solidFill>
                  <a:srgbClr val="C7E7E3"/>
                </a:solidFill>
              </a:rPr>
              <a:t>7,8</a:t>
            </a:r>
            <a:r>
              <a:rPr b="0" i="0" lang="en-US" sz="1100" u="none" cap="none" strike="noStrike">
                <a:solidFill>
                  <a:srgbClr val="C7E7E3"/>
                </a:solidFill>
                <a:latin typeface="Arial"/>
                <a:ea typeface="Arial"/>
                <a:cs typeface="Arial"/>
                <a:sym typeface="Arial"/>
              </a:rPr>
              <a:t>00시간</a:t>
            </a:r>
            <a:endParaRPr b="0" i="0" sz="1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4" name="Google Shape;284;p17"/>
          <p:cNvSpPr/>
          <p:nvPr/>
        </p:nvSpPr>
        <p:spPr>
          <a:xfrm>
            <a:off x="6035040" y="3566160"/>
            <a:ext cx="2651760" cy="713232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DDE1E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5" name="Google Shape;285;p17"/>
          <p:cNvSpPr/>
          <p:nvPr/>
        </p:nvSpPr>
        <p:spPr>
          <a:xfrm>
            <a:off x="6172200" y="3611880"/>
            <a:ext cx="237744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B6478"/>
              </a:buClr>
              <a:buSzPts val="1000"/>
              <a:buFont typeface="Malgun Gothic"/>
              <a:buNone/>
            </a:pPr>
            <a:r>
              <a:rPr b="0" i="0" lang="en-US" sz="1000" u="none" cap="none" strike="noStrike">
                <a:solidFill>
                  <a:srgbClr val="5B6478"/>
                </a:solidFill>
                <a:latin typeface="Arial"/>
                <a:ea typeface="Arial"/>
                <a:cs typeface="Arial"/>
                <a:sym typeface="Arial"/>
              </a:rPr>
              <a:t>적극적 5분</a:t>
            </a:r>
            <a:endParaRPr b="0" i="0" sz="1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6" name="Google Shape;286;p17"/>
          <p:cNvSpPr/>
          <p:nvPr/>
        </p:nvSpPr>
        <p:spPr>
          <a:xfrm>
            <a:off x="6107126" y="3813050"/>
            <a:ext cx="12996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B1020"/>
              </a:buClr>
              <a:buSzPts val="1500"/>
              <a:buFont typeface="Malgun Gothic"/>
              <a:buNone/>
            </a:pPr>
            <a:r>
              <a:rPr b="1" i="0" lang="en-US" sz="1500" u="none" cap="none" strike="noStrike">
                <a:solidFill>
                  <a:srgbClr val="0B1020"/>
                </a:solidFill>
                <a:latin typeface="Arial"/>
                <a:ea typeface="Arial"/>
                <a:cs typeface="Arial"/>
                <a:sym typeface="Arial"/>
              </a:rPr>
              <a:t>월 </a:t>
            </a:r>
            <a:r>
              <a:rPr b="1" lang="en-US" sz="1500">
                <a:solidFill>
                  <a:srgbClr val="0B1020"/>
                </a:solidFill>
              </a:rPr>
              <a:t>1,079</a:t>
            </a:r>
            <a:r>
              <a:rPr b="1" i="0" lang="en-US" sz="1500" u="none" cap="none" strike="noStrike">
                <a:solidFill>
                  <a:srgbClr val="0B1020"/>
                </a:solidFill>
                <a:latin typeface="Arial"/>
                <a:ea typeface="Arial"/>
                <a:cs typeface="Arial"/>
                <a:sym typeface="Arial"/>
              </a:rPr>
              <a:t>시간</a:t>
            </a:r>
            <a:endParaRPr b="0" i="0" sz="15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7" name="Google Shape;287;p17"/>
          <p:cNvSpPr/>
          <p:nvPr/>
        </p:nvSpPr>
        <p:spPr>
          <a:xfrm>
            <a:off x="7406640" y="3840480"/>
            <a:ext cx="11430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B6478"/>
              </a:buClr>
              <a:buSzPts val="1100"/>
              <a:buFont typeface="Malgun Gothic"/>
              <a:buNone/>
            </a:pPr>
            <a:r>
              <a:rPr b="0" i="0" lang="en-US" sz="1100" u="none" cap="none" strike="noStrike">
                <a:solidFill>
                  <a:srgbClr val="5B6478"/>
                </a:solidFill>
                <a:latin typeface="Arial"/>
                <a:ea typeface="Arial"/>
                <a:cs typeface="Arial"/>
                <a:sym typeface="Arial"/>
              </a:rPr>
              <a:t>연 1</a:t>
            </a:r>
            <a:r>
              <a:rPr lang="en-US" sz="1100">
                <a:solidFill>
                  <a:srgbClr val="5B6478"/>
                </a:solidFill>
              </a:rPr>
              <a:t>2</a:t>
            </a:r>
            <a:r>
              <a:rPr b="0" i="0" lang="en-US" sz="1100" u="none" cap="none" strike="noStrike">
                <a:solidFill>
                  <a:srgbClr val="5B6478"/>
                </a:solidFill>
                <a:latin typeface="Arial"/>
                <a:ea typeface="Arial"/>
                <a:cs typeface="Arial"/>
                <a:sym typeface="Arial"/>
              </a:rPr>
              <a:t>,</a:t>
            </a:r>
            <a:r>
              <a:rPr lang="en-US" sz="1100">
                <a:solidFill>
                  <a:srgbClr val="5B6478"/>
                </a:solidFill>
              </a:rPr>
              <a:t>9</a:t>
            </a:r>
            <a:r>
              <a:rPr b="0" i="0" lang="en-US" sz="1100" u="none" cap="none" strike="noStrike">
                <a:solidFill>
                  <a:srgbClr val="5B6478"/>
                </a:solidFill>
                <a:latin typeface="Arial"/>
                <a:ea typeface="Arial"/>
                <a:cs typeface="Arial"/>
                <a:sym typeface="Arial"/>
              </a:rPr>
              <a:t>00시간</a:t>
            </a:r>
            <a:endParaRPr b="0" i="0" sz="1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8" name="Google Shape;288;p17"/>
          <p:cNvSpPr/>
          <p:nvPr/>
        </p:nvSpPr>
        <p:spPr>
          <a:xfrm>
            <a:off x="365760" y="4370832"/>
            <a:ext cx="8412480" cy="457200"/>
          </a:xfrm>
          <a:prstGeom prst="rect">
            <a:avLst/>
          </a:prstGeom>
          <a:solidFill>
            <a:srgbClr val="1428A0"/>
          </a:solidFill>
          <a:ln cap="flat" cmpd="sng" w="12700">
            <a:solidFill>
              <a:srgbClr val="1428A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9" name="Google Shape;289;p17"/>
          <p:cNvSpPr/>
          <p:nvPr/>
        </p:nvSpPr>
        <p:spPr>
          <a:xfrm>
            <a:off x="548640" y="4370832"/>
            <a:ext cx="80467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Malgun Gothic"/>
              <a:buNone/>
            </a:pPr>
            <a:r>
              <a:rPr b="1" i="0" lang="en-US" sz="12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가장 보수적으로 잡아도 65개 매장에서 연 </a:t>
            </a:r>
            <a:r>
              <a:rPr b="1" lang="en-US" sz="1200">
                <a:solidFill>
                  <a:srgbClr val="FFFFFF"/>
                </a:solidFill>
              </a:rPr>
              <a:t>5</a:t>
            </a:r>
            <a:r>
              <a:rPr b="1" i="0" lang="en-US" sz="12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,</a:t>
            </a:r>
            <a:r>
              <a:rPr b="1" lang="en-US" sz="1200">
                <a:solidFill>
                  <a:srgbClr val="FFFFFF"/>
                </a:solidFill>
              </a:rPr>
              <a:t>2</a:t>
            </a:r>
            <a:r>
              <a:rPr b="1" i="0" lang="en-US" sz="12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00시간입니다 — 도입 비용이 0원이라 절약된 시간이 그대로 순증입니다</a:t>
            </a:r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0" name="Google Shape;290;p17"/>
          <p:cNvSpPr/>
          <p:nvPr/>
        </p:nvSpPr>
        <p:spPr>
          <a:xfrm>
            <a:off x="7132150" y="310891"/>
            <a:ext cx="2011800" cy="255900"/>
          </a:xfrm>
          <a:prstGeom prst="rect">
            <a:avLst/>
          </a:prstGeom>
          <a:solidFill>
            <a:srgbClr val="1428A0"/>
          </a:solidFill>
          <a:ln cap="flat" cmpd="sng" w="12700">
            <a:solidFill>
              <a:srgbClr val="1428A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1" name="Google Shape;291;p17"/>
          <p:cNvSpPr/>
          <p:nvPr/>
        </p:nvSpPr>
        <p:spPr>
          <a:xfrm>
            <a:off x="7172700" y="317335"/>
            <a:ext cx="1971300" cy="255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Malgun Gothic"/>
              <a:buNone/>
            </a:pPr>
            <a:r>
              <a:rPr b="0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세일즈 코파일럿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2" name="Google Shape;292;p17"/>
          <p:cNvSpPr/>
          <p:nvPr/>
        </p:nvSpPr>
        <p:spPr>
          <a:xfrm>
            <a:off x="0" y="5065775"/>
            <a:ext cx="9144000" cy="77700"/>
          </a:xfrm>
          <a:prstGeom prst="rect">
            <a:avLst/>
          </a:prstGeom>
          <a:solidFill>
            <a:srgbClr val="1428A0"/>
          </a:solidFill>
          <a:ln cap="flat" cmpd="sng" w="12700">
            <a:solidFill>
              <a:srgbClr val="1428A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3" name="Google Shape;293;p17"/>
          <p:cNvSpPr/>
          <p:nvPr/>
        </p:nvSpPr>
        <p:spPr>
          <a:xfrm>
            <a:off x="8473800" y="4841350"/>
            <a:ext cx="551700" cy="255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B6478"/>
              </a:buClr>
              <a:buSzPts val="900"/>
              <a:buFont typeface="Malgun Gothic"/>
              <a:buNone/>
            </a:pPr>
            <a:r>
              <a:rPr b="0" i="0" lang="en-US" sz="900" u="none" cap="none" strike="noStrike">
                <a:solidFill>
                  <a:srgbClr val="5B6478"/>
                </a:solidFill>
                <a:latin typeface="Arial"/>
                <a:ea typeface="Arial"/>
                <a:cs typeface="Arial"/>
                <a:sym typeface="Arial"/>
              </a:rPr>
              <a:t>9/10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7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p6"/>
          <p:cNvSpPr/>
          <p:nvPr/>
        </p:nvSpPr>
        <p:spPr>
          <a:xfrm>
            <a:off x="7132150" y="310891"/>
            <a:ext cx="2011800" cy="255900"/>
          </a:xfrm>
          <a:prstGeom prst="rect">
            <a:avLst/>
          </a:prstGeom>
          <a:solidFill>
            <a:srgbClr val="1428A0"/>
          </a:solidFill>
          <a:ln cap="flat" cmpd="sng" w="12700">
            <a:solidFill>
              <a:srgbClr val="1428A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9" name="Google Shape;299;p6"/>
          <p:cNvSpPr/>
          <p:nvPr/>
        </p:nvSpPr>
        <p:spPr>
          <a:xfrm>
            <a:off x="7172700" y="317335"/>
            <a:ext cx="1971300" cy="255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Malgun Gothic"/>
              <a:buNone/>
            </a:pPr>
            <a:r>
              <a:rPr b="0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세일즈 코파일럿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0" name="Google Shape;300;p6"/>
          <p:cNvSpPr/>
          <p:nvPr/>
        </p:nvSpPr>
        <p:spPr>
          <a:xfrm>
            <a:off x="0" y="5065775"/>
            <a:ext cx="9144000" cy="77700"/>
          </a:xfrm>
          <a:prstGeom prst="rect">
            <a:avLst/>
          </a:prstGeom>
          <a:solidFill>
            <a:srgbClr val="1428A0"/>
          </a:solidFill>
          <a:ln cap="flat" cmpd="sng" w="12700">
            <a:solidFill>
              <a:srgbClr val="1428A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1" name="Google Shape;301;p6"/>
          <p:cNvSpPr txBox="1"/>
          <p:nvPr/>
        </p:nvSpPr>
        <p:spPr>
          <a:xfrm>
            <a:off x="640080" y="700000"/>
            <a:ext cx="7863840" cy="42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US" sz="2400" u="none" cap="none" strike="noStrike">
                <a:solidFill>
                  <a:srgbClr val="1428A0"/>
                </a:solidFill>
                <a:latin typeface="Arial"/>
                <a:ea typeface="Arial"/>
                <a:cs typeface="Arial"/>
                <a:sym typeface="Arial"/>
              </a:rPr>
              <a:t>지금 바로 열어 보세요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2" name="Google Shape;302;p6"/>
          <p:cNvSpPr txBox="1"/>
          <p:nvPr/>
        </p:nvSpPr>
        <p:spPr>
          <a:xfrm>
            <a:off x="640080" y="1130000"/>
            <a:ext cx="7863840" cy="26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휴대폰 카메라로 QR을 비추면 됩니다 — 로그인도, 설치도 필요 없습니다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salescopilot-store.vercel.app QR 코드" id="303" name="Google Shape;303;p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47000" y="1500000"/>
            <a:ext cx="2050000" cy="2050000"/>
          </a:xfrm>
          <a:prstGeom prst="rect">
            <a:avLst/>
          </a:prstGeom>
          <a:noFill/>
          <a:ln>
            <a:noFill/>
          </a:ln>
        </p:spPr>
      </p:pic>
      <p:sp>
        <p:nvSpPr>
          <p:cNvPr id="304" name="Google Shape;304;p6"/>
          <p:cNvSpPr txBox="1"/>
          <p:nvPr/>
        </p:nvSpPr>
        <p:spPr>
          <a:xfrm>
            <a:off x="640080" y="3700000"/>
            <a:ext cx="7863840" cy="3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1428A0"/>
                </a:solidFill>
                <a:latin typeface="Arial"/>
                <a:ea typeface="Arial"/>
                <a:cs typeface="Arial"/>
                <a:sym typeface="Arial"/>
              </a:rPr>
              <a:t>salescopilot-store.vercel.app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5" name="Google Shape;305;p6"/>
          <p:cNvSpPr txBox="1"/>
          <p:nvPr/>
        </p:nvSpPr>
        <p:spPr>
          <a:xfrm>
            <a:off x="640080" y="4020000"/>
            <a:ext cx="7863840" cy="26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세일즈 코파일럿 · 경원영업팀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2026-08-10T00:11:11Z</dcterms:created>
  <dc:creator>경원영업팀</dc:creator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SCPROP">
    <vt:lpwstr>NSCCustomProperty</vt:lpwstr>
  </property>
</Properties>
</file>