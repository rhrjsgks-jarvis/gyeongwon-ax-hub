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5602" userDrawn="1">
          <p15:clr>
            <a:srgbClr val="A4A3A4"/>
          </p15:clr>
        </p15:guide>
        <p15:guide id="3" pos="272" userDrawn="1">
          <p15:clr>
            <a:srgbClr val="A4A3A4"/>
          </p15:clr>
        </p15:guide>
        <p15:guide id="4" orient="horz" pos="2777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z1KAqwfwE8HmeX57C8bVekDMX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8A0"/>
    <a:srgbClr val="0F766E"/>
    <a:srgbClr val="7C2D8F"/>
    <a:srgbClr val="EEDFF1"/>
    <a:srgbClr val="DAB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7" d="100"/>
          <a:sy n="157" d="100"/>
        </p:scale>
        <p:origin x="294" y="138"/>
      </p:cViewPr>
      <p:guideLst>
        <p:guide orient="horz" pos="1620"/>
        <p:guide pos="5602"/>
        <p:guide pos="272"/>
        <p:guide orient="horz" pos="27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[1쪽 · 표지 · 20초]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안녕하십니까, 경원영업팀 ○○○입니다.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</a:t>
            </a:r>
            <a:r>
              <a:rPr lang="ko-KR" sz="1100" b="1"/>
              <a:t>세일즈 코파일럿</a:t>
            </a:r>
            <a:r>
              <a:rPr lang="ko-KR" sz="1100" b="0"/>
              <a:t>입니다. 상담사를 대신하는 도구가 아니라 </a:t>
            </a:r>
            <a:r>
              <a:rPr lang="ko-KR" sz="1100" b="1"/>
              <a:t>옆자리에서 같이 나는 부조종사</a:t>
            </a:r>
            <a:r>
              <a:rPr lang="ko-KR" sz="1100" b="0"/>
              <a:t>입니다. 답을 대신 말하지 않고 </a:t>
            </a:r>
            <a:r>
              <a:rPr lang="ko-KR" sz="1100" b="1"/>
              <a:t>근거를 꺼내 줍니다.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기준은 세 가지, </a:t>
            </a:r>
            <a:r>
              <a:rPr lang="ko-KR" sz="1100" b="1"/>
              <a:t>정확도·속도·일관성</a:t>
            </a:r>
            <a:r>
              <a:rPr lang="ko-KR" sz="1100" b="0"/>
              <a:t>입니다. 10개 매장 13일 시범운영 결과까지 말씀드리겠습니다.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※ 하단 「외부 개발비 0원 · 운영비 0원 · 앱 설치 불필요」를 짚고 넘어갑니다.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-KR" sz="1100"/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── 발표 전 점검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· </a:t>
            </a:r>
            <a:r>
              <a:rPr lang="ko-KR" sz="1100" b="1"/>
              <a:t>시연이 절반입니다.</a:t>
            </a:r>
            <a:r>
              <a:rPr lang="ko-KR" sz="1100" b="0"/>
              <a:t> 발표 4분 40초 + 시연 3분 50초 — 슬라이드에서 시간을 쓰면 시연이 잘립니다.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· 시연 전에 </a:t>
            </a:r>
            <a:r>
              <a:rPr lang="ko-KR" sz="1100" b="1"/>
              <a:t>본인 휴대폰으로 전 과정을 한 번 돌려 보고</a:t>
            </a:r>
            <a:r>
              <a:rPr lang="ko-KR" sz="1100" b="0"/>
              <a:t> 들어갑니다. 매장 와이파이가 아니라 </a:t>
            </a:r>
            <a:r>
              <a:rPr lang="ko-KR" sz="1100" b="1"/>
              <a:t>현장 전파</a:t>
            </a:r>
            <a:r>
              <a:rPr lang="ko-KR" sz="1100" b="0"/>
              <a:t>로 확인하세요.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· 동시 시연은 </a:t>
            </a:r>
            <a:r>
              <a:rPr lang="ko-KR" sz="1100" b="1"/>
              <a:t>“다 되신 분 손 들어 주세요”</a:t>
            </a:r>
            <a:r>
              <a:rPr lang="ko-KR" sz="1100" b="0"/>
              <a:t>로 속도를 맞춥니다. 두세 명이 늦으면 기다리지 말고 </a:t>
            </a:r>
            <a:r>
              <a:rPr lang="ko-KR" sz="1100" b="1"/>
              <a:t>“뒤에서 다시 보시면 됩니다”</a:t>
            </a:r>
            <a:r>
              <a:rPr lang="ko-KR" sz="1100" b="0"/>
              <a:t>로 넘어갑니다.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· QR은 </a:t>
            </a:r>
            <a:r>
              <a:rPr lang="ko-KR" sz="1100" b="1"/>
              <a:t>미리 한 번 스캔해 보고</a:t>
            </a:r>
            <a:r>
              <a:rPr lang="ko-KR" sz="1100" b="0"/>
              <a:t> 들어갑니다. 그 자리에서 안 열리면 신뢰를 잃습니다.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· 4·5·6쪽 캡처는 </a:t>
            </a:r>
            <a:r>
              <a:rPr lang="ko-KR" sz="1100" b="1"/>
              <a:t>글자를 읽지 말고 손으로 위치를 짚습니다.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· 9쪽은 </a:t>
            </a:r>
            <a:r>
              <a:rPr lang="ko-KR" sz="1100" b="1"/>
              <a:t>실측과 가정을 반드시 갈라서</a:t>
            </a:r>
            <a:r>
              <a:rPr lang="ko-KR" sz="1100" b="0"/>
              <a:t> 말합니다. 섞으면 첫 질문이 “그 숫자 근거가 뭡니까”로 옵니다.</a:t>
            </a: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[2쪽 · 기획 배경 및 타겟 · 45초]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왜 만들었느냐. </a:t>
            </a:r>
            <a:r>
              <a:rPr lang="ko-KR" sz="1100" b="1"/>
              <a:t>정보가 없어서가 아니었습니다.</a:t>
            </a:r>
            <a:r>
              <a:rPr lang="ko-KR" sz="1100" b="0"/>
              <a:t> 삼성닷컴에도 카탈로그에도 답은 이미 있었습니다. 문제는 </a:t>
            </a:r>
            <a:r>
              <a:rPr lang="ko-KR" sz="1100" b="1"/>
              <a:t>고객 앞에 선 그 순간에 꺼내 쓸 수 있는 형태가 아니었다</a:t>
            </a:r>
            <a:r>
              <a:rPr lang="ko-KR" sz="1100" b="0"/>
              <a:t>는 것입니다.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★ 이건 저 혼자 발견한 게 아닙니다. </a:t>
            </a:r>
            <a:r>
              <a:rPr lang="ko-KR" sz="1100" b="1"/>
              <a:t>경원영업팀장님께서 현장의 이 지점을 계속 짚어 주셨고</a:t>
            </a:r>
            <a:r>
              <a:rPr lang="ko-KR" sz="1100" b="0"/>
              <a:t>, 팀원들이 매장에서 겪은 사례를 꺼내 주셨습니다.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★ </a:t>
            </a:r>
            <a:r>
              <a:rPr lang="ko-KR" sz="1100" b="1"/>
              <a:t>팀장님의 관심과 팀원들의 현장 경험에서 영감을 얻어 만든 것이 이 도구입니다.</a:t>
            </a:r>
            <a:r>
              <a:rPr lang="ko-KR" sz="1100" b="0"/>
              <a:t> 저는 그것을 화면으로 옮겼을 뿐입니다.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그래서 외부 개발 없이 팀 내부에서 만들었습니다. </a:t>
            </a:r>
            <a:r>
              <a:rPr lang="ko-KR" sz="1100" b="1"/>
              <a:t>개발비 0원, 운영비 0원</a:t>
            </a:r>
            <a:r>
              <a:rPr lang="ko-KR" sz="1100" b="0"/>
              <a:t>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쓰는 사람은 </a:t>
            </a:r>
            <a:r>
              <a:rPr lang="ko-KR" sz="1100" b="1"/>
              <a:t>매장에서 고객을 직접 응대하는 상담 매니저</a:t>
            </a:r>
            <a:r>
              <a:rPr lang="ko-KR" sz="1100" b="0"/>
              <a:t>입니다. 65개 매장에서 로그인도 설치도 없이 바로 열립니다.</a:t>
            </a:r>
          </a:p>
        </p:txBody>
      </p:sp>
      <p:sp>
        <p:nvSpPr>
          <p:cNvPr id="34" name="Google Shape;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[3쪽 · As-Is vs To-Be · 30초]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상담사의 행동이 바뀌면 지점 실적이 바뀝니다.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</a:t>
            </a:r>
            <a:r>
              <a:rPr lang="ko-KR" sz="1100" b="1"/>
              <a:t>속도</a:t>
            </a:r>
            <a:r>
              <a:rPr lang="ko-KR" sz="1100" b="0"/>
              <a:t> — 카탈로그로 못 찾던 조건을, 검색창에 넣으면 바로 확인합니다.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</a:t>
            </a:r>
            <a:r>
              <a:rPr lang="ko-KR" sz="1100" b="1"/>
              <a:t>정확도</a:t>
            </a:r>
            <a:r>
              <a:rPr lang="ko-KR" sz="1100" b="0"/>
              <a:t> — 설치 제약을 몰라 계약 당일 취소되던 것을, 판매 전 30초에 확인합니다.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</a:t>
            </a:r>
            <a:r>
              <a:rPr lang="ko-KR" sz="1100" b="1"/>
              <a:t>일관성</a:t>
            </a:r>
            <a:r>
              <a:rPr lang="ko-KR" sz="1100" b="0"/>
              <a:t> — 사람마다 다르던 답을, 신입도 첫날부터 같은 수준으로 말합니다.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이 세 줄을 </a:t>
            </a:r>
            <a:r>
              <a:rPr lang="ko-KR" sz="1100" b="1"/>
              <a:t>다음 세 장에서 실제 화면으로</a:t>
            </a:r>
            <a:r>
              <a:rPr lang="ko-KR" sz="1100" b="0"/>
              <a:t> 보여드리겠습니다.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-KR" sz="1100"/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── 동시 시연 0 · 다 같이 접속 — 여기서 모두 손에 앱을 켭니다 · 30초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여기서 잠깐 멈추겠습니다. </a:t>
            </a:r>
            <a:r>
              <a:rPr lang="ko-KR" sz="1100" b="1"/>
              <a:t>지금 화면의 QR을 각자 휴대폰으로 찍어 주세요.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</a:t>
            </a:r>
            <a:r>
              <a:rPr lang="ko-KR" sz="1100" b="1"/>
              <a:t>로그인도 설치도 없습니다.</a:t>
            </a:r>
            <a:r>
              <a:rPr lang="ko-KR" sz="1100" b="0"/>
              <a:t> 열리신 분은 손 들어 주시면 됩니다.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1) 휴대폰 카메라를 켜고 </a:t>
            </a:r>
            <a:r>
              <a:rPr lang="ko-KR" sz="1100" b="1"/>
              <a:t>화면의 QR</a:t>
            </a:r>
            <a:r>
              <a:rPr lang="ko-KR" sz="1100" b="0"/>
              <a:t>을 비춥니다 (직접 입력은 </a:t>
            </a:r>
            <a:r>
              <a:rPr lang="ko-KR" sz="1100" b="1"/>
              <a:t>salescopilot-store.vercel.app</a:t>
            </a:r>
            <a:r>
              <a:rPr lang="ko-KR" sz="1100" b="0"/>
              <a:t>)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2) 「세일즈 코파일럿」 첫 화면이 뜨면 성공입니다 — </a:t>
            </a:r>
            <a:r>
              <a:rPr lang="ko-KR" sz="1100" b="1"/>
              <a:t>맨 위 파란 검색창</a:t>
            </a:r>
            <a:r>
              <a:rPr lang="ko-KR" sz="1100" b="0"/>
              <a:t>과 </a:t>
            </a:r>
            <a:r>
              <a:rPr lang="ko-KR" sz="1100" b="1"/>
              <a:t>맨 아래 바로가기 줄</a:t>
            </a:r>
            <a:r>
              <a:rPr lang="ko-KR" sz="1100" b="0"/>
              <a:t>이 보이면 제대로 열린 것입니다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※ 전파가 약한 분은 따라오지 마시고 </a:t>
            </a:r>
            <a:r>
              <a:rPr lang="ko-KR" sz="1100" b="1"/>
              <a:t>제 화면만</a:t>
            </a:r>
            <a:r>
              <a:rPr lang="ko-KR" sz="1100" b="0"/>
              <a:t> 보셔도 됩니다. 뒤에서 다시 열어 보시면 됩니다.</a:t>
            </a:r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c50b3b74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[4쪽 · 정확도 — 설치 조건을 계약 전에 확인 · 45초]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먼저 정확도입니다. </a:t>
            </a:r>
            <a:r>
              <a:rPr lang="ko-KR" sz="1100" b="1"/>
              <a:t>시범 기간에 가장 많이 열린 화면, 128건으로 1위</a:t>
            </a:r>
            <a:r>
              <a:rPr lang="ko-KR" sz="1100" b="0"/>
              <a:t>였습니다.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21개 카테고리의 전기·배수·이격·문 폭을 한눈에 봅니다. 이 규격도는 </a:t>
            </a:r>
            <a:r>
              <a:rPr lang="ko-KR" sz="1100" b="1"/>
              <a:t>삼성닷컴 공식 자료 그대로</a:t>
            </a:r>
            <a:r>
              <a:rPr lang="ko-KR" sz="1100" b="0"/>
              <a:t>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1위였다는 사실이 중요합니다. </a:t>
            </a:r>
            <a:r>
              <a:rPr lang="ko-KR" sz="1100" b="1"/>
              <a:t>현장이 가장 무서워하는 게 설치 불가</a:t>
            </a:r>
            <a:r>
              <a:rPr lang="ko-KR" sz="1100" b="0"/>
              <a:t>라는 뜻이기 때문입니다.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설치가 안 되면 기사 재방문 비용, 일정 재조정, 반품 손해가 함께 옵니다. </a:t>
            </a:r>
            <a:r>
              <a:rPr lang="ko-KR" sz="1100" b="1"/>
              <a:t>판매 전 30초면 그 비용을 만회합니다.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(밀리면 뺌) 매니저에게는 취소 확률이 낮아지는 일이고, 지점에는 재방문·재조정·취소가 줄어드는 일입니다.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-KR" sz="1100"/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── 동시 시연 A · 정확도 — 설치 조건을 30초에 확인 · 1분 20초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제가 하나씩 부르겠습니다. </a:t>
            </a:r>
            <a:r>
              <a:rPr lang="ko-KR" sz="1100" b="1"/>
              <a:t>같이 눌러 보시죠.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이 화면이 시범 기간 </a:t>
            </a:r>
            <a:r>
              <a:rPr lang="ko-KR" sz="1100" b="1"/>
              <a:t>1위</a:t>
            </a:r>
            <a:r>
              <a:rPr lang="ko-KR" sz="1100" b="0"/>
              <a:t>였던 그 화면입니다.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1) 맨 아래 바로가기에서 </a:t>
            </a:r>
            <a:r>
              <a:rPr lang="ko-KR" sz="1100" b="1"/>
              <a:t>「설치환경 가이드」</a:t>
            </a:r>
            <a:r>
              <a:rPr lang="ko-KR" sz="1100" b="0"/>
              <a:t>를 누릅니다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2) 위쪽 </a:t>
            </a:r>
            <a:r>
              <a:rPr lang="ko-KR" sz="1100" b="1"/>
              <a:t>「① 카테고리 검색 · 선택」</a:t>
            </a:r>
            <a:r>
              <a:rPr lang="ko-KR" sz="1100" b="0"/>
              <a:t> 아래 검색창에 </a:t>
            </a:r>
            <a:r>
              <a:rPr lang="ko-KR" sz="1100" b="1"/>
              <a:t>키친핏</a:t>
            </a:r>
            <a:r>
              <a:rPr lang="ko-KR" sz="1100" b="0"/>
              <a:t> 이라고 칩니다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3) 남는 타일 중 </a:t>
            </a:r>
            <a:r>
              <a:rPr lang="ko-KR" sz="1100" b="1"/>
              <a:t>「냉장고 4도어 키친핏」</a:t>
            </a:r>
            <a:r>
              <a:rPr lang="ko-KR" sz="1100" b="0"/>
              <a:t>을 누릅니다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4) 화면을 내려 </a:t>
            </a:r>
            <a:r>
              <a:rPr lang="ko-KR" sz="1100" b="1"/>
              <a:t>「삼성닷컴 공식 설치가이드 이미지」</a:t>
            </a:r>
            <a:r>
              <a:rPr lang="ko-KR" sz="1100" b="0"/>
              <a:t> 카드를 봅니다 — </a:t>
            </a:r>
            <a:r>
              <a:rPr lang="ko-KR" sz="1100" b="1"/>
              <a:t>규격도가 그대로</a:t>
            </a:r>
            <a:r>
              <a:rPr lang="ko-KR" sz="1100" b="0"/>
              <a:t> 들어 있습니다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5) 그 위의 </a:t>
            </a:r>
            <a:r>
              <a:rPr lang="ko-KR" sz="1100" b="1"/>
              <a:t>공간 · 설비 · 체크리스트</a:t>
            </a:r>
            <a:r>
              <a:rPr lang="ko-KR" sz="1100" b="0"/>
              <a:t>를 짚습니다 — 문 폭, 이격, 전기까지 여기서 끝납니다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※ “이걸 계약 전에 보면 설치 당일 취소가 사라집니다” 한 마디로 마무리합니다.</a:t>
            </a:r>
          </a:p>
        </p:txBody>
      </p:sp>
      <p:sp>
        <p:nvSpPr>
          <p:cNvPr id="82" name="Google Shape;82;g3f6c50b3b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c50b3b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f6c50b3b7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[5쪽 · 속도 — 모델파인더 · 35초]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다음은 속도, </a:t>
            </a:r>
            <a:r>
              <a:rPr lang="ko-KR" sz="1100" b="1"/>
              <a:t>두 번째로 많이 열린 화면 120건</a:t>
            </a:r>
            <a:r>
              <a:rPr lang="ko-KR" sz="1100" b="0"/>
              <a:t>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예전에는 모델명·치수·기능을 기억에서 꺼내야 했고, 안 나면 카탈로그를 뒤졌습니다. </a:t>
            </a:r>
            <a:r>
              <a:rPr lang="ko-KR" sz="1100" b="1"/>
              <a:t>그동안 고객은 기다렸습니다.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지금은 </a:t>
            </a:r>
            <a:r>
              <a:rPr lang="ko-KR" sz="1100" b="1"/>
              <a:t>키워드 한 줄이면 조건이 겹쳐 좁혀집니다.</a:t>
            </a:r>
            <a:r>
              <a:rPr lang="ko-KR" sz="1100" b="0"/>
              <a:t> 무풍, 공기청정, 예산을 한 번에 넣으면 목록이 바로 나옵니다.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지점에는 </a:t>
            </a:r>
            <a:r>
              <a:rPr lang="ko-KR" sz="1100" b="1"/>
              <a:t>응대 회전율</a:t>
            </a:r>
            <a:r>
              <a:rPr lang="ko-KR" sz="1100" b="0"/>
              <a:t> — 받을 수 있는 고객 수가 늘어납니다.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-KR" sz="1100"/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── 동시 시연 B · 속도 — 키워드 한 줄로 조건 좁히기 · 1분 10초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이번엔 조건을 겹쳐서 좁히는 것을 보시겠습니다.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1) 맨 아래 바로가기에서 </a:t>
            </a:r>
            <a:r>
              <a:rPr lang="ko-KR" sz="1100" b="1"/>
              <a:t>「제품 상세검색」</a:t>
            </a:r>
            <a:r>
              <a:rPr lang="ko-KR" sz="1100" b="0"/>
              <a:t>을 누릅니다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2) 검색창(</a:t>
            </a:r>
            <a:r>
              <a:rPr lang="ko-KR" sz="1100" b="1"/>
              <a:t>예: 무풍 에어컨 19평</a:t>
            </a:r>
            <a:r>
              <a:rPr lang="ko-KR" sz="1100" b="0"/>
              <a:t> 이라고 적힌 칸)에 </a:t>
            </a:r>
            <a:r>
              <a:rPr lang="ko-KR" sz="1100" b="1"/>
              <a:t>무풍 공기청정 19평</a:t>
            </a:r>
            <a:r>
              <a:rPr lang="ko-KR" sz="1100" b="0"/>
              <a:t> 이라고 칩니다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3) </a:t>
            </a:r>
            <a:r>
              <a:rPr lang="ko-KR" sz="1100" b="1"/>
              <a:t>「검색」</a:t>
            </a:r>
            <a:r>
              <a:rPr lang="ko-KR" sz="1100" b="0"/>
              <a:t>을 누릅니다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4) 결과 위의 </a:t>
            </a:r>
            <a:r>
              <a:rPr lang="ko-KR" sz="1100" b="1"/>
              <a:t>해석 줄</a:t>
            </a:r>
            <a:r>
              <a:rPr lang="ko-KR" sz="1100" b="0"/>
              <a:t>을 봅니다 — </a:t>
            </a:r>
            <a:r>
              <a:rPr lang="ko-KR" sz="1100" b="1"/>
              <a:t>어떤 조건으로 걸렀는지</a:t>
            </a:r>
            <a:r>
              <a:rPr lang="ko-KR" sz="1100" b="0"/>
              <a:t>가 그대로 적혀 있습니다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5) 조건을 하나 빼고 다시 쳐 봅니다 — </a:t>
            </a:r>
            <a:r>
              <a:rPr lang="ko-KR" sz="1100" b="1"/>
              <a:t>건수가 달라지는 것</a:t>
            </a:r>
            <a:r>
              <a:rPr lang="ko-KR" sz="1100" b="0"/>
              <a:t>을 같이 확인합니다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※ “조건이 실제로 일을 한다”가 이 시연의 요지입니다. 건수 변화를 꼭 소리 내어 읽어 주세요.</a:t>
            </a:r>
          </a:p>
        </p:txBody>
      </p:sp>
      <p:sp>
        <p:nvSpPr>
          <p:cNvPr id="106" name="Google Shape;106;g3f6c50b3b7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[6쪽 · 일관성 — 누가 응대해도 같은 답 · 30초]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세 번째는 일관성입니다.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지점장님이 일일이 확인할 수 없던 </a:t>
            </a:r>
            <a:r>
              <a:rPr lang="ko-KR" sz="1100" b="1"/>
              <a:t>정보 편차</a:t>
            </a:r>
            <a:r>
              <a:rPr lang="ko-KR" sz="1100" b="0"/>
              <a:t>가 사라집니다. </a:t>
            </a:r>
            <a:r>
              <a:rPr lang="ko-KR" sz="1100" b="1"/>
              <a:t>어느 매장에서 열어도 화면이 같기 때문입니다.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외워서 답하지 않고 </a:t>
            </a:r>
            <a:r>
              <a:rPr lang="ko-KR" sz="1100" b="1"/>
              <a:t>같은 화면을 보고 응대합니다.</a:t>
            </a:r>
            <a:r>
              <a:rPr lang="ko-KR" sz="1100" b="0"/>
              <a:t> 그래서 신입 사원도 첫날부터 같은 수준입니다.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-KR" sz="1100"/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── 동시 시연 C · 일관성 — 옆 사람 화면과 같은지 확인 · 50초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마지막입니다. 이건 </a:t>
            </a:r>
            <a:r>
              <a:rPr lang="ko-KR" sz="1100" b="1"/>
              <a:t>옆에 앉은 분과 화면을 맞춰 보시면</a:t>
            </a:r>
            <a:r>
              <a:rPr lang="ko-KR" sz="1100" b="0"/>
              <a:t> 됩니다.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1) 맨 아래 바로가기에서 </a:t>
            </a:r>
            <a:r>
              <a:rPr lang="ko-KR" sz="1100" b="1"/>
              <a:t>「AS 관련 정보」</a:t>
            </a:r>
            <a:r>
              <a:rPr lang="ko-KR" sz="1100" b="0"/>
              <a:t>를 누릅니다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2) 맨 위 검색창(</a:t>
            </a:r>
            <a:r>
              <a:rPr lang="ko-KR" sz="1100" b="1"/>
              <a:t>품목 · 부품 · 지역 · 협력사로 한 번에 찾기</a:t>
            </a:r>
            <a:r>
              <a:rPr lang="ko-KR" sz="1100" b="0"/>
              <a:t>)에 </a:t>
            </a:r>
            <a:r>
              <a:rPr lang="ko-KR" sz="1100" b="1"/>
              <a:t>냉장고 컴프레서</a:t>
            </a:r>
            <a:r>
              <a:rPr lang="ko-KR" sz="1100" b="0"/>
              <a:t> 라고 칩니다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3) 나온 결과를 누르면 </a:t>
            </a:r>
            <a:r>
              <a:rPr lang="ko-KR" sz="1100" b="1"/>
              <a:t>그 항목 자리로 바로 이동</a:t>
            </a:r>
            <a:r>
              <a:rPr lang="ko-KR" sz="1100" b="0"/>
              <a:t>합니다</a:t>
            </a:r>
          </a:p>
          <a:p>
            <a:pPr marL="0" lvl="0" indent="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ko-KR" sz="1100" b="0"/>
              <a:t>4) </a:t>
            </a:r>
            <a:r>
              <a:rPr lang="ko-KR" sz="1100" b="1"/>
              <a:t>옆 사람 화면과 비교해 보십시오.</a:t>
            </a:r>
            <a:r>
              <a:rPr lang="ko-KR" sz="1100" b="0"/>
              <a:t> 같은 숫자가 떠 있습니다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※ “이게 일관성입니다 — 외운 사람과 안 외운 사람의 답이 같아집니다”로 닫습니다.</a:t>
            </a:r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[7쪽 · 개발 중인 프로그램 · 30초]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지금 다듬는 것도 </a:t>
            </a:r>
            <a:r>
              <a:rPr lang="ko-KR" sz="1100" b="1"/>
              <a:t>앱 안에서 이미 열어 보실 수 있습니다.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</a:t>
            </a:r>
            <a:r>
              <a:rPr lang="ko-KR" sz="1100" b="1"/>
              <a:t>가전 배치 시뮬레이터</a:t>
            </a:r>
            <a:r>
              <a:rPr lang="ko-KR" sz="1100" b="0"/>
              <a:t> — 고른 가전을 도면에 맞춰 배치하고 이격거리·간섭까지 판정합니다. 아파트 도면 </a:t>
            </a:r>
            <a:r>
              <a:rPr lang="ko-KR" sz="1100" b="1"/>
              <a:t>158개 단지 855장</a:t>
            </a:r>
            <a:r>
              <a:rPr lang="ko-KR" sz="1100" b="0"/>
              <a:t>을 담았습니다.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</a:t>
            </a:r>
            <a:r>
              <a:rPr lang="ko-KR" sz="1100" b="1"/>
              <a:t>통신 요금제 상담 도구</a:t>
            </a:r>
            <a:r>
              <a:rPr lang="ko-KR" sz="1100" b="0"/>
              <a:t> — 월 납부금액과 할부기간 총액까지 계산합니다.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다음은 </a:t>
            </a:r>
            <a:r>
              <a:rPr lang="ko-KR" sz="1100" b="1"/>
              <a:t>도면 3D</a:t>
            </a:r>
            <a:r>
              <a:rPr lang="ko-KR" sz="1100" b="0"/>
              <a:t>입니다. </a:t>
            </a:r>
            <a:r>
              <a:rPr lang="ko-KR" sz="1100" b="1"/>
              <a:t>우리 집에 설치된 모습</a:t>
            </a:r>
            <a:r>
              <a:rPr lang="ko-KR" sz="1100" b="0"/>
              <a:t>을 그 자리에서 보여드리면 성공률은 더 올라갑니다.</a:t>
            </a:r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[8쪽 · 시범운영 결과 · 40초]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숫자로 말씀드립니다. </a:t>
            </a:r>
            <a:r>
              <a:rPr lang="ko-KR" sz="1100" b="1"/>
              <a:t>10개 매장, 13일, 863건.</a:t>
            </a:r>
            <a:r>
              <a:rPr lang="ko-KR" sz="1100" b="0"/>
              <a:t> 하루 66건입니다.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중요한 건 총량이 아니라 </a:t>
            </a:r>
            <a:r>
              <a:rPr lang="ko-KR" sz="1100" b="1"/>
              <a:t>분포</a:t>
            </a:r>
            <a:r>
              <a:rPr lang="ko-KR" sz="1100" b="0"/>
              <a:t>입니다. 한 기능만 쓰인 게 아닙니다.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상위 셋이 </a:t>
            </a:r>
            <a:r>
              <a:rPr lang="ko-KR" sz="1100" b="1"/>
              <a:t>설치환경 가이드, 모델파인더, 타사비교</a:t>
            </a:r>
            <a:r>
              <a:rPr lang="ko-KR" sz="1100" b="0"/>
              <a:t> — 셋 다 </a:t>
            </a:r>
            <a:r>
              <a:rPr lang="ko-KR" sz="1100" b="1"/>
              <a:t>고객 앞에서 지금 답해야 하는 것들</a:t>
            </a:r>
            <a:r>
              <a:rPr lang="ko-KR" sz="1100" b="0"/>
              <a:t>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구경한 게 아니라 </a:t>
            </a:r>
            <a:r>
              <a:rPr lang="ko-KR" sz="1100" b="1"/>
              <a:t>상담에 실제로 썼다</a:t>
            </a:r>
            <a:r>
              <a:rPr lang="ko-KR" sz="1100" b="0"/>
              <a:t>는 뜻입니다.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(밀리면 뺌) 이 로그 자체가 </a:t>
            </a:r>
            <a:r>
              <a:rPr lang="ko-KR" sz="1100" b="1"/>
              <a:t>무엇을 교육할지의 근거</a:t>
            </a:r>
            <a:r>
              <a:rPr lang="ko-KR" sz="1100" b="0"/>
              <a:t>가 됩니다.</a:t>
            </a:r>
          </a:p>
        </p:txBody>
      </p:sp>
      <p:sp>
        <p:nvSpPr>
          <p:cNvPr id="180" name="Google Shape;18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[9쪽 · 65개 매장 도입 시 기대 효과 · 45초]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마지막으로 65개 매장으로 넓혔을 때입니다.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</a:t>
            </a:r>
            <a:r>
              <a:rPr lang="ko-KR" sz="1100" b="1"/>
              <a:t>실측과 가정을 일부러 갈라 두었습니다.</a:t>
            </a:r>
            <a:r>
              <a:rPr lang="ko-KR" sz="1100" b="0"/>
              <a:t> 가정은 회사 기준으로 바꿔 넣으시면 그대로 답이 나옵니다.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실측은 </a:t>
            </a:r>
            <a:r>
              <a:rPr lang="ko-KR" sz="1100" b="1"/>
              <a:t>매장당 하루 6.6건</a:t>
            </a:r>
            <a:r>
              <a:rPr lang="ko-KR" sz="1100" b="0"/>
              <a:t>. 1건에 3분을 아낀다고 보면 </a:t>
            </a:r>
            <a:r>
              <a:rPr lang="ko-KR" sz="1100" b="1"/>
              <a:t>월 647시간, 연 7,800시간</a:t>
            </a:r>
            <a:r>
              <a:rPr lang="ko-KR" sz="1100" b="0"/>
              <a:t> — </a:t>
            </a:r>
            <a:r>
              <a:rPr lang="ko-KR" sz="1100" b="1"/>
              <a:t>상담사 3.7명분의 응대 여력</a:t>
            </a:r>
            <a:r>
              <a:rPr lang="ko-KR" sz="1100" b="0"/>
              <a:t>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가정을 바꿔도 결론은 같습니다. </a:t>
            </a:r>
            <a:r>
              <a:rPr lang="ko-KR" sz="1100" b="1"/>
              <a:t>가장 보수적으로 2분만 잡아도 연 5,200시간</a:t>
            </a:r>
            <a:r>
              <a:rPr lang="ko-KR" sz="1100" b="0"/>
              <a:t>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</a:t>
            </a:r>
            <a:r>
              <a:rPr lang="ko-KR" sz="1100" b="1"/>
              <a:t>비용 투자 없이 시간을 버는 구조입니다.</a:t>
            </a:r>
          </a:p>
        </p:txBody>
      </p:sp>
      <p:sp>
        <p:nvSpPr>
          <p:cNvPr id="233" name="Google Shape;23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[10쪽 · 마무리 · 20초]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지금 바로 열어 보실 수 있습니다. </a:t>
            </a:r>
            <a:r>
              <a:rPr lang="ko-KR" sz="1100" b="1"/>
              <a:t>QR만 비추시면 되고 로그인도 설치도 없습니다.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★ 다시 말씀드리면, 이 도구는 </a:t>
            </a:r>
            <a:r>
              <a:rPr lang="ko-KR" sz="1100" b="1"/>
              <a:t>팀장님의 관심과 팀원들이 현장에서 쌓은 경험에서 나왔습니다.</a:t>
            </a:r>
            <a:r>
              <a:rPr lang="ko-KR" sz="1100" b="0"/>
              <a:t> 저는 옮겼을 뿐입니다.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ko-KR" sz="1100" b="0"/>
              <a:t>▸ 앞으로도 현장 이야기를 그대로 반영해 계속 다듬겠습니다. 감사합니다.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ko-KR" sz="1100"/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/>
              <a:t>── 예상 질문</a:t>
            </a:r>
          </a:p>
          <a:p>
            <a:pPr marL="0" lvl="0" indent="0" algn="l" rtl="0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ko-KR" sz="1100" b="1"/>
              <a:t>Q. 정보가 틀리면요?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ko-KR" sz="1100" b="0"/>
              <a:t>▸ 출처를 공식 자료로 못 박았습니다 — 삼성스토어 카탈로그·삼성닷컴·삼성멤버스, 타사는 공식 카탈로그입니다.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ko-KR" sz="1100" b="0"/>
              <a:t>▸ 그리고 </a:t>
            </a:r>
            <a:r>
              <a:rPr lang="ko-KR" sz="1100" b="1"/>
              <a:t>확인 못 한 값은 채우지 않고 비워 둡니다.</a:t>
            </a:r>
            <a:r>
              <a:rPr lang="ko-KR" sz="1100" b="0"/>
              <a:t> 추정해서 채우면 상담사가 그걸 사실로 말하게 되기 때문입니다.</a:t>
            </a:r>
          </a:p>
          <a:p>
            <a:pPr marL="0" lvl="0" indent="0" algn="l" rtl="0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ko-KR" sz="1100" b="1"/>
              <a:t>Q. 유지비나 운영 인력은요?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ko-KR" sz="1100" b="0"/>
              <a:t>▸ 개발비·운영비 모두 0원입니다. 웹 주소 하나라 배포도 설치도 없고, 고치면 새로고침만으로 반영됩니다.</a:t>
            </a:r>
          </a:p>
          <a:p>
            <a:pPr marL="0" lvl="0" indent="0" algn="l" rtl="0">
              <a:lnSpc>
                <a:spcPct val="115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ko-KR" sz="1100" b="1"/>
              <a:t>Q. 65개 매장으로 넓히려면요?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ko-KR" sz="1100" b="0"/>
              <a:t>▸ 주소 공유만 하면 됩니다. 매장별 설정도 계정 발급도 없습니다.</a:t>
            </a:r>
          </a:p>
        </p:txBody>
      </p:sp>
      <p:sp>
        <p:nvSpPr>
          <p:cNvPr id="299" name="Google Shape;2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A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lang="en-US" sz="4000" b="1" i="0" u="none" strike="noStrike" cap="none" dirty="0" err="1">
                <a:solidFill>
                  <a:srgbClr val="FFFFF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세일즈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코파일럿</a:t>
            </a:r>
            <a:endParaRPr sz="4000" b="0" i="0" u="none" strike="noStrike" cap="none" dirty="0">
              <a:solidFill>
                <a:schemeClr val="dk1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58368" y="19659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C7D0F5"/>
              </a:buClr>
              <a:buSzPts val="2000"/>
            </a:pPr>
            <a:r>
              <a:rPr lang="en-US" altLang="ko-KR" sz="2000" dirty="0">
                <a:solidFill>
                  <a:srgbClr val="C7D0F5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Right · </a:t>
            </a:r>
            <a:r>
              <a:rPr lang="en-US" sz="2000" b="0" i="0" u="none" strike="noStrike" cap="none" dirty="0">
                <a:solidFill>
                  <a:srgbClr val="C7D0F5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Fast · Every time</a:t>
            </a:r>
            <a:endParaRPr sz="20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363468" y="2694432"/>
            <a:ext cx="251460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363468" y="2694432"/>
            <a:ext cx="2514600" cy="54864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546348" y="28620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0F766E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속도</a:t>
            </a:r>
            <a:endParaRPr sz="15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546348" y="313639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상담 시간을 줄여준다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91896" y="2697480"/>
            <a:ext cx="251460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91896" y="2697480"/>
            <a:ext cx="2514600" cy="5486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74776" y="286512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정확도</a:t>
            </a:r>
            <a:endParaRPr sz="15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74776" y="31394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잘못된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정보를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전달하지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않는다</a:t>
            </a:r>
            <a:endParaRPr sz="11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035040" y="2697480"/>
            <a:ext cx="2514600" cy="7772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035040" y="2697480"/>
            <a:ext cx="2514600" cy="54864"/>
          </a:xfrm>
          <a:prstGeom prst="rect">
            <a:avLst/>
          </a:prstGeom>
          <a:solidFill>
            <a:srgbClr val="7C2D8F"/>
          </a:solidFill>
          <a:ln w="12700" cap="flat" cmpd="sng">
            <a:solidFill>
              <a:srgbClr val="7C2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217920" y="286512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7C2D8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일관성</a:t>
            </a:r>
            <a:endParaRPr sz="15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217920" y="31394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누가 사용해도 같은 답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58368" y="402640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lang="en-US" sz="13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13일</a:t>
            </a:r>
            <a:r>
              <a:rPr lang="en-US" sz="1300" b="0" i="0" u="none" strike="noStrike" cap="none" dirty="0">
                <a:solidFill>
                  <a:schemeClr val="lt1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· 10개 </a:t>
            </a:r>
            <a:r>
              <a:rPr lang="en-US" sz="1300" b="0" i="0" u="none" strike="noStrike" cap="none" dirty="0" err="1">
                <a:solidFill>
                  <a:schemeClr val="lt1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매장</a:t>
            </a:r>
            <a:r>
              <a:rPr lang="en-US" sz="1300" b="0" i="0" u="none" strike="noStrike" cap="none" dirty="0">
                <a:solidFill>
                  <a:schemeClr val="lt1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시범운영</a:t>
            </a:r>
            <a:r>
              <a:rPr lang="en-US" sz="13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결과</a:t>
            </a:r>
            <a:endParaRPr sz="13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58368" y="434644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F5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C7D0F5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경원영업팀 · 2026.08 | 외부 개발비 0원 · 운영비 0원 · 앱 설치 불필요</a:t>
            </a:r>
            <a:endParaRPr sz="115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기획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배경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및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타겟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(Why &amp; Who)</a:t>
            </a:r>
            <a:endParaRPr sz="2500" b="1" i="0" u="none" strike="noStrike" cap="none" dirty="0">
              <a:solidFill>
                <a:srgbClr val="0B102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45007" y="1330000"/>
            <a:ext cx="8448167" cy="155000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5008" y="1330000"/>
            <a:ext cx="73152" cy="15500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01040" y="1510000"/>
            <a:ext cx="7865008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왜 이 프로그램을 만들었는가?</a:t>
            </a:r>
            <a:endParaRPr sz="1500" b="1" i="0" u="none" strike="noStrike" cap="none">
              <a:solidFill>
                <a:srgbClr val="1428A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01040" y="1870000"/>
            <a:ext cx="786500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삼성닷컴 · 카탈로그에 필요한 정보는 이미 있었지만, 상담 중에 꺼내 쓰기가 번거로웠습니다.</a:t>
            </a:r>
            <a:endParaRPr sz="1250" b="1" i="0" u="none" strike="noStrike" cap="none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01040" y="2310000"/>
            <a:ext cx="7865008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그래서 외부 개발 없이, 팀 내부에서 만들었습니다 </a:t>
            </a: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-</a:t>
            </a:r>
            <a:r>
              <a:rPr lang="en-US" sz="11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개발비 0원 · 운영비 0원, 공식 자료를 그대로 가져와 화면 하나로 모았습니다.</a:t>
            </a:r>
            <a:endParaRPr sz="1100" b="0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5007" y="3050000"/>
            <a:ext cx="8448167" cy="155000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45008" y="3050000"/>
            <a:ext cx="73152" cy="1550000"/>
          </a:xfrm>
          <a:prstGeom prst="rect">
            <a:avLst/>
          </a:prstGeom>
          <a:solidFill>
            <a:srgbClr val="7C2D8F"/>
          </a:solidFill>
          <a:ln w="12700" cap="flat" cmpd="sng">
            <a:solidFill>
              <a:srgbClr val="7C2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01040" y="3230000"/>
            <a:ext cx="7865008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7C2D8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누가 사용하는가?</a:t>
            </a:r>
            <a:endParaRPr sz="1500" b="1" i="0" u="none" strike="noStrike" cap="none">
              <a:solidFill>
                <a:srgbClr val="7C2D8F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01040" y="3590000"/>
            <a:ext cx="786500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50"/>
              <a:buFont typeface="Malgun Gothic"/>
              <a:buNone/>
            </a:pPr>
            <a:r>
              <a:rPr lang="en-US" sz="1250" b="1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매장에서 고객을 직접 응대하는 상담 매니저</a:t>
            </a:r>
            <a:endParaRPr sz="1250" b="1" i="0" u="none" strike="noStrike" cap="none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01040" y="4030000"/>
            <a:ext cx="7865008" cy="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경원영업팀 65개 매장 </a:t>
            </a: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-</a:t>
            </a:r>
            <a:r>
              <a:rPr lang="en-US" sz="11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로그인, 설치, 계정 발급 없이 매장 모바일 · 태블릿 · PC에서 바로 사용 가능합니다.</a:t>
            </a:r>
            <a:endParaRPr sz="1100" b="0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2/10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200"/>
              <a:buFont typeface="Malgun Gothic"/>
              <a:buNone/>
            </a:pPr>
            <a:r>
              <a:rPr lang="en-US" sz="22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상담사의</a:t>
            </a:r>
            <a:r>
              <a:rPr lang="en-US" sz="22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행동이</a:t>
            </a:r>
            <a:r>
              <a:rPr lang="en-US" sz="22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바뀌면</a:t>
            </a:r>
            <a:r>
              <a:rPr lang="en-US" sz="22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지점</a:t>
            </a:r>
            <a:r>
              <a:rPr lang="en-US" sz="22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실적이</a:t>
            </a:r>
            <a:r>
              <a:rPr lang="en-US" sz="22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바뀝니다</a:t>
            </a:r>
            <a:endParaRPr sz="2200" b="1" i="0" u="none" strike="noStrike" cap="none" dirty="0">
              <a:solidFill>
                <a:srgbClr val="0B102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기존에는 이렇게 일했습니다 → 세일즈 코파일럿으로 이렇게 바뀝니다</a:t>
            </a:r>
            <a:endParaRPr sz="1250" b="0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1330000"/>
            <a:ext cx="3931921" cy="324990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54880" y="1330000"/>
            <a:ext cx="3931921" cy="3249900"/>
          </a:xfrm>
          <a:prstGeom prst="rect">
            <a:avLst/>
          </a:prstGeom>
          <a:solidFill>
            <a:srgbClr val="F2F5FF"/>
          </a:solidFill>
          <a:ln w="12700" cap="flat" cmpd="sng">
            <a:solidFill>
              <a:srgbClr val="C3CC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1330000"/>
            <a:ext cx="73200" cy="3249900"/>
          </a:xfrm>
          <a:prstGeom prst="rect">
            <a:avLst/>
          </a:prstGeom>
          <a:solidFill>
            <a:srgbClr val="5B6478"/>
          </a:solidFill>
          <a:ln w="12700" cap="flat" cmpd="sng">
            <a:solidFill>
              <a:srgbClr val="5B64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54880" y="1330000"/>
            <a:ext cx="73200" cy="3249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3232" y="1450000"/>
            <a:ext cx="34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50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기존</a:t>
            </a:r>
            <a:r>
              <a:rPr lang="en-US" sz="15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방식</a:t>
            </a:r>
            <a:r>
              <a:rPr lang="en-US" sz="15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(As-Is)</a:t>
            </a:r>
            <a:endParaRPr sz="1500" b="1" i="0" u="none" strike="noStrike" cap="none" dirty="0">
              <a:solidFill>
                <a:srgbClr val="5B6478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10912" y="1450000"/>
            <a:ext cx="34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AI 도입 후 (To-Be)</a:t>
            </a:r>
            <a:endParaRPr sz="1500" b="1" i="0" u="none" strike="noStrike" cap="none">
              <a:solidFill>
                <a:srgbClr val="1428A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85832" y="2759875"/>
            <a:ext cx="1200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algun Gothic"/>
              <a:buNone/>
            </a:pPr>
            <a:r>
              <a:rPr lang="en-US" sz="1200" b="1" i="0" u="none" strike="noStrike" cap="none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속도</a:t>
            </a:r>
            <a:endParaRPr sz="1200" b="1" i="0" u="none" strike="noStrike" cap="none">
              <a:solidFill>
                <a:srgbClr val="0F766E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85832" y="3091625"/>
            <a:ext cx="33999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카탈로그로는 고객이 원하는 조건의 모델을 찾기 어렵다</a:t>
            </a:r>
            <a:endParaRPr sz="1100" b="0" i="0" u="none" strike="noStrike" cap="none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010912" y="2756670"/>
            <a:ext cx="1200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속도</a:t>
            </a:r>
            <a:endParaRPr sz="1200" b="1" i="0" u="none" strike="noStrike" cap="none" dirty="0">
              <a:solidFill>
                <a:srgbClr val="0F766E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010912" y="3091625"/>
            <a:ext cx="33999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검색창에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조건을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입력하면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바로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확인된다</a:t>
            </a:r>
            <a:endParaRPr sz="1100" b="0" i="0" u="none" strike="noStrike" cap="none" dirty="0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85832" y="2000625"/>
            <a:ext cx="1200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00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정확도</a:t>
            </a:r>
            <a:endParaRPr sz="1200" b="1" i="0" u="none" strike="noStrike" cap="none" dirty="0">
              <a:solidFill>
                <a:srgbClr val="1428A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85832" y="2311800"/>
            <a:ext cx="33999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설치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제약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조건을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몰라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계약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후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설치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당일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취소된다</a:t>
            </a:r>
            <a:endParaRPr sz="1100" b="0" i="0" u="none" strike="noStrike" cap="none" dirty="0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10912" y="1999905"/>
            <a:ext cx="1200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00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정확도</a:t>
            </a:r>
            <a:endParaRPr sz="1200" b="1" i="0" u="none" strike="noStrike" cap="none" dirty="0">
              <a:solidFill>
                <a:srgbClr val="1428A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20890" y="2314631"/>
            <a:ext cx="33999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판매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전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설치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가이드를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30초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만에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확인한다</a:t>
            </a:r>
            <a:endParaRPr sz="1100" b="0" i="0" u="none" strike="noStrike" cap="none" dirty="0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01852" y="35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00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7C2D8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일관성</a:t>
            </a:r>
            <a:endParaRPr sz="1200" b="1" i="0" u="none" strike="noStrike" cap="none" dirty="0">
              <a:solidFill>
                <a:srgbClr val="7C2D8F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13232" y="3830000"/>
            <a:ext cx="340000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사람마다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답이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달라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경력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편차가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그대로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응대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품질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편차가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된다</a:t>
            </a:r>
            <a:endParaRPr sz="1100" b="0" i="0" u="none" strike="noStrike" cap="none" dirty="0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10912" y="35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00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7C2D8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일관성</a:t>
            </a:r>
            <a:endParaRPr sz="1200" b="1" i="0" u="none" strike="noStrike" cap="none" dirty="0">
              <a:solidFill>
                <a:srgbClr val="7C2D8F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10912" y="3830000"/>
            <a:ext cx="3675888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신입사원도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첫날부터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동일한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수준으로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응대한다</a:t>
            </a:r>
            <a:endParaRPr sz="1100" b="0" i="0" u="none" strike="noStrike" cap="none" dirty="0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3/10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c50b3b74_0_56"/>
          <p:cNvSpPr/>
          <p:nvPr/>
        </p:nvSpPr>
        <p:spPr>
          <a:xfrm>
            <a:off x="457200" y="274320"/>
            <a:ext cx="868800" cy="27420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85" name="Google Shape;85;g3f6c50b3b74_0_56"/>
          <p:cNvSpPr/>
          <p:nvPr/>
        </p:nvSpPr>
        <p:spPr>
          <a:xfrm>
            <a:off x="457200" y="274320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정확도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86" name="Google Shape;86;g3f6c50b3b74_0_56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설치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조건을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계약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전에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확인</a:t>
            </a:r>
            <a:endParaRPr sz="2500" b="1" i="0" u="none" strike="noStrike" cap="none" dirty="0">
              <a:solidFill>
                <a:srgbClr val="0B102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87" name="Google Shape;87;g3f6c50b3b74_0_56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시범 기간 가장 많이 열린 화면 </a:t>
            </a:r>
            <a:r>
              <a:rPr lang="en-US" sz="125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:</a:t>
            </a:r>
            <a:r>
              <a:rPr lang="en-US" sz="12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128건 · 1위</a:t>
            </a:r>
            <a:endParaRPr sz="1250" b="0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88" name="Google Shape;88;g3f6c50b3b74_0_56"/>
          <p:cNvSpPr/>
          <p:nvPr/>
        </p:nvSpPr>
        <p:spPr>
          <a:xfrm>
            <a:off x="4530475" y="1588540"/>
            <a:ext cx="436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한눈에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확인하는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제품별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설치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가이드</a:t>
            </a:r>
            <a:endParaRPr sz="1500" b="1" i="0" u="none" strike="noStrike" cap="none" dirty="0">
              <a:solidFill>
                <a:srgbClr val="0B102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(21개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카테고리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: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전기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·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배수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·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이격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· 문 폭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사이즈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외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)</a:t>
            </a:r>
            <a:endParaRPr sz="1200" b="0" i="0" u="none" strike="noStrike" cap="none" dirty="0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89" name="Google Shape;89;g3f6c50b3b74_0_56"/>
          <p:cNvSpPr/>
          <p:nvPr/>
        </p:nvSpPr>
        <p:spPr>
          <a:xfrm>
            <a:off x="4530475" y="2164615"/>
            <a:ext cx="4365000" cy="105150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90" name="Google Shape;90;g3f6c50b3b74_0_56"/>
          <p:cNvSpPr/>
          <p:nvPr/>
        </p:nvSpPr>
        <p:spPr>
          <a:xfrm>
            <a:off x="4673328" y="2164615"/>
            <a:ext cx="41271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설치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불가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시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손실</a:t>
            </a:r>
            <a:endParaRPr sz="1200" b="1" i="0" u="none" strike="noStrike" cap="none" dirty="0">
              <a:solidFill>
                <a:srgbClr val="5B6478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100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 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기사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재방문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비용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일정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재조정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시간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반품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손해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비용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등</a:t>
            </a:r>
            <a:endParaRPr sz="1100" b="0" i="0" u="none" strike="noStrike" cap="none" dirty="0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endParaRPr sz="550" dirty="0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판매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전 30초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확인이면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그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비용을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만회합니다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.</a:t>
            </a:r>
            <a:endParaRPr sz="1200" b="1" i="0" u="none" strike="noStrike" cap="none" dirty="0">
              <a:solidFill>
                <a:srgbClr val="5B6478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91" name="Google Shape;91;g3f6c50b3b74_0_56"/>
          <p:cNvSpPr/>
          <p:nvPr/>
        </p:nvSpPr>
        <p:spPr>
          <a:xfrm>
            <a:off x="4530475" y="3376697"/>
            <a:ext cx="4365000" cy="4023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92" name="Google Shape;92;g3f6c50b3b74_0_56"/>
          <p:cNvSpPr/>
          <p:nvPr/>
        </p:nvSpPr>
        <p:spPr>
          <a:xfrm>
            <a:off x="4530475" y="3376702"/>
            <a:ext cx="674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매니저</a:t>
            </a:r>
            <a:endParaRPr sz="1150" b="1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93" name="Google Shape;93;g3f6c50b3b74_0_56"/>
          <p:cNvSpPr/>
          <p:nvPr/>
        </p:nvSpPr>
        <p:spPr>
          <a:xfrm>
            <a:off x="5205050" y="3376702"/>
            <a:ext cx="36903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Malgun Gothic"/>
              <a:buNone/>
            </a:pPr>
            <a:r>
              <a:rPr lang="en-US" sz="115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설치</a:t>
            </a:r>
            <a:r>
              <a:rPr lang="en-US" sz="115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15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조건</a:t>
            </a:r>
            <a:r>
              <a:rPr lang="en-US" sz="115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15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확인</a:t>
            </a:r>
            <a:r>
              <a:rPr lang="en-US" sz="1150" b="1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으로</a:t>
            </a:r>
            <a:r>
              <a:rPr lang="en-US" sz="115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15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설치</a:t>
            </a:r>
            <a:r>
              <a:rPr lang="en-US" sz="115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15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불가로</a:t>
            </a:r>
            <a:r>
              <a:rPr lang="en-US" sz="115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15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인한</a:t>
            </a:r>
            <a:r>
              <a:rPr lang="en-US" sz="1150" b="1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15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취소</a:t>
            </a:r>
            <a:r>
              <a:rPr lang="en-US" sz="115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15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확률을</a:t>
            </a:r>
            <a:r>
              <a:rPr lang="en-US" sz="115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15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낮춤</a:t>
            </a:r>
            <a:endParaRPr sz="1150" b="1" i="0" u="none" strike="noStrike" cap="none" dirty="0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94" name="Google Shape;94;g3f6c50b3b74_0_56"/>
          <p:cNvSpPr/>
          <p:nvPr/>
        </p:nvSpPr>
        <p:spPr>
          <a:xfrm>
            <a:off x="4530475" y="3856263"/>
            <a:ext cx="4365000" cy="5121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95" name="Google Shape;95;g3f6c50b3b74_0_56"/>
          <p:cNvSpPr/>
          <p:nvPr/>
        </p:nvSpPr>
        <p:spPr>
          <a:xfrm>
            <a:off x="4530475" y="3856265"/>
            <a:ext cx="6744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지점</a:t>
            </a:r>
            <a:endParaRPr sz="1150" b="1" i="0" u="none" strike="noStrike" cap="none">
              <a:solidFill>
                <a:srgbClr val="FFFFFF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96" name="Google Shape;96;g3f6c50b3b74_0_56"/>
          <p:cNvSpPr/>
          <p:nvPr/>
        </p:nvSpPr>
        <p:spPr>
          <a:xfrm>
            <a:off x="5205058" y="3856263"/>
            <a:ext cx="35712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설치 재방문 · 일정 재조정 · 설치 불가 취소 감소</a:t>
            </a:r>
            <a:endParaRPr sz="1150" b="1" i="0" u="none" strike="noStrike" cap="none">
              <a:solidFill>
                <a:srgbClr val="FFFFFF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pic>
        <p:nvPicPr>
          <p:cNvPr id="97" name="Google Shape;97;g3f6c50b3b74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614675"/>
            <a:ext cx="1899862" cy="2753700"/>
          </a:xfrm>
          <a:prstGeom prst="rect">
            <a:avLst/>
          </a:prstGeom>
          <a:noFill/>
          <a:ln w="3175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8" name="Google Shape;98;g3f6c50b3b74_0_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2538" y="1614675"/>
            <a:ext cx="1899862" cy="2753700"/>
          </a:xfrm>
          <a:prstGeom prst="rect">
            <a:avLst/>
          </a:prstGeom>
          <a:noFill/>
          <a:ln w="3175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9" name="Google Shape;99;g3f6c50b3b74_0_56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00" name="Google Shape;100;g3f6c50b3b74_0_56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01" name="Google Shape;101;g3f6c50b3b74_0_56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02" name="Google Shape;102;g3f6c50b3b74_0_56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4</a:t>
            </a:r>
            <a:r>
              <a:rPr lang="en-US" sz="9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/10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c50b3b74_0_0"/>
          <p:cNvSpPr/>
          <p:nvPr/>
        </p:nvSpPr>
        <p:spPr>
          <a:xfrm>
            <a:off x="457200" y="274320"/>
            <a:ext cx="868800" cy="274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09" name="Google Shape;109;g3f6c50b3b74_0_0"/>
          <p:cNvSpPr/>
          <p:nvPr/>
        </p:nvSpPr>
        <p:spPr>
          <a:xfrm>
            <a:off x="457200" y="274320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속도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10" name="Google Shape;110;g3f6c50b3b74_0_0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상담의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질을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높이고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시간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낭비를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막아주는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모델파인더</a:t>
            </a:r>
            <a:endParaRPr sz="2500" b="1" i="0" u="none" strike="noStrike" cap="none" dirty="0">
              <a:solidFill>
                <a:srgbClr val="0B102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111" name="Google Shape;111;g3f6c50b3b74_0_0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시범 기간 두 번째로 많이 열린 화면 </a:t>
            </a:r>
            <a:r>
              <a:rPr lang="en-US" sz="125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:</a:t>
            </a:r>
            <a:r>
              <a:rPr lang="en-US" sz="12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120건 · 2위</a:t>
            </a:r>
            <a:endParaRPr sz="1250" b="0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12" name="Google Shape;112;g3f6c50b3b74_0_0"/>
          <p:cNvSpPr/>
          <p:nvPr/>
        </p:nvSpPr>
        <p:spPr>
          <a:xfrm>
            <a:off x="4530475" y="1588540"/>
            <a:ext cx="436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키워드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한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줄이면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조건이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겹쳐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좁혀집니다</a:t>
            </a:r>
            <a:endParaRPr sz="1500" b="1" i="0" u="none" strike="noStrike" cap="none" dirty="0">
              <a:solidFill>
                <a:srgbClr val="0B102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(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무풍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·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공기청정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등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여러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가지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키워드로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한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번에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검색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)</a:t>
            </a:r>
            <a:endParaRPr sz="1200" b="0" i="0" u="none" strike="noStrike" cap="none" dirty="0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13" name="Google Shape;113;g3f6c50b3b74_0_0"/>
          <p:cNvSpPr/>
          <p:nvPr/>
        </p:nvSpPr>
        <p:spPr>
          <a:xfrm>
            <a:off x="4530475" y="2164615"/>
            <a:ext cx="4365000" cy="105150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14" name="Google Shape;114;g3f6c50b3b74_0_0"/>
          <p:cNvSpPr/>
          <p:nvPr/>
        </p:nvSpPr>
        <p:spPr>
          <a:xfrm>
            <a:off x="4673328" y="2164615"/>
            <a:ext cx="41271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카탈로그를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찾는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시간</a:t>
            </a:r>
            <a:endParaRPr sz="1200" b="1" i="0" u="none" strike="noStrike" cap="none" dirty="0">
              <a:solidFill>
                <a:srgbClr val="5B6478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100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 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모델명·치수·기능을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기억에서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꺼내야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합니다</a:t>
            </a:r>
            <a:endParaRPr sz="1100" b="0" i="0" u="none" strike="noStrike" cap="none" dirty="0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endParaRPr sz="550" dirty="0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한 줄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조건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검색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시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모델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리스트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즉시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확인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가능</a:t>
            </a:r>
            <a:endParaRPr sz="1200" b="1" i="0" u="none" strike="noStrike" cap="none" dirty="0">
              <a:solidFill>
                <a:srgbClr val="5B6478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115" name="Google Shape;115;g3f6c50b3b74_0_0"/>
          <p:cNvSpPr/>
          <p:nvPr/>
        </p:nvSpPr>
        <p:spPr>
          <a:xfrm>
            <a:off x="4530475" y="3382288"/>
            <a:ext cx="4365000" cy="402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16" name="Google Shape;116;g3f6c50b3b74_0_0"/>
          <p:cNvSpPr/>
          <p:nvPr/>
        </p:nvSpPr>
        <p:spPr>
          <a:xfrm>
            <a:off x="4530475" y="3382293"/>
            <a:ext cx="674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매니저</a:t>
            </a:r>
            <a:endParaRPr sz="1150" b="1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17" name="Google Shape;117;g3f6c50b3b74_0_0"/>
          <p:cNvSpPr/>
          <p:nvPr/>
        </p:nvSpPr>
        <p:spPr>
          <a:xfrm>
            <a:off x="5205058" y="3382288"/>
            <a:ext cx="3571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고민하며 낭비하던 시간이 줄어 매끄러운 상담 가능</a:t>
            </a:r>
            <a:endParaRPr sz="1150" b="1" i="0" u="none" strike="noStrike" cap="none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18" name="Google Shape;118;g3f6c50b3b74_0_0"/>
          <p:cNvSpPr/>
          <p:nvPr/>
        </p:nvSpPr>
        <p:spPr>
          <a:xfrm>
            <a:off x="4530475" y="3856263"/>
            <a:ext cx="4365000" cy="5121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19" name="Google Shape;119;g3f6c50b3b74_0_0"/>
          <p:cNvSpPr/>
          <p:nvPr/>
        </p:nvSpPr>
        <p:spPr>
          <a:xfrm>
            <a:off x="4536400" y="3856265"/>
            <a:ext cx="6747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지점</a:t>
            </a:r>
            <a:endParaRPr sz="1150" b="1" i="0" u="none" strike="noStrike" cap="none">
              <a:solidFill>
                <a:srgbClr val="FFFFFF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20" name="Google Shape;120;g3f6c50b3b74_0_0"/>
          <p:cNvSpPr/>
          <p:nvPr/>
        </p:nvSpPr>
        <p:spPr>
          <a:xfrm>
            <a:off x="5205058" y="3856263"/>
            <a:ext cx="35712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응대 회전율 </a:t>
            </a:r>
            <a:r>
              <a:rPr lang="en-US" sz="1150" b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:</a:t>
            </a:r>
            <a:r>
              <a:rPr lang="en-US" sz="115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응대 가능 고객 수 증가</a:t>
            </a:r>
            <a:endParaRPr sz="1150" b="1" i="0" u="none" strike="noStrike" cap="none">
              <a:solidFill>
                <a:srgbClr val="FFFFFF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pic>
        <p:nvPicPr>
          <p:cNvPr id="121" name="Google Shape;121;g3f6c50b3b74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750" y="1617265"/>
            <a:ext cx="3876000" cy="2751100"/>
          </a:xfrm>
          <a:prstGeom prst="rect">
            <a:avLst/>
          </a:prstGeom>
          <a:noFill/>
          <a:ln w="3175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2" name="Google Shape;122;g3f6c50b3b74_0_0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23" name="Google Shape;123;g3f6c50b3b74_0_0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24" name="Google Shape;124;g3f6c50b3b74_0_0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25" name="Google Shape;125;g3f6c50b3b74_0_0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5</a:t>
            </a:r>
            <a:r>
              <a:rPr lang="en-US" sz="9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/10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457200" y="274320"/>
            <a:ext cx="868800" cy="274200"/>
          </a:xfrm>
          <a:prstGeom prst="roundRect">
            <a:avLst>
              <a:gd name="adj" fmla="val 50000"/>
            </a:avLst>
          </a:prstGeom>
          <a:solidFill>
            <a:srgbClr val="7C2D8F"/>
          </a:solidFill>
          <a:ln w="12700" cap="flat" cmpd="sng">
            <a:solidFill>
              <a:srgbClr val="7C2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274320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일관성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누가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응대해도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같은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답이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나온다</a:t>
            </a:r>
            <a:endParaRPr sz="2500" b="1" i="0" u="none" strike="noStrike" cap="none" dirty="0">
              <a:solidFill>
                <a:srgbClr val="0B102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지점장이 일일이 확인할 수 없던 정보 편차가 사라집니다</a:t>
            </a:r>
            <a:endParaRPr sz="1250" b="0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30475" y="1588540"/>
            <a:ext cx="436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어느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매장에서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사용하더라도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동일한</a:t>
            </a: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화면</a:t>
            </a:r>
            <a:endParaRPr sz="1500" b="1" i="0" u="none" strike="noStrike" cap="none" dirty="0">
              <a:solidFill>
                <a:srgbClr val="0B102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(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제품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상세검색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·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설치환경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·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타사비교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· AS ·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AI구독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케어</a:t>
            </a:r>
            <a:r>
              <a:rPr lang="en-US" sz="12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)</a:t>
            </a:r>
            <a:endParaRPr sz="1200" b="0" i="0" u="none" strike="noStrike" cap="none" dirty="0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30475" y="2164615"/>
            <a:ext cx="4365000" cy="105150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673328" y="2164615"/>
            <a:ext cx="41271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사람마다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답이</a:t>
            </a:r>
            <a:r>
              <a:rPr lang="en-US" sz="1200" b="1" i="0" u="none" strike="noStrike" cap="none" dirty="0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5B6478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다르면</a:t>
            </a:r>
            <a:endParaRPr sz="1200" b="1" i="0" u="none" strike="noStrike" cap="none" dirty="0">
              <a:solidFill>
                <a:srgbClr val="5B6478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100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 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: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경력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편차가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곧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응대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품질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편차가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됩니다</a:t>
            </a:r>
            <a:endParaRPr sz="1100" b="1" i="0" u="none" strike="noStrike" cap="none" dirty="0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30475" y="3382288"/>
            <a:ext cx="4365000" cy="402300"/>
          </a:xfrm>
          <a:prstGeom prst="rect">
            <a:avLst/>
          </a:prstGeom>
          <a:solidFill>
            <a:srgbClr val="EEDFF1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30475" y="3382293"/>
            <a:ext cx="674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매니저</a:t>
            </a:r>
            <a:endParaRPr sz="1150" b="1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205058" y="3382288"/>
            <a:ext cx="3571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외워서 답하지 않고, 같은 화면을 보고 응대합니다</a:t>
            </a:r>
            <a:endParaRPr sz="1150" b="1" i="0" u="none" strike="noStrike" cap="none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530475" y="3856263"/>
            <a:ext cx="4365000" cy="512100"/>
          </a:xfrm>
          <a:prstGeom prst="rect">
            <a:avLst/>
          </a:prstGeom>
          <a:solidFill>
            <a:srgbClr val="7C2D8F"/>
          </a:solidFill>
          <a:ln w="12700" cap="flat" cmpd="sng">
            <a:solidFill>
              <a:srgbClr val="7C2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530475" y="3856265"/>
            <a:ext cx="6744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지점</a:t>
            </a:r>
            <a:endParaRPr sz="1150" b="1" i="0" u="none" strike="noStrike" cap="none">
              <a:solidFill>
                <a:srgbClr val="FFFFFF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205058" y="3856263"/>
            <a:ext cx="35712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신입 사원도 첫날부터 동일한 수준으로 응대</a:t>
            </a:r>
            <a:endParaRPr sz="1150" b="1" i="0" u="none" strike="noStrike" cap="none">
              <a:solidFill>
                <a:srgbClr val="FFFFFF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3750" y="1640640"/>
            <a:ext cx="3876000" cy="2727725"/>
          </a:xfrm>
          <a:prstGeom prst="rect">
            <a:avLst/>
          </a:prstGeom>
          <a:noFill/>
          <a:ln w="3175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4" name="Google Shape;144;p5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6/10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2500" b="1" i="0" u="none" strike="noStrike" cap="none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개발 중인 프로그램</a:t>
            </a:r>
            <a:endParaRPr sz="2500" b="1" i="0" u="none" strike="noStrike" cap="none">
              <a:solidFill>
                <a:srgbClr val="0B102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「개발 중인 서비스」에서 지금 확인 가능합니다</a:t>
            </a:r>
            <a:endParaRPr sz="1250" b="0" i="0" u="none" strike="noStrike" cap="none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457200" y="1330000"/>
            <a:ext cx="4114800" cy="190000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457200" y="1330000"/>
            <a:ext cx="73152" cy="19000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713232" y="1500000"/>
            <a:ext cx="2655888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가전</a:t>
            </a:r>
            <a:r>
              <a:rPr lang="en-US" sz="1500" b="1" i="0" u="none" strike="noStrike" cap="none" dirty="0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배치</a:t>
            </a:r>
            <a:r>
              <a:rPr lang="en-US" sz="1500" b="1" i="0" u="none" strike="noStrike" cap="none" dirty="0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시뮬레이터</a:t>
            </a:r>
            <a:endParaRPr sz="1500" b="1" i="0" u="none" strike="noStrike" cap="none" dirty="0">
              <a:solidFill>
                <a:srgbClr val="1428A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3489120" y="1520000"/>
            <a:ext cx="700000" cy="2900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3489120" y="1520000"/>
            <a:ext cx="700000" cy="2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92400E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개발중</a:t>
            </a:r>
            <a:endParaRPr sz="900" b="1" i="0" u="none" strike="noStrike" cap="none">
              <a:solidFill>
                <a:srgbClr val="92400E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713094" y="2098256"/>
            <a:ext cx="3475888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구매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할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가전을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고르면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도면에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맞춰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배치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추천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(</a:t>
            </a:r>
            <a:r>
              <a:rPr lang="en-US" sz="9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이격</a:t>
            </a:r>
            <a:r>
              <a:rPr lang="en-US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거리</a:t>
            </a:r>
            <a:r>
              <a:rPr lang="en-US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, </a:t>
            </a:r>
            <a:r>
              <a:rPr lang="en-US" sz="9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간섭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, </a:t>
            </a:r>
            <a:r>
              <a:rPr lang="en-US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방 </a:t>
            </a:r>
            <a:r>
              <a:rPr lang="en-US" sz="9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이탈까지</a:t>
            </a:r>
            <a:r>
              <a:rPr lang="en-US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판정</a:t>
            </a:r>
            <a:r>
              <a:rPr lang="en-US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)</a:t>
            </a:r>
            <a:endParaRPr sz="900" b="0" i="0" u="none" strike="noStrike" cap="none" dirty="0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713182" y="2724112"/>
            <a:ext cx="347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lang="en-US" altLang="ko-KR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※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카탈로그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실측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71개,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아파트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158개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단지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ko-KR" alt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도면 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855장 (3D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보기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)</a:t>
            </a:r>
            <a:endParaRPr sz="1100" b="0" i="0" u="none" strike="noStrike" cap="none" dirty="0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4754880" y="1330000"/>
            <a:ext cx="4114800" cy="190000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4754880" y="1330000"/>
            <a:ext cx="73152" cy="1900000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5010912" y="1500000"/>
            <a:ext cx="2655888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통신</a:t>
            </a:r>
            <a:r>
              <a:rPr lang="en-US" sz="1500" b="1" i="0" u="none" strike="noStrike" cap="none" dirty="0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요금제</a:t>
            </a:r>
            <a:r>
              <a:rPr lang="en-US" sz="1500" b="1" i="0" u="none" strike="noStrike" cap="none" dirty="0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상담</a:t>
            </a:r>
            <a:r>
              <a:rPr lang="en-US" sz="1500" b="1" i="0" u="none" strike="noStrike" cap="none" dirty="0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도구</a:t>
            </a:r>
            <a:endParaRPr sz="1500" b="1" i="0" u="none" strike="noStrike" cap="none" dirty="0">
              <a:solidFill>
                <a:srgbClr val="0F766E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7786800" y="1520000"/>
            <a:ext cx="700000" cy="2900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7786800" y="1520000"/>
            <a:ext cx="700000" cy="2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92400E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개발중</a:t>
            </a:r>
            <a:endParaRPr sz="900" b="1" i="0" u="none" strike="noStrike" cap="none">
              <a:solidFill>
                <a:srgbClr val="92400E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5010912" y="2094112"/>
            <a:ext cx="34758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3사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요금제</a:t>
            </a:r>
            <a:r>
              <a:rPr lang="en-US" sz="1200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,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부가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서비스</a:t>
            </a:r>
            <a:r>
              <a:rPr lang="en-US" sz="1200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,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결합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,</a:t>
            </a:r>
            <a:r>
              <a:rPr lang="en-US" sz="1200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단말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출고가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,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제휴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카드</a:t>
            </a:r>
            <a:r>
              <a:rPr 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ko-KR" altLang="en-US" sz="12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등</a:t>
            </a:r>
            <a:endParaRPr lang="en-US" altLang="ko-KR" sz="1200" b="0" i="0" u="none" strike="noStrike" cap="none" dirty="0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altLang="ko-KR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(349</a:t>
            </a:r>
            <a:r>
              <a:rPr lang="ko-KR" altLang="en-US"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건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               (542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건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                 (27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건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                                (40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장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</a:t>
            </a:r>
            <a:endParaRPr sz="900" b="0" i="0" u="none" strike="noStrike" cap="none" dirty="0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5010912" y="2727482"/>
            <a:ext cx="347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lang="en-US" altLang="ko-KR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※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휴대폰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월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납부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금액과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할부기간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총액까지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계산</a:t>
            </a:r>
            <a:endParaRPr sz="1100" b="0" i="0" u="none" strike="noStrike" cap="none" dirty="0">
              <a:solidFill>
                <a:srgbClr val="5B6478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457200" y="3420000"/>
            <a:ext cx="8412480" cy="115000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457200" y="3420000"/>
            <a:ext cx="73152" cy="1150000"/>
          </a:xfrm>
          <a:prstGeom prst="rect">
            <a:avLst/>
          </a:prstGeom>
          <a:solidFill>
            <a:srgbClr val="7C2D8F"/>
          </a:solidFill>
          <a:ln w="12700" cap="flat" cmpd="sng">
            <a:solidFill>
              <a:srgbClr val="7C2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713232" y="3570000"/>
            <a:ext cx="7865008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30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7C2D8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다음</a:t>
            </a:r>
            <a:r>
              <a:rPr lang="en-US" sz="1500" b="1" i="0" u="none" strike="noStrike" cap="none" dirty="0">
                <a:solidFill>
                  <a:srgbClr val="7C2D8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7C2D8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단계</a:t>
            </a:r>
            <a:r>
              <a:rPr lang="en-US" sz="1100" b="1" i="0" u="none" strike="noStrike" cap="none" dirty="0">
                <a:solidFill>
                  <a:srgbClr val="7C2D8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(</a:t>
            </a:r>
            <a:r>
              <a:rPr lang="ko-KR" altLang="en-US" sz="1100" b="1" i="0" u="none" strike="noStrike" cap="none" dirty="0">
                <a:solidFill>
                  <a:srgbClr val="7C2D8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추후 개선</a:t>
            </a:r>
            <a:r>
              <a:rPr lang="en-US" altLang="ko-KR" sz="1100" b="1" i="0" u="none" strike="noStrike" cap="none" dirty="0">
                <a:solidFill>
                  <a:srgbClr val="7C2D8F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)</a:t>
            </a:r>
            <a:endParaRPr sz="1100" b="1" i="0" u="none" strike="noStrike" cap="none" dirty="0">
              <a:solidFill>
                <a:srgbClr val="7C2D8F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713232" y="3950960"/>
            <a:ext cx="7865008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아파트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도면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확대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: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도면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추가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확보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시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배치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적중률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향상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예정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(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단지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목록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3,829곳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적용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완료</a:t>
            </a:r>
            <a:r>
              <a:rPr lang="en-US" sz="110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)</a:t>
            </a:r>
            <a:endParaRPr sz="1100" b="0" i="0" u="none" strike="noStrike" cap="none" dirty="0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713232" y="4234201"/>
            <a:ext cx="7865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도면 3D 완성 후 배치 시뮬레이터 개선 </a:t>
            </a:r>
            <a:r>
              <a:rPr lang="en-US" sz="110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:</a:t>
            </a:r>
            <a:r>
              <a:rPr lang="en-US" sz="1100" b="0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우리 집에 설치된 모습을 직접 보여드리면 성공률이 올라갑니다</a:t>
            </a:r>
            <a:endParaRPr sz="1100" b="0" i="0" u="none" strike="noStrike" cap="none">
              <a:solidFill>
                <a:srgbClr val="0B102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8473800" y="4841350"/>
            <a:ext cx="55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7/10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시범운영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결과</a:t>
            </a:r>
            <a:endParaRPr sz="2500" b="0" i="0" u="none" strike="noStrike" cap="none" dirty="0">
              <a:solidFill>
                <a:schemeClr val="dk1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2026-07-29 ~ 08-10 · 10개 매장 · 863건 (아래는 상위 9개) </a:t>
            </a:r>
            <a:r>
              <a:rPr lang="en-US" sz="125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:</a:t>
            </a:r>
            <a:r>
              <a:rPr lang="en-US" sz="12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한 기능만 쓰인 것이 아닙니다</a:t>
            </a:r>
            <a:endParaRPr sz="125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5417650" y="1340772"/>
            <a:ext cx="1645920" cy="77724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5417650" y="1395636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lang="en-US" sz="230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10</a:t>
            </a:r>
            <a:endParaRPr sz="23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5417650" y="18162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개 매장</a:t>
            </a:r>
            <a:endParaRPr sz="105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7127578" y="1340772"/>
            <a:ext cx="1645920" cy="77724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7127578" y="1395636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lang="en-US" sz="230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13</a:t>
            </a:r>
            <a:endParaRPr sz="23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7127578" y="18162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일</a:t>
            </a:r>
            <a:endParaRPr sz="105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5417650" y="2209452"/>
            <a:ext cx="1645920" cy="77724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5417650" y="2264316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lang="en-US" sz="230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863</a:t>
            </a:r>
            <a:endParaRPr sz="23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5417650" y="26849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건 실사용</a:t>
            </a:r>
            <a:endParaRPr sz="105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7127578" y="2209452"/>
            <a:ext cx="1645920" cy="777240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7127578" y="2264316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lang="en-US" sz="230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66</a:t>
            </a:r>
            <a:endParaRPr sz="23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7127578" y="26849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건/일</a:t>
            </a:r>
            <a:endParaRPr sz="105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584570" y="1255565"/>
            <a:ext cx="18216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설치환경</a:t>
            </a:r>
            <a:r>
              <a:rPr lang="en-US" sz="110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가이드</a:t>
            </a:r>
            <a:endParaRPr sz="1100" b="1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2445850" y="1337861"/>
            <a:ext cx="2286000" cy="164592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4777570" y="1255565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128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584570" y="1621325"/>
            <a:ext cx="18216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모델파인더</a:t>
            </a:r>
            <a:endParaRPr sz="1100" b="1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2445850" y="1703621"/>
            <a:ext cx="2143125" cy="164592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4634695" y="1621325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120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584570" y="1987085"/>
            <a:ext cx="18216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타사비교</a:t>
            </a:r>
            <a:endParaRPr sz="1100" b="1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2445850" y="2069381"/>
            <a:ext cx="1821656" cy="164592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313226" y="1987085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102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584570" y="2352845"/>
            <a:ext cx="18216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컨시어지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2445850" y="2435141"/>
            <a:ext cx="1714500" cy="164592"/>
          </a:xfrm>
          <a:prstGeom prst="rect">
            <a:avLst/>
          </a:prstGeom>
          <a:solidFill>
            <a:srgbClr val="2B44D0"/>
          </a:solidFill>
          <a:ln w="12700" cap="flat" cmpd="sng">
            <a:solidFill>
              <a:srgbClr val="2B4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4206070" y="2352845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96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84570" y="2718605"/>
            <a:ext cx="18216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허브 검색·건의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2445850" y="2800901"/>
            <a:ext cx="1696641" cy="164592"/>
          </a:xfrm>
          <a:prstGeom prst="rect">
            <a:avLst/>
          </a:prstGeom>
          <a:solidFill>
            <a:srgbClr val="2B44D0"/>
          </a:solidFill>
          <a:ln w="12700" cap="flat" cmpd="sng">
            <a:solidFill>
              <a:srgbClr val="2B4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188211" y="2718605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95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584570" y="3084365"/>
            <a:ext cx="18216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레벨업 챌린지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2445850" y="3166661"/>
            <a:ext cx="1607344" cy="164592"/>
          </a:xfrm>
          <a:prstGeom prst="rect">
            <a:avLst/>
          </a:prstGeom>
          <a:solidFill>
            <a:srgbClr val="2B44D0"/>
          </a:solidFill>
          <a:ln w="12700" cap="flat" cmpd="sng">
            <a:solidFill>
              <a:srgbClr val="2B4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4098914" y="3084365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90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84570" y="3450125"/>
            <a:ext cx="18216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AI구독 케어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445850" y="3532421"/>
            <a:ext cx="1553766" cy="164592"/>
          </a:xfrm>
          <a:prstGeom prst="rect">
            <a:avLst/>
          </a:prstGeom>
          <a:solidFill>
            <a:srgbClr val="2B44D0"/>
          </a:solidFill>
          <a:ln w="12700" cap="flat" cmpd="sng">
            <a:solidFill>
              <a:srgbClr val="2B4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045336" y="3450125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87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584570" y="3815885"/>
            <a:ext cx="18216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쿠폰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2445850" y="3898181"/>
            <a:ext cx="1089422" cy="164592"/>
          </a:xfrm>
          <a:prstGeom prst="rect">
            <a:avLst/>
          </a:prstGeom>
          <a:solidFill>
            <a:srgbClr val="2B44D0"/>
          </a:solidFill>
          <a:ln w="12700" cap="flat" cmpd="sng">
            <a:solidFill>
              <a:srgbClr val="2B4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580992" y="3815885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61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584570" y="4181645"/>
            <a:ext cx="18216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배치 시뮬레이터</a:t>
            </a:r>
            <a:endParaRPr sz="11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2445850" y="4263941"/>
            <a:ext cx="875109" cy="164592"/>
          </a:xfrm>
          <a:prstGeom prst="rect">
            <a:avLst/>
          </a:prstGeom>
          <a:solidFill>
            <a:srgbClr val="2B44D0"/>
          </a:solidFill>
          <a:ln w="12700" cap="flat" cmpd="sng">
            <a:solidFill>
              <a:srgbClr val="2B4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3366679" y="4181645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49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5417650" y="3230669"/>
            <a:ext cx="3355848" cy="1197864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5596157" y="3230669"/>
            <a:ext cx="3015399" cy="1165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상위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세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가지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모두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상담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중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고객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앞에서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바로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쓰는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기능입니다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endParaRPr sz="11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구경한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것이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아니라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,</a:t>
            </a:r>
            <a:endParaRPr sz="11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상담에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실제로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썼다는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뜻입니다</a:t>
            </a:r>
            <a:r>
              <a:rPr lang="en-US" sz="1100" b="0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457200" y="459486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※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사용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로그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자체가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현장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니즈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데이터입니다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—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무엇을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교육할지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,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무엇을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보강할지의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근거가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됩니다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8473800" y="4841350"/>
            <a:ext cx="55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8/10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경원영업팀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65개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매장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도입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시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기대</a:t>
            </a:r>
            <a:r>
              <a:rPr lang="en-US" sz="2500" b="1" i="0" u="none" strike="noStrike" cap="none" dirty="0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2500" b="1" i="0" u="none" strike="noStrike" cap="none" dirty="0" err="1">
                <a:solidFill>
                  <a:srgbClr val="0B102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효과</a:t>
            </a:r>
            <a:endParaRPr sz="2500" b="0" i="0" u="none" strike="noStrike" cap="none" dirty="0">
              <a:solidFill>
                <a:schemeClr val="dk1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실측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값과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ko-KR" alt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예측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값을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구분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: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ko-KR" altLang="en-US" sz="1250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예측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값은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회사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기준으로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바꿔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넣으시면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그대로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답이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5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나옵니다</a:t>
            </a:r>
            <a:r>
              <a:rPr lang="en-US" sz="125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.</a:t>
            </a:r>
            <a:endParaRPr sz="125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457200" y="1188719"/>
            <a:ext cx="4114800" cy="2106565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621792" y="134112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시간</a:t>
            </a:r>
            <a:r>
              <a:rPr lang="en-US" sz="1500" b="1" i="0" u="none" strike="noStrike" cap="none" dirty="0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— </a:t>
            </a:r>
            <a:r>
              <a:rPr lang="en-US" sz="1500" b="1" i="0" u="none" strike="noStrike" cap="none" dirty="0" err="1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현장이</a:t>
            </a:r>
            <a:r>
              <a:rPr lang="en-US" sz="1500" b="1" i="0" u="none" strike="noStrike" cap="none" dirty="0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돌려받는</a:t>
            </a:r>
            <a:r>
              <a:rPr lang="en-US" sz="1500" b="1" i="0" u="none" strike="noStrike" cap="none" dirty="0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F766E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시간</a:t>
            </a:r>
            <a:endParaRPr sz="1500" b="0" i="0" u="none" strike="noStrike" cap="none" dirty="0">
              <a:solidFill>
                <a:schemeClr val="dk1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621792" y="1706880"/>
            <a:ext cx="457200" cy="19202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3175" cap="flat" cmpd="sng">
            <a:solidFill>
              <a:srgbClr val="1665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621792" y="1700784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실측</a:t>
            </a:r>
            <a:endParaRPr sz="8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1170432" y="16885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lang="en-US" sz="120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매장당</a:t>
            </a:r>
            <a:r>
              <a:rPr lang="en-US" sz="120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하루</a:t>
            </a:r>
            <a:r>
              <a:rPr lang="en-US" sz="120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6.6건 </a:t>
            </a:r>
            <a:r>
              <a:rPr lang="en-US" sz="120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사용</a:t>
            </a:r>
            <a:endParaRPr sz="120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1170432" y="18897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lang="en-US" sz="850" b="0" i="0" u="none" strike="noStrike" cap="none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863건 ÷ 10매장 ÷ 13일</a:t>
            </a:r>
            <a:endParaRPr sz="850" b="0" i="0" u="none" strike="noStrike" cap="none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621792" y="2089968"/>
            <a:ext cx="457200" cy="192024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 w="3175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621792" y="2096064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가정</a:t>
            </a:r>
            <a:endParaRPr sz="8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1170432" y="20726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lang="en-US" sz="115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1건당 </a:t>
            </a:r>
            <a:r>
              <a:rPr lang="en-US" sz="115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찾는</a:t>
            </a:r>
            <a:r>
              <a:rPr lang="en-US" sz="115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5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시간</a:t>
            </a:r>
            <a:r>
              <a:rPr lang="en-US" sz="115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3분 </a:t>
            </a:r>
            <a:r>
              <a:rPr lang="en-US" sz="115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절감</a:t>
            </a:r>
            <a:endParaRPr sz="115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621792" y="2474976"/>
            <a:ext cx="457200" cy="192024"/>
          </a:xfrm>
          <a:prstGeom prst="roundRect">
            <a:avLst>
              <a:gd name="adj" fmla="val 50000"/>
            </a:avLst>
          </a:prstGeom>
          <a:solidFill>
            <a:srgbClr val="7C2D8F"/>
          </a:solidFill>
          <a:ln w="3175" cap="flat" cmpd="sng">
            <a:solidFill>
              <a:srgbClr val="7C2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621792" y="246888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계산</a:t>
            </a:r>
            <a:endParaRPr sz="8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170432" y="245668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65개 매장 월 약 </a:t>
            </a:r>
            <a:r>
              <a:rPr lang="en-US" sz="1150" b="1" i="0" u="none" strike="noStrike" cap="none">
                <a:solidFill>
                  <a:srgbClr val="FF000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647시간</a:t>
            </a:r>
            <a:r>
              <a:rPr lang="en-US" sz="115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확보</a:t>
            </a:r>
            <a:endParaRPr sz="75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1170432" y="265785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lang="en-US" sz="850" b="0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6.6건 × 3분 × 평균30영업일 × 65매장</a:t>
            </a:r>
            <a:endParaRPr sz="850" b="0" i="0" u="none" strike="noStrike" cap="none" dirty="0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621792" y="2859024"/>
            <a:ext cx="457200" cy="192024"/>
          </a:xfrm>
          <a:prstGeom prst="roundRect">
            <a:avLst>
              <a:gd name="adj" fmla="val 50000"/>
            </a:avLst>
          </a:prstGeom>
          <a:solidFill>
            <a:srgbClr val="7C2D8F"/>
          </a:solidFill>
          <a:ln w="3175" cap="flat" cmpd="sng">
            <a:solidFill>
              <a:srgbClr val="7C2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621792" y="285292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계산</a:t>
            </a:r>
            <a:endParaRPr sz="8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170432" y="284073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lang="ko-KR" altLang="en-US" sz="1150" b="1" i="0" u="none" strike="noStrike" cap="none" dirty="0" err="1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年</a:t>
            </a:r>
            <a:r>
              <a:rPr lang="en-US" sz="1150" b="1" i="0" u="none" strike="noStrike" cap="none" dirty="0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약 7,800시간 = </a:t>
            </a:r>
            <a:r>
              <a:rPr lang="en-US" sz="1150" b="1" i="0" u="none" strike="noStrike" cap="none" dirty="0" err="1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상담사</a:t>
            </a:r>
            <a:r>
              <a:rPr lang="en-US" sz="1150" b="1" i="0" u="none" strike="noStrike" cap="none" dirty="0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50" b="1" i="0" u="none" strike="noStrike" cap="none" dirty="0">
                <a:solidFill>
                  <a:srgbClr val="FF000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3.7명분 </a:t>
            </a:r>
            <a:r>
              <a:rPr lang="en-US" sz="1150" b="1" i="0" u="none" strike="noStrike" cap="none" dirty="0" err="1">
                <a:solidFill>
                  <a:schemeClr val="dk1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응대</a:t>
            </a:r>
            <a:r>
              <a:rPr lang="en-US" sz="1150" b="1" i="0" u="none" strike="noStrike" cap="none" dirty="0">
                <a:solidFill>
                  <a:schemeClr val="dk1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50" b="1" i="0" u="none" strike="noStrike" cap="none" dirty="0" err="1">
                <a:solidFill>
                  <a:schemeClr val="dk1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여력</a:t>
            </a:r>
            <a:r>
              <a:rPr lang="en-US" sz="1150" b="1" i="0" u="none" strike="noStrike" cap="none" dirty="0">
                <a:solidFill>
                  <a:schemeClr val="dk1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50" b="1" i="0" u="none" strike="noStrike" cap="none" dirty="0" err="1">
                <a:solidFill>
                  <a:schemeClr val="dk1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확보</a:t>
            </a:r>
            <a:endParaRPr sz="115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1170432" y="304190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lang="en-US" sz="850" b="0" i="0" u="none" strike="noStrike" cap="none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월 근무 176시간(22일 × 8시간) 기준 환산</a:t>
            </a:r>
            <a:endParaRPr sz="850" b="0" i="0" u="none" strike="noStrike" cap="none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4754880" y="1188719"/>
            <a:ext cx="4114800" cy="2106565"/>
          </a:xfrm>
          <a:prstGeom prst="rect">
            <a:avLst/>
          </a:prstGeom>
          <a:solidFill>
            <a:srgbClr val="F7F8FB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919472" y="134112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250"/>
              <a:buFont typeface="Malgun Gothic"/>
              <a:buNone/>
            </a:pPr>
            <a:r>
              <a:rPr lang="en-US" sz="1500" b="1" i="0" u="none" strike="noStrike" cap="none" dirty="0" err="1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비용</a:t>
            </a:r>
            <a:r>
              <a:rPr lang="en-US" sz="1500" b="1" i="0" u="none" strike="noStrike" cap="none" dirty="0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— </a:t>
            </a:r>
            <a:r>
              <a:rPr lang="en-US" sz="1500" b="1" i="0" u="none" strike="noStrike" cap="none" dirty="0" err="1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회사가</a:t>
            </a:r>
            <a:r>
              <a:rPr lang="en-US" sz="1500" b="1" i="0" u="none" strike="noStrike" cap="none" dirty="0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안 </a:t>
            </a:r>
            <a:r>
              <a:rPr lang="en-US" sz="1500" b="1" i="0" u="none" strike="noStrike" cap="none" dirty="0" err="1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쓰게</a:t>
            </a:r>
            <a:r>
              <a:rPr lang="en-US" sz="1500" b="1" i="0" u="none" strike="noStrike" cap="none" dirty="0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되는</a:t>
            </a:r>
            <a:r>
              <a:rPr lang="en-US" sz="1500" b="1" i="0" u="none" strike="noStrike" cap="none" dirty="0">
                <a:solidFill>
                  <a:srgbClr val="1428A0"/>
                </a:solidFill>
                <a:latin typeface="SamsungOneKoreanOTF 700C" panose="020B0806030303020204" pitchFamily="34" charset="-127"/>
                <a:ea typeface="SamsungOneKoreanOTF 700C" panose="020B0806030303020204" pitchFamily="34" charset="-127"/>
                <a:sym typeface="Arial"/>
              </a:rPr>
              <a:t> 돈</a:t>
            </a:r>
            <a:endParaRPr sz="1500" b="0" i="0" u="none" strike="noStrike" cap="none" dirty="0">
              <a:solidFill>
                <a:srgbClr val="1428A0"/>
              </a:solidFill>
              <a:latin typeface="SamsungOneKoreanOTF 700C" panose="020B0806030303020204" pitchFamily="34" charset="-127"/>
              <a:ea typeface="SamsungOneKoreanOTF 700C" panose="020B0806030303020204" pitchFamily="34" charset="-127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4919472" y="1706880"/>
            <a:ext cx="457200" cy="19202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3175" cap="flat" cmpd="sng">
            <a:solidFill>
              <a:srgbClr val="1665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4919472" y="170688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실측</a:t>
            </a:r>
            <a:endParaRPr sz="8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5468112" y="16885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lang="en-US" sz="120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설치환경</a:t>
            </a:r>
            <a:r>
              <a:rPr lang="en-US" sz="120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20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가이드</a:t>
            </a:r>
            <a:r>
              <a:rPr lang="en-US" sz="120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128건 · 1위</a:t>
            </a:r>
            <a:endParaRPr sz="120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4919472" y="2090928"/>
            <a:ext cx="457200" cy="192024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 w="3175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4919472" y="209092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가정</a:t>
            </a:r>
            <a:endParaRPr sz="8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468112" y="20726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lang="en-US" sz="115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설치</a:t>
            </a:r>
            <a:r>
              <a:rPr lang="en-US" sz="115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5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재방문</a:t>
            </a:r>
            <a:r>
              <a:rPr lang="en-US" sz="1150" b="0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1건당 </a:t>
            </a:r>
            <a:r>
              <a:rPr lang="en-US" sz="1150" b="0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비용</a:t>
            </a:r>
            <a:endParaRPr sz="115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4919472" y="2474976"/>
            <a:ext cx="457200" cy="192024"/>
          </a:xfrm>
          <a:prstGeom prst="roundRect">
            <a:avLst>
              <a:gd name="adj" fmla="val 50000"/>
            </a:avLst>
          </a:prstGeom>
          <a:solidFill>
            <a:srgbClr val="7C2D8F"/>
          </a:solidFill>
          <a:ln w="3175" cap="flat" cmpd="sng">
            <a:solidFill>
              <a:srgbClr val="7C2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4919472" y="2474976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계산</a:t>
            </a:r>
            <a:endParaRPr sz="8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5468112" y="245668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매장당 월 1건이면 연 780건</a:t>
            </a:r>
            <a:endParaRPr sz="115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4919472" y="2859024"/>
            <a:ext cx="457200" cy="192024"/>
          </a:xfrm>
          <a:prstGeom prst="roundRect">
            <a:avLst>
              <a:gd name="adj" fmla="val 50000"/>
            </a:avLst>
          </a:prstGeom>
          <a:solidFill>
            <a:srgbClr val="7C2D8F"/>
          </a:solidFill>
          <a:ln w="3175" cap="flat" cmpd="sng">
            <a:solidFill>
              <a:srgbClr val="7C2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4919472" y="2859024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계산</a:t>
            </a:r>
            <a:endParaRPr sz="8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5468112" y="284073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취소 1건 = 계약 금액 전액 손실</a:t>
            </a:r>
            <a:endParaRPr sz="115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457200" y="3358896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가정을</a:t>
            </a:r>
            <a:r>
              <a:rPr lang="en-US" sz="110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바꿔도</a:t>
            </a:r>
            <a:r>
              <a:rPr lang="en-US" sz="110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결과는</a:t>
            </a:r>
            <a:r>
              <a:rPr lang="en-US" sz="110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100" b="1" i="0" u="none" strike="noStrike" cap="none" dirty="0" err="1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동일합니다</a:t>
            </a:r>
            <a:endParaRPr sz="11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457200" y="3633216"/>
            <a:ext cx="2651700" cy="62178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594360" y="3706890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보수적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2분</a:t>
            </a:r>
            <a:endParaRPr sz="10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594360" y="3908058"/>
            <a:ext cx="1496568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500"/>
              <a:buFont typeface="Malgun Gothic"/>
              <a:buNone/>
            </a:pP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월 432</a:t>
            </a:r>
            <a:r>
              <a:rPr lang="ko-KR" altLang="en-US" sz="150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시간</a:t>
            </a:r>
            <a:r>
              <a:rPr lang="en-US" altLang="ko-KR" sz="11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(</a:t>
            </a:r>
            <a:r>
              <a:rPr lang="ko-KR" altLang="en-US" sz="11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일</a:t>
            </a:r>
            <a:r>
              <a:rPr lang="en-US" altLang="ko-KR" sz="11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13</a:t>
            </a:r>
            <a:r>
              <a:rPr lang="ko-KR" altLang="en-US" sz="11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분↓</a:t>
            </a:r>
            <a:r>
              <a:rPr lang="en-US" altLang="ko-KR" sz="11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)</a:t>
            </a:r>
            <a:endParaRPr sz="1100" b="0" i="0" u="none" strike="noStrike" cap="none" dirty="0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2130862" y="3935490"/>
            <a:ext cx="991349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ko-KR" alt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年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5,200시간</a:t>
            </a:r>
            <a:endParaRPr sz="11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3291840" y="3633216"/>
            <a:ext cx="2651700" cy="621785"/>
          </a:xfrm>
          <a:prstGeom prst="rect">
            <a:avLst/>
          </a:prstGeom>
          <a:solidFill>
            <a:srgbClr val="0F766E"/>
          </a:solidFill>
          <a:ln w="12700" cap="flat" cmpd="sng">
            <a:solidFill>
              <a:srgbClr val="0F76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3429000" y="3706890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7E3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C7E7E3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기준 3분</a:t>
            </a:r>
            <a:endParaRPr sz="10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3429000" y="3908058"/>
            <a:ext cx="1626652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FFFFF"/>
              </a:buClr>
              <a:buSzPts val="1500"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월 647시</a:t>
            </a:r>
            <a:r>
              <a:rPr lang="en-US" altLang="ko-KR" sz="11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(</a:t>
            </a:r>
            <a:r>
              <a:rPr lang="ko-KR" altLang="en-US" sz="11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일</a:t>
            </a:r>
            <a:r>
              <a:rPr lang="en-US" altLang="ko-KR" sz="11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22</a:t>
            </a:r>
            <a:r>
              <a:rPr lang="ko-KR" altLang="en-US" sz="11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분↓</a:t>
            </a:r>
            <a:r>
              <a:rPr lang="en-US" altLang="ko-KR" sz="11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</a:t>
            </a:r>
            <a:endParaRPr sz="11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4918542" y="3935490"/>
            <a:ext cx="114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7E3"/>
              </a:buClr>
              <a:buSzPts val="1100"/>
              <a:buFont typeface="Malgun Gothic"/>
              <a:buNone/>
            </a:pPr>
            <a:r>
              <a:rPr lang="ko-KR" altLang="en-US" sz="1100" b="0" i="0" u="none" strike="noStrike" cap="none" dirty="0" err="1">
                <a:solidFill>
                  <a:srgbClr val="C7E7E3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年</a:t>
            </a:r>
            <a:r>
              <a:rPr lang="en-US" sz="1100" b="0" i="0" u="none" strike="noStrike" cap="none" dirty="0">
                <a:solidFill>
                  <a:srgbClr val="C7E7E3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7,800시간</a:t>
            </a:r>
            <a:endParaRPr sz="11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6126480" y="3633216"/>
            <a:ext cx="2651700" cy="62178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400"/>
            </a:pPr>
            <a:r>
              <a:rPr lang="en-US" altLang="ko-KR" b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(</a:t>
            </a:r>
            <a:r>
              <a:rPr lang="ko-KR" altLang="en-US" b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일</a:t>
            </a:r>
            <a:r>
              <a:rPr lang="en-US" altLang="ko-KR" b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22</a:t>
            </a:r>
            <a:r>
              <a:rPr lang="ko-KR" altLang="en-US" b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분↓</a:t>
            </a:r>
            <a:r>
              <a:rPr lang="en-US" altLang="ko-KR" b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205191" y="3706890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lang="en-US" sz="10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적극적</a:t>
            </a:r>
            <a:r>
              <a:rPr lang="en-US" sz="10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5분</a:t>
            </a:r>
            <a:endParaRPr sz="10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6198566" y="3908060"/>
            <a:ext cx="2061514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B1020"/>
              </a:buClr>
              <a:buSzPts val="1500"/>
            </a:pPr>
            <a:r>
              <a:rPr lang="en-US" sz="1500" b="1" i="0" u="none" strike="noStrike" cap="none" dirty="0">
                <a:solidFill>
                  <a:srgbClr val="0B102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월 1,079시간</a:t>
            </a:r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(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일</a:t>
            </a:r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33</a:t>
            </a:r>
            <a:r>
              <a:rPr lang="ko-KR" altLang="en-US" sz="1100" b="1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분↓</a:t>
            </a:r>
            <a:r>
              <a:rPr lang="en-US" altLang="ko-KR" sz="1100" b="1" dirty="0">
                <a:solidFill>
                  <a:schemeClr val="bg1">
                    <a:lumMod val="50000"/>
                  </a:schemeClr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)</a:t>
            </a:r>
            <a:endParaRPr sz="1100" b="0" i="0" u="none" strike="noStrike" cap="none" dirty="0">
              <a:solidFill>
                <a:schemeClr val="bg1">
                  <a:lumMod val="50000"/>
                </a:schemeClr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7829628" y="3923480"/>
            <a:ext cx="114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ko-KR" altLang="en-US" sz="1100" b="0" i="0" u="none" strike="noStrike" cap="none" dirty="0" err="1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年</a:t>
            </a:r>
            <a:r>
              <a:rPr lang="en-US" sz="1100" b="0" i="0" u="none" strike="noStrike" cap="none" dirty="0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12,900시간</a:t>
            </a:r>
            <a:endParaRPr sz="11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457200" y="4370832"/>
            <a:ext cx="8412480" cy="4572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457190" y="4370825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가장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보수적으로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잡아도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65개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매장에서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ko-KR" altLang="en-US" sz="1300" b="1" i="0" u="none" strike="noStrike" cap="none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年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5,200시간입니다</a:t>
            </a:r>
            <a:r>
              <a:rPr lang="en-US" sz="13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!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비용</a:t>
            </a:r>
            <a:r>
              <a:rPr lang="en-US" sz="13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투자</a:t>
            </a:r>
            <a:r>
              <a:rPr lang="en-US" sz="13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없이</a:t>
            </a:r>
            <a:r>
              <a:rPr lang="en-US" sz="13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, </a:t>
            </a:r>
            <a:r>
              <a:rPr lang="en-US" sz="1300" b="1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시간을</a:t>
            </a:r>
            <a:r>
              <a:rPr lang="en-US" sz="13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버는</a:t>
            </a:r>
            <a:r>
              <a:rPr lang="en-US" sz="1300" b="1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</a:rPr>
              <a:t>혁신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!</a:t>
            </a:r>
            <a:endParaRPr sz="1300" b="0" i="0" u="none" strike="noStrike" cap="none" dirty="0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8473800" y="4841350"/>
            <a:ext cx="55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B6478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9/10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</a:t>
            </a:r>
            <a:endParaRPr sz="900" b="0" i="0" u="none" strike="noStrike" cap="none">
              <a:solidFill>
                <a:schemeClr val="dk1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w="12700" cap="flat" cmpd="sng">
            <a:solidFill>
              <a:srgbClr val="1428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640080" y="700000"/>
            <a:ext cx="786384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지금 바로 열어 보세요</a:t>
            </a: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305" name="Google Shape;305;p6"/>
          <p:cNvSpPr txBox="1"/>
          <p:nvPr/>
        </p:nvSpPr>
        <p:spPr>
          <a:xfrm>
            <a:off x="640080" y="1130000"/>
            <a:ext cx="7863840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휴대폰 카메라로 QR을 비추면 됩니다 — 로그인도, 설치도 필요 없습니다</a:t>
            </a: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pic>
        <p:nvPicPr>
          <p:cNvPr id="306" name="Google Shape;306;p6" descr="salescopilot-store.vercel.app QR 코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7000" y="1500000"/>
            <a:ext cx="2050000" cy="20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6"/>
          <p:cNvSpPr txBox="1"/>
          <p:nvPr/>
        </p:nvSpPr>
        <p:spPr>
          <a:xfrm>
            <a:off x="640080" y="3700000"/>
            <a:ext cx="786384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428A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salescopilot-store.vercel.app</a:t>
            </a: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640080" y="4020000"/>
            <a:ext cx="7863840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SamsungOneKoreanOTF 400C" panose="020B0506030303020204" pitchFamily="34" charset="-127"/>
                <a:ea typeface="SamsungOneKoreanOTF 400C" panose="020B0506030303020204" pitchFamily="34" charset="-127"/>
                <a:sym typeface="Arial"/>
              </a:rPr>
              <a:t>세일즈 코파일럿 · 경원영업팀</a:t>
            </a:r>
            <a:endParaRPr sz="1400" b="0" i="0" u="none" strike="noStrike" cap="none">
              <a:solidFill>
                <a:srgbClr val="000000"/>
              </a:solidFill>
              <a:latin typeface="SamsungOneKoreanOTF 400C" panose="020B0506030303020204" pitchFamily="34" charset="-127"/>
              <a:ea typeface="SamsungOneKoreanOTF 400C" panose="020B0506030303020204" pitchFamily="34" charset="-127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1018</Words>
  <Application>Microsoft Office PowerPoint</Application>
  <PresentationFormat>화면 슬라이드 쇼(16:9)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SamsungOneKoreanOTF 400C</vt:lpstr>
      <vt:lpstr>SamsungOneKoreanOTF 700C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경원영업팀</dc:creator>
  <cp:lastModifiedBy>admin</cp:lastModifiedBy>
  <cp:revision>9</cp:revision>
  <dcterms:created xsi:type="dcterms:W3CDTF">2026-08-10T00:11:11Z</dcterms:created>
  <dcterms:modified xsi:type="dcterms:W3CDTF">2026-08-26T03:52:48Z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